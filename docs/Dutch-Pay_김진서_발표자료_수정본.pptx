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62cc69eda24030" /><Relationship Type="http://schemas.openxmlformats.org/officeDocument/2006/relationships/extended-properties" Target="/docProps/app.xml" Id="R159a85e52a7e4df2" /><Relationship Type="http://schemas.openxmlformats.org/officeDocument/2006/relationships/officeDocument" Target="/ppt/presentation.xml" Id="R0dbb5ee3fcb04c64" /></Relationships>
</file>

<file path=ppt/presentation.xml><?xml version="1.0" encoding="utf-8"?>
<p:presentation xmlns:p="http://schemas.openxmlformats.org/presentationml/2006/main">
  <p:sldMasterIdLst>
    <p:sldMasterId xmlns:r="http://schemas.openxmlformats.org/officeDocument/2006/relationships" id="2147483648" r:id="R6aaf73270bcb476c"/>
  </p:sldMasterIdLst>
  <p:notesMasterIdLst>
    <p:notesMasterId xmlns:r="http://schemas.openxmlformats.org/officeDocument/2006/relationships" r:id="R855e80bc64bf4764"/>
  </p:notesMasterIdLst>
  <p:sldIdLst>
    <p:sldId xmlns:r="http://schemas.openxmlformats.org/officeDocument/2006/relationships" id="256" r:id="R2feb76604f684296"/>
    <p:sldId xmlns:r="http://schemas.openxmlformats.org/officeDocument/2006/relationships" id="257" r:id="R76032d73fd4b4308"/>
    <p:sldId xmlns:r="http://schemas.openxmlformats.org/officeDocument/2006/relationships" id="258" r:id="R11fdee3b64e340c4"/>
    <p:sldId xmlns:r="http://schemas.openxmlformats.org/officeDocument/2006/relationships" id="259" r:id="R3efc1fe5c4d3400c"/>
    <p:sldId xmlns:r="http://schemas.openxmlformats.org/officeDocument/2006/relationships" id="260" r:id="R60a312a7ae6c4940"/>
    <p:sldId xmlns:r="http://schemas.openxmlformats.org/officeDocument/2006/relationships" id="261" r:id="R41c08eba7f384bc4"/>
    <p:sldId xmlns:r="http://schemas.openxmlformats.org/officeDocument/2006/relationships" id="262" r:id="Rb3a8135877fa4419"/>
    <p:sldId xmlns:r="http://schemas.openxmlformats.org/officeDocument/2006/relationships" id="263" r:id="R5824b0685dab443d"/>
    <p:sldId xmlns:r="http://schemas.openxmlformats.org/officeDocument/2006/relationships" id="264" r:id="R4360a14b823a45a4"/>
    <p:sldId xmlns:r="http://schemas.openxmlformats.org/officeDocument/2006/relationships" id="265" r:id="R63fb3d9e10894001"/>
    <p:sldId xmlns:r="http://schemas.openxmlformats.org/officeDocument/2006/relationships" id="266" r:id="R9df6a156a7a348b3"/>
    <p:sldId xmlns:r="http://schemas.openxmlformats.org/officeDocument/2006/relationships" id="267" r:id="R4642f2bd0ff0442e"/>
    <p:sldId xmlns:r="http://schemas.openxmlformats.org/officeDocument/2006/relationships" id="268" r:id="R259caac10a4547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2bfc9fa08249cc" /><Relationship Type="http://schemas.openxmlformats.org/officeDocument/2006/relationships/slideMaster" Target="/ppt/slideMasters/slideMaster1.xml" Id="R6aaf73270bcb476c" /><Relationship Type="http://schemas.openxmlformats.org/officeDocument/2006/relationships/notesMaster" Target="/ppt/notesMasters/notesMaster1.xml" Id="R855e80bc64bf4764" /><Relationship Type="http://schemas.openxmlformats.org/officeDocument/2006/relationships/presProps" Target="/ppt/presProps.xml" Id="R3a819c34ab704f25" /><Relationship Type="http://schemas.openxmlformats.org/officeDocument/2006/relationships/tableStyles" Target="/ppt/tableStyles.xml" Id="Rfc81e66015fc482a" /><Relationship Type="http://schemas.openxmlformats.org/officeDocument/2006/relationships/slide" Target="/ppt/slides/slide1.xml" Id="R2feb76604f684296" /><Relationship Type="http://schemas.openxmlformats.org/officeDocument/2006/relationships/slide" Target="/ppt/slides/slide2.xml" Id="R76032d73fd4b4308" /><Relationship Type="http://schemas.openxmlformats.org/officeDocument/2006/relationships/slide" Target="/ppt/slides/slide3.xml" Id="R11fdee3b64e340c4" /><Relationship Type="http://schemas.openxmlformats.org/officeDocument/2006/relationships/slide" Target="/ppt/slides/slide4.xml" Id="R3efc1fe5c4d3400c" /><Relationship Type="http://schemas.openxmlformats.org/officeDocument/2006/relationships/slide" Target="/ppt/slides/slide5.xml" Id="R60a312a7ae6c4940" /><Relationship Type="http://schemas.openxmlformats.org/officeDocument/2006/relationships/slide" Target="/ppt/slides/slide6.xml" Id="R41c08eba7f384bc4" /><Relationship Type="http://schemas.openxmlformats.org/officeDocument/2006/relationships/slide" Target="/ppt/slides/slide7.xml" Id="Rb3a8135877fa4419" /><Relationship Type="http://schemas.openxmlformats.org/officeDocument/2006/relationships/slide" Target="/ppt/slides/slide8.xml" Id="R5824b0685dab443d" /><Relationship Type="http://schemas.openxmlformats.org/officeDocument/2006/relationships/slide" Target="/ppt/slides/slide9.xml" Id="R4360a14b823a45a4" /><Relationship Type="http://schemas.openxmlformats.org/officeDocument/2006/relationships/slide" Target="/ppt/slides/slide10.xml" Id="R63fb3d9e10894001" /><Relationship Type="http://schemas.openxmlformats.org/officeDocument/2006/relationships/slide" Target="/ppt/slides/slide11.xml" Id="R9df6a156a7a348b3" /><Relationship Type="http://schemas.openxmlformats.org/officeDocument/2006/relationships/slide" Target="/ppt/slides/slide12.xml" Id="R4642f2bd0ff0442e" /><Relationship Type="http://schemas.openxmlformats.org/officeDocument/2006/relationships/slide" Target="/ppt/slides/slide13.xml" Id="R259caac10a4547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8aa7aea6e54a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73d0b133e64d8a" /><Relationship Type="http://schemas.openxmlformats.org/officeDocument/2006/relationships/notesMaster" Target="/ppt/notesMasters/notesMaster1.xml" Id="Rf75c48a3b67b4a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d7c6efedaf48e4" /><Relationship Type="http://schemas.openxmlformats.org/officeDocument/2006/relationships/notesMaster" Target="/ppt/notesMasters/notesMaster1.xml" Id="R6aaceada496247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7ae2880e614613" /><Relationship Type="http://schemas.openxmlformats.org/officeDocument/2006/relationships/notesMaster" Target="/ppt/notesMasters/notesMaster1.xml" Id="R70b1b30ed78945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dfc416042e43d1" /><Relationship Type="http://schemas.openxmlformats.org/officeDocument/2006/relationships/notesMaster" Target="/ppt/notesMasters/notesMaster1.xml" Id="Ree4f90a4a5294d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506581e5d44bbb" /><Relationship Type="http://schemas.openxmlformats.org/officeDocument/2006/relationships/notesMaster" Target="/ppt/notesMasters/notesMaster1.xml" Id="R9da59adc4edc45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0550296e79401a" /><Relationship Type="http://schemas.openxmlformats.org/officeDocument/2006/relationships/notesMaster" Target="/ppt/notesMasters/notesMaster1.xml" Id="R918420d070db49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f77d01230347b9" /><Relationship Type="http://schemas.openxmlformats.org/officeDocument/2006/relationships/notesMaster" Target="/ppt/notesMasters/notesMaster1.xml" Id="Rfa971d46c9194c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9c9c48289749f4" /><Relationship Type="http://schemas.openxmlformats.org/officeDocument/2006/relationships/notesMaster" Target="/ppt/notesMasters/notesMaster1.xml" Id="Re8ca651fc37240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19d10743e14e50" /><Relationship Type="http://schemas.openxmlformats.org/officeDocument/2006/relationships/notesMaster" Target="/ppt/notesMasters/notesMaster1.xml" Id="R291a5fb469a54f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cc7347182df4a9c" /><Relationship Type="http://schemas.openxmlformats.org/officeDocument/2006/relationships/notesMaster" Target="/ppt/notesMasters/notesMaster1.xml" Id="R265d0164becc40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0b05ad98944563" /><Relationship Type="http://schemas.openxmlformats.org/officeDocument/2006/relationships/notesMaster" Target="/ppt/notesMasters/notesMaster1.xml" Id="Recb494c288b041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72f2c9690a4dcf" /><Relationship Type="http://schemas.openxmlformats.org/officeDocument/2006/relationships/notesMaster" Target="/ppt/notesMasters/notesMaster1.xml" Id="R5f35d9ae34cc483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d70c64d48024040" /><Relationship Type="http://schemas.openxmlformats.org/officeDocument/2006/relationships/notesMaster" Target="/ppt/notesMasters/notesMaster1.xml" Id="R2ffa44b06b724b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[20초]</a:t>
            </a:r>
          </a:p>
          <a:p xmlns:a="http://schemas.openxmlformats.org/drawingml/2006/main">
            <a:r>
              <a:t>안녕하세요, 김진서입니다. 조건이 다른 모임의 더치페이를 정산하는 앱을 만들었습니다. 제 발표의 중심은 앱의 기능 수가 아니라, 한 줄 요청으로 만든 phase0, 명세서만 읽고 만든 phase2/doc, Claude 작업 규칙까지 적용한 phase2/claude의 차이입니다. 어떤 결과는 받아들였고 어떤 판단에는 사람이 개입해야 했는지 말씀드리겠습니다.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https://github.com/tragicoding/HandsOn/blob/c933facb02468188fe9abaefc8d181b4a38ce789/docs/requirements.md</a:t>
            </a:r>
          </a:p>
          <a:p xmlns:a="http://schemas.openxmlformats.org/drawingml/2006/main">
            <a:r>
              <a:t>https://github.com/tragicoding/HandsOn/blob/c933facb02468188fe9abaefc8d181b4a38ce789/docs/log/web-screenshot/phase2-claude-05.png</a:t>
            </a:r>
          </a:p>
          <a:p xmlns:a="http://schemas.openxmlformats.org/drawingml/2006/main">
            <a:r>
              <a:t>장식 배경: OpenAI image_gen 기본 도구로 생성. 프롬프트: 크림색 종이 배경, 라벤더 영수증 캐릭터와 연필·동전, 텍스트 없는 미니멀 문구류 스타일.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모임에서는 모두가 같은 금액을 쓰지 않습니다. 택시는 나누어 타고 술을 마시지 않은 사람은 술값을 빼 주기도 합니다. 기존 정산 기능에 이런 조건을 넣기 어려워 별도로 계산해야 했습니다. 첫 화면에서 참여자를 넣고, 지출마다 결제한 사람과 함께 쓴 사람을 고릅니다. 감면 대상의 비율을 설정하면 줄어든 금액을 나머지 사람에게 나눕니다. 원 단위가 남으면 결제자 부담이나 랜덤 배분을 고릅니다. 마지막에는 낸 돈과 쓴 돈을 합쳐 누가 누구에게 보낼지를 표시하고, 텍스트로 복사합니다. 이 화면은 phase2/claude의 실제 캡처입니다. 브라우저에만 데이터를 저장하며 실제 송금은 하지 않습니다.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https://github.com/tragicoding/HandsOn/blob/c933facb02468188fe9abaefc8d181b4a38ce789/docs/log/web-screenshot/phase2-claude-index.tsv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[60초]</a:t>
            </a:r>
          </a:p>
          <a:p xmlns:a="http://schemas.openxmlformats.org/drawingml/2006/main">
            <a:r>
              <a:t>한 줄 요청으로 만든 Phase 0에서 AI는 기본 정산 방식과 UI·UX, 결과 텍스트 복사를 정했습니다. 감면이나 잔여 처리 선택은 제 의도와 달라 이후 직접 알고리즘을 다시 정했습니다. UI에 대해서는 구체적인 아이디어가 없었고, 직접 사용해 본 화면 구성이 편리해 받아들였습니다. 결과 복사도 단톡방에 공유하는 흐름에 맞아 받아들였습니다. test07의 84/153 PASS는 나중에 작성한 명세를 초기 버전에 소급 적용한 결과입니다.</a:t>
            </a:r>
          </a:p>
          <a:p xmlns:a="http://schemas.openxmlformats.org/drawingml/2006/main">
            <a:r>
              <a:t/>
            </a:r>
          </a:p>
          <a:p xmlns:a="http://schemas.openxmlformats.org/drawingml/2006/main">
            <a:r>
              <a:t>근거: docs/reflection/phase0.md, docs/log/testlog/test07.md,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개입하지 않은 대상은 UI·UX입니다. 정산 알고리즘은 개발자가 다시 작성했으므로 이 사례에 포함하지 않습니다. Phase 0의 한 줄 프롬프트로 AI가 만든 UI·UX를 직접 사용한 뒤 유지하기로 결정했습니다. 결과를 docs에 넣고 PRD에서 레퍼런스 이미지를 참조하도록 했습니다. 이후 “phase2-doc workflow에 따라 실행. phase2/doc 브랜치가 없으면 만들어 거기서 시작”이라고 요청했습니다. workflow 파일은 .claude에 있지만 구현 단계는 CLAUDE.md와 .claude를 제외하고 PRD·requirements와 그 문서가 참조한 이미지만 읽도록 정했습니다. 구현 후 테스트·문서화·배포는 workflow가 허용한 절차로 진행했습니다. 직접 앱을 열어 사용 편의성과 명세서가 요구한 기능의 사용자 흐름을 확인했습니다. 이는 UI를 유지한 근거이며 모든 예외 입력이 검증되었다는 의미는 아닙니다. 화면은 UI를 계승한 phase2/doc의 화이트 모드 실제 캡처입니다.</a:t>
            </a:r>
          </a:p>
          <a:p xmlns:a="http://schemas.openxmlformats.org/drawingml/2006/main">
            <a:r>
              <a:t/>
            </a:r>
          </a:p>
          <a:p xmlns:a="http://schemas.openxmlformats.org/drawingml/2006/main">
            <a:r>
              <a:t>근거: 개발자 설명과 프롬프트 원문(2026-10-12), docs/PRD.md, .claude/workflow/phase2-doc.md, docs/reflection/phase2-doc.md, docs/log/web-screenshot/phase2-doc-07.png.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[90초]</a:t>
            </a:r>
          </a:p>
          <a:p xmlns:a="http://schemas.openxmlformats.org/drawingml/2006/main">
            <a:r>
              <a:t>AI는 예외 상황을 스스로 가정한 뒤, 자기 구현에 맞춘 기대값으로 테스트해 최초 108건을 전부 PASS로 보고했습니다. 전원 감면 때 감면을 무시하고 균등 배분한 것이 대표 사례입니다. 정상적인 대응은 예외처리를 코드와 사용자 흐름에 추가하고 의도대로 거부·안내하는지 검증하는 것입니다. 저는 test skill과 test workflow의 판정 기준을 바로잡았습니다. 지정한 예외처리가 실제 코드에서 의도대로 작동하면 PASS, 지정·구현된 예외처리가 없이 AI가 임의로 가정한 동작은 FAIL로 기록하게 했습니다. 재검증 test01에서는 17건의 FAIL이 드러났고, 예외처리 구현과 명세 반영을 거쳐 test03에서 130건 모두 PASS가 됐습니다. 108건과 130건은 테스트 구성이 다릅니다.</a:t>
            </a:r>
          </a:p>
          <a:p xmlns:a="http://schemas.openxmlformats.org/drawingml/2006/main">
            <a:r>
              <a:t/>
            </a:r>
          </a:p>
          <a:p xmlns:a="http://schemas.openxmlformats.org/drawingml/2006/main">
            <a:r>
              <a:t>근거: docs/reflection/phase2-doc.md(P2D-02), .claude/skills/test.md, .claude/workflow/test_flow.md, docs/log/testlog/test00.md, test01.md, test03.md, commit d795cb1.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[75초]</a:t>
            </a:r>
          </a:p>
          <a:p xmlns:a="http://schemas.openxmlformats.org/drawingml/2006/main">
            <a:r>
              <a:t>세 번째 판단은 AI가 되물은 질문을 어떻게 처리할지입니다. phase2/claude는 명세 외에 CLAUDE.md와 agents, skills, workflow를 적용했습니다. 이전에는 묻지 않던 감면율, 동명이인, 결제자 포함, 수정 시 팝업의 네 가지를 물었습니다. 처음에는 모두 No preference로 넘겼고, 기본값을 적용한 버전은 이전 133건 테스트를 모두 통과했습니다. 그러나 기본값이 제 의도와 같은 것은 아니었습니다. 동명이인은 번호로 구분하고, 결제자는 함께 쓴 사람에 포함하고, 수정 시에는 기존 잔여 처리 선택을 유지하도록 제가 확정했습니다. 소수 감면율도 조용히 다른 값으로 바꾸면 안 됩니다. 명세, 코드, 테스트 순서로 맞춘 뒤 153건을 통과했습니다. 표의 12.5가 125로 바뀌는 현상은 phase2/doc을 변경 규칙으로 검사했을 때 기록된 관찰값입니다.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https://github.com/tragicoding/HandsOn/blob/c933facb02468188fe9abaefc8d181b4a38ce789/docs/reflection/phase2-claude.md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a:p xmlns:a="http://schemas.openxmlformats.org/drawingml/2006/main">
            <a:r>
              <a:t>https://github.com/tragicoding/HandsOn/commit/d2ad84c</a:t>
            </a:r>
          </a:p>
          <a:p xmlns:a="http://schemas.openxmlformats.org/drawingml/2006/main">
            <a:r>
              <a:t>https://github.com/tragicoding/HandsOn/commit/9e44c3f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[35초]</a:t>
            </a:r>
          </a:p>
          <a:p xmlns:a="http://schemas.openxmlformats.org/drawingml/2006/main">
            <a:r>
              <a:t>Phase별 테스트는 구성과 수정 범위가 달라 단순 성능 순위로 해석할 수 없습니다. 제가 맡길 수 있었던 것은 직접 사용해 보고 적합하다고 판단한 UI·UX입니다. 화면 구성과 기본 사용 흐름은 AI의 제안을 유지했습니다. 정산 알고리즘과 예외 입력의 의미, 테스트의 정답은 사람이 판단해야 했습니다. 다음에는 경계 사례 네 개를 먼저 정하고 명세·코드·테스트를 함께 갱신하겠습니다.</a:t>
            </a:r>
          </a:p>
          <a:p xmlns:a="http://schemas.openxmlformats.org/drawingml/2006/main">
            <a:r>
              <a:t/>
            </a:r>
          </a:p>
          <a:p xmlns:a="http://schemas.openxmlformats.org/drawingml/2006/main">
            <a:r>
              <a:t>근거: 슬라이드 3~6, docs/log/testlog/test05.md, test06.md, 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이 표는 저장소에 기록된 테스트 결과를 옮긴 것이다. 이번 PPT 제작 중 앱 테스트를 새로 실행한 결과가 아니다. test05는 phase2/claude의 133/133 로그가 아니라 phase2/doc 브랜치의 137/147 로그다. 동일한 요구 규칙을 비교했지만, 대상 구조에 맞춘 어댑터와 검사 개수가 다르다. phase0 UI 실패 중 복사 형식 등의 다섯 건은 선행 실패에 영향을 받으므로 기능 자체의 독립 실패로 읽지 않는다. 무작위 300개 입력 검증은 테스트 집계에서 한 건이다.</a:t>
            </a:r>
          </a:p>
          <a:p xmlns:a="http://schemas.openxmlformats.org/drawingml/2006/main">
            <a:r>
              <a:t/>
            </a:r>
          </a:p>
          <a:p xmlns:a="http://schemas.openxmlformats.org/drawingml/2006/main">
            <a:r>
              <a:t>출처</a:t>
            </a:r>
          </a:p>
          <a:p xmlns:a="http://schemas.openxmlformats.org/drawingml/2006/main">
            <a:r>
              <a:t>https://github.com/tragicoding/HandsOn/blob/b125d8d2da8cbf2bd736bbedd6cc6da898f38d41/docs/log/testlog/test07.md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phase2/doc도 테스트·문서화·릴리즈 단계에서는 .claude 지침을 일부 사용했다. 이를 .claude를 전혀 쓰지 않은 버전으로 설명하면 부정확하다. 구현 단계에서만 PRD와 requirements에 제한한 대조군이다. phase2/claude는 phase2/doc의 테스트 기준 수정 및 명세 보완을 상속했다. 또한 변경 규칙 4건의 실제 구현을 claude에만 적용했다. 시간과 토큰은 원자료가 근사값과 미측정을 포함하므로 정량 효율 비교에서 제외했다.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https://github.com/tragicoding/HandsOn/blob/c933facb02468188fe9abaefc8d181b4a38ce789/.claude/workflow/phase2-doc.md</a:t>
            </a:r>
          </a:p>
          <a:p xmlns:a="http://schemas.openxmlformats.org/drawingml/2006/main">
            <a:r>
              <a:t>https://github.com/tragicoding/HandsOn/blob/c933facb02468188fe9abaefc8d181b4a38ce789/.claude/workflow/phase2-claude_flow.md</a:t>
            </a:r>
          </a:p>
          <a:p xmlns:a="http://schemas.openxmlformats.org/drawingml/2006/main">
            <a:r>
              <a:t>https://github.com/tragicoding/HandsOn/blob/c933facb02468188fe9abaefc8d181b4a38ce789/.claude/skills/coding.md</a:t>
            </a:r>
          </a:p>
          <a:p xmlns:a="http://schemas.openxmlformats.org/drawingml/2006/main">
            <a:r>
              <a:t>https://github.com/tragicoding/HandsOn/blob/c933facb02468188fe9abaefc8d181b4a38ce789/docs/reflection/phase2-doc.md</a:t>
            </a:r>
          </a:p>
          <a:p xmlns:a="http://schemas.openxmlformats.org/drawingml/2006/main">
            <a:r>
              <a:t>https://github.com/tragicoding/HandsOn/blob/c933facb02468188fe9abaefc8d181b4a38ce789/docs/token/tokens.md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1의 UI·UX 유지 결정과 두 프롬프트는 개발자가 2026-10-12에 제공한 설명을 반영했다. PRD의 레퍼런스 이미지와 phase2-doc workflow도 확인했다. 사례 2·3은 기존 reflection Turn 표 기록을 유지했다.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각 커밋 링크에서 변경 내역을 열람할 수 있다. phase0 reflection에 적힌 abc1234는 실제 해시가 아니므로 태그 조회 결과인 5aec953을 사용했다. 9e44c3f는 src/js/core/validate.js, ui/formEvents.js, ui/formSubmit.js, ui/members.js 네 파일을 변경했다. 로그 원본 복원과 새 정정 기록은 4800b79에 있다.</a:t>
            </a:r>
          </a:p>
          <a:p xmlns:a="http://schemas.openxmlformats.org/drawingml/2006/main">
            <a:r>
              <a:t/>
            </a:r>
          </a:p>
          <a:p xmlns:a="http://schemas.openxmlformats.org/drawingml/2006/main">
            <a:r>
              <a:t>출처</a:t>
            </a:r>
          </a:p>
          <a:p xmlns:a="http://schemas.openxmlformats.org/drawingml/2006/main">
            <a:r>
              <a:t/>
            </a:r>
          </a:p>
          <a:p xmlns:a="http://schemas.openxmlformats.org/drawingml/2006/main">
            <a:r>
              <a:t>https://github.com/tragicoding/HandsOn/commit/5aec953</a:t>
            </a:r>
          </a:p>
          <a:p xmlns:a="http://schemas.openxmlformats.org/drawingml/2006/main">
            <a:r>
              <a:t>https://github.com/tragicoding/HandsOn/commit/d795cb1</a:t>
            </a:r>
          </a:p>
          <a:p xmlns:a="http://schemas.openxmlformats.org/drawingml/2006/main">
            <a:r>
              <a:t>https://github.com/tragicoding/HandsOn/commit/0aa2728</a:t>
            </a:r>
          </a:p>
          <a:p xmlns:a="http://schemas.openxmlformats.org/drawingml/2006/main">
            <a:r>
              <a:t>https://github.com/tragicoding/HandsOn/commit/6edfeba</a:t>
            </a:r>
          </a:p>
          <a:p xmlns:a="http://schemas.openxmlformats.org/drawingml/2006/main">
            <a:r>
              <a:t>https://github.com/tragicoding/HandsOn/commit/96f46ae</a:t>
            </a:r>
          </a:p>
          <a:p xmlns:a="http://schemas.openxmlformats.org/drawingml/2006/main">
            <a:r>
              <a:t>https://github.com/tragicoding/HandsOn/commit/d2ad84c</a:t>
            </a:r>
          </a:p>
          <a:p xmlns:a="http://schemas.openxmlformats.org/drawingml/2006/main">
            <a:r>
              <a:t>https://github.com/tragicoding/HandsOn/commit/9e44c3f</a:t>
            </a:r>
          </a:p>
          <a:p xmlns:a="http://schemas.openxmlformats.org/drawingml/2006/main">
            <a:r>
              <a:t>https://github.com/tragicoding/HandsOn/commit/7c37273</a:t>
            </a:r>
          </a:p>
          <a:p xmlns:a="http://schemas.openxmlformats.org/drawingml/2006/main">
            <a:r>
              <a:t>https://github.com/tragicoding/HandsOn/commit/60e02d0</a:t>
            </a:r>
          </a:p>
          <a:p xmlns:a="http://schemas.openxmlformats.org/drawingml/2006/main">
            <a:r>
              <a:t>https://github.com/tragicoding/HandsOn/commit/8df451b</a:t>
            </a:r>
          </a:p>
          <a:p xmlns:a="http://schemas.openxmlformats.org/drawingml/2006/main">
            <a:r>
              <a:t>https://github.com/tragicoding/HandsOn/commit/b125d8d</a:t>
            </a:r>
          </a:p>
          <a:p xmlns:a="http://schemas.openxmlformats.org/drawingml/2006/main">
            <a:r>
              <a:t>https://github.com/tragicoding/HandsOn/commit/4800b79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오류의 심각성은 화면에서 예외가 발생했는지가 아니라 입력 의미가 조용히 달라지는지에 있다. phase2/doc의 form input은 숫자 이외 문자를 지워 12.5가 125가 되었고 이후 감면율 보정을 거쳤다. 개선 후에는 정수만 안내를 띄우고 UI 입력에 12만 남긴다. 프로그램으로 소수 감면율 지출을 직접 전달하면 core 검증에서 거부하고 사유를 남긴다. 이는 완전한 입력 롤백과 다르므로 슬라이드에서도 구분한다.</a:t>
            </a:r>
          </a:p>
          <a:p xmlns:a="http://schemas.openxmlformats.org/drawingml/2006/main">
            <a:r>
              <a:t/>
            </a:r>
          </a:p>
          <a:p xmlns:a="http://schemas.openxmlformats.org/drawingml/2006/main">
            <a:r>
              <a:t>출처</a:t>
            </a:r>
          </a:p>
          <a:p xmlns:a="http://schemas.openxmlformats.org/drawingml/2006/main">
            <a:r>
              <a:t>https://github.com/tragicoding/HandsOn/blob/60e02d0540e4c3a8fdb338da34da506029357570/docs/log/testlog/test05.md</a:t>
            </a:r>
          </a:p>
          <a:p xmlns:a="http://schemas.openxmlformats.org/drawingml/2006/main">
            <a:r>
              <a:t>https://github.com/tragicoding/HandsOn/blob/60e02d0540e4c3a8fdb338da34da506029357570/docs/log/error/error03.md</a:t>
            </a:r>
          </a:p>
          <a:p xmlns:a="http://schemas.openxmlformats.org/drawingml/2006/main">
            <a:r>
              <a:t>https://github.com/tragicoding/HandsOn/blob/8df451b3bace0f1f7991ec911221d3a70b02d463/docs/log/testlog/test06.md</a:t>
            </a:r>
          </a:p>
          <a:p xmlns:a="http://schemas.openxmlformats.org/drawingml/2006/main">
            <a:r>
              <a:t>https://github.com/tragicoding/HandsOn/blob/c933facb02468188fe9abaefc8d181b4a38ce789/src/js/ui/formEvents.js</a:t>
            </a:r>
          </a:p>
          <a:p xmlns:a="http://schemas.openxmlformats.org/drawingml/2006/main">
            <a:r>
              <a:t>https://github.com/tragicoding/HandsOn/blob/c933facb02468188fe9abaefc8d181b4a38ce789/src/js/core/validate.js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
            </a:r>
          </a:p>
          <a:p xmlns:a="http://schemas.openxmlformats.org/drawingml/2006/main">
            <a:r>
              <a:t/>
            </a:r>
          </a:p>
          <a:p xmlns:a="http://schemas.openxmlformats.org/drawingml/2006/main">
            <a:r>
              <a:t>출처</a:t>
            </a:r>
          </a:p>
          <a:p xmlns:a="http://schemas.openxmlformats.org/drawingml/2006/main">
            <a:r>
              <a:t>https://github.com/tragicoding/HandsOn</a:t>
            </a:r>
          </a:p>
          <a:p xmlns:a="http://schemas.openxmlformats.org/drawingml/2006/main">
            <a:r>
              <a:t>https://tragicoding.github.io/HandsOn/</a:t>
            </a:r>
          </a:p>
          <a:p xmlns:a="http://schemas.openxmlformats.org/drawingml/2006/main">
            <a:r>
              <a:t>https://github.com/hands-on-2026/vibe-coding-2026-template/blob/7933997a70f0948a8cc9eda8fb237a533a4a2db5/presentation.md</a:t>
            </a:r>
          </a:p>
          <a:p xmlns:a="http://schemas.openxmlformats.org/drawingml/2006/main">
            <a:r>
              <a:t>https://github.com/hands-on-2026/vibe-coding-2026-template/blob/2a044440e6ff9bbf8fb29a121786a51b7d3a659e/README.md</a:t>
            </a:r>
          </a:p>
          <a:p xmlns:a="http://schemas.openxmlformats.org/drawingml/2006/main">
            <a:r>
              <a:t>2026-10-12: GitHub Pages를 main 브랜치의 루트(/)로 활성화. 배포 성공과 실제 앱 실행 확인 후 404 안내를 삭제했다.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eeacfacce7415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95fa1d364c4b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8bce7bf968e4a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e5163f35d874be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5e6a2f26a75448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9676be47d6047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20A9D1-5D96-4EDD-A4E4-936994909B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8A160A-745A-402A-906A-42966426F9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46E13F-1011-4CBC-A179-08BAFBC65E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B8CFFC-DA8C-4850-A9D6-08A7902061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85C6BE-5A32-40B3-9C5F-202C946D0C1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574A2A-41BF-4DCF-B028-B683B2478B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E9204-0F60-45CB-8FBF-043A94F64C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414DD6-FBCE-4484-B493-512E250673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52898B-CB7D-463D-B35E-8861B3A308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2BB03F-34F9-49B5-95DB-A4360A1701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045d5a970342a1" /><Relationship Type="http://schemas.openxmlformats.org/officeDocument/2006/relationships/slideLayout" Target="/ppt/slideLayouts/slideLayout1.xml" Id="R419daea9f2ff446b" /><Relationship Type="http://schemas.openxmlformats.org/officeDocument/2006/relationships/slideLayout" Target="/ppt/slideLayouts/slideLayout2.xml" Id="R5cfb440db21240a2" /><Relationship Type="http://schemas.openxmlformats.org/officeDocument/2006/relationships/slideLayout" Target="/ppt/slideLayouts/slideLayout3.xml" Id="R489ae3c2f9ce4380" /><Relationship Type="http://schemas.openxmlformats.org/officeDocument/2006/relationships/slideLayout" Target="/ppt/slideLayouts/slideLayout4.xml" Id="R18446c149ddb44a5" /><Relationship Type="http://schemas.openxmlformats.org/officeDocument/2006/relationships/slideLayout" Target="/ppt/slideLayouts/slideLayout5.xml" Id="R79380388121146eb" /><Relationship Type="http://schemas.openxmlformats.org/officeDocument/2006/relationships/slideLayout" Target="/ppt/slideLayouts/slideLayout6.xml" Id="Rde54af02f2ed48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19daea9f2ff446b"/>
    <p:sldLayoutId xmlns:r="http://schemas.openxmlformats.org/officeDocument/2006/relationships" id="2147483650" r:id="R5cfb440db21240a2"/>
    <p:sldLayoutId xmlns:r="http://schemas.openxmlformats.org/officeDocument/2006/relationships" id="2147483651" r:id="R489ae3c2f9ce4380"/>
    <p:sldLayoutId xmlns:r="http://schemas.openxmlformats.org/officeDocument/2006/relationships" id="2147483652" r:id="R18446c149ddb44a5"/>
    <p:sldLayoutId xmlns:r="http://schemas.openxmlformats.org/officeDocument/2006/relationships" id="2147483653" r:id="R79380388121146eb"/>
    <p:sldLayoutId xmlns:r="http://schemas.openxmlformats.org/officeDocument/2006/relationships" id="2147483654" r:id="Rde54af02f2ed48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4ef979737a4db0" /><Relationship Type="http://schemas.openxmlformats.org/officeDocument/2006/relationships/hyperlink" Target="https://tragicoding.github.io/HandsOn/" TargetMode="External" Id="R04b21075ee864faa" /><Relationship Type="http://schemas.openxmlformats.org/officeDocument/2006/relationships/hyperlink" Target="https://github.com/tragicoding/HandsOn" TargetMode="External" Id="R9edfdb292611413b" /><Relationship Type="http://schemas.openxmlformats.org/officeDocument/2006/relationships/image" Target="/ppt/media/image.png" Id="Rc457d41df66b496d" /><Relationship Type="http://schemas.openxmlformats.org/officeDocument/2006/relationships/image" Target="/ppt/media/image2.png" Id="R89e8dfb13c414da8" /><Relationship Type="http://schemas.openxmlformats.org/officeDocument/2006/relationships/notesSlide" Target="/ppt/notesSlides/notesSlide1.xml" Id="R1adcfb684a7845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fe40904a058490a" /><Relationship Type="http://schemas.openxmlformats.org/officeDocument/2006/relationships/image" Target="/ppt/media/image3.png" Id="Rb778aec0cdd74f2e" /><Relationship Type="http://schemas.openxmlformats.org/officeDocument/2006/relationships/image" Target="/ppt/media/image4.png" Id="Rb494d099fcad4b0d" /><Relationship Type="http://schemas.openxmlformats.org/officeDocument/2006/relationships/image" Target="/ppt/media/image5.png" Id="R72086bf43ef94acc" /><Relationship Type="http://schemas.openxmlformats.org/officeDocument/2006/relationships/image" Target="/ppt/media/image6.png" Id="R094d18b487654725" /><Relationship Type="http://schemas.openxmlformats.org/officeDocument/2006/relationships/notesSlide" Target="/ppt/notesSlides/notesSlide2.xml" Id="Ra0c08e96c94341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9b5eada6a4459f" /><Relationship Type="http://schemas.openxmlformats.org/officeDocument/2006/relationships/image" Target="/ppt/media/image7.png" Id="Rc399d42ef43f42b4" /><Relationship Type="http://schemas.openxmlformats.org/officeDocument/2006/relationships/image" Target="/ppt/media/image8.png" Id="R6209fae5dd6b460f" /><Relationship Type="http://schemas.openxmlformats.org/officeDocument/2006/relationships/notesSlide" Target="/ppt/notesSlides/notesSlide3.xml" Id="Rdb9d7f24c56344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30d48ae9a33415c" /><Relationship Type="http://schemas.openxmlformats.org/officeDocument/2006/relationships/image" Target="/ppt/media/image9.png" Id="Rd332fbf8acbc41c2" /><Relationship Type="http://schemas.openxmlformats.org/officeDocument/2006/relationships/image" Target="/ppt/media/image10.png" Id="R65088d8fc6464ca5" /><Relationship Type="http://schemas.openxmlformats.org/officeDocument/2006/relationships/image" Target="/ppt/media/image11.png" Id="R1117761eb73244fc" /><Relationship Type="http://schemas.openxmlformats.org/officeDocument/2006/relationships/notesSlide" Target="/ppt/notesSlides/notesSlide4.xml" Id="R0af1d8645cb040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b0e1ac132904c76" /><Relationship Type="http://schemas.openxmlformats.org/officeDocument/2006/relationships/image" Target="/ppt/media/image12.png" Id="R8a224401ca294328" /><Relationship Type="http://schemas.openxmlformats.org/officeDocument/2006/relationships/notesSlide" Target="/ppt/notesSlides/notesSlide5.xml" Id="R7a7cdfbfdf6247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8d5c0bdea44ef1" /><Relationship Type="http://schemas.openxmlformats.org/officeDocument/2006/relationships/image" Target="/ppt/media/image13.png" Id="R9d36be53b5f24980" /><Relationship Type="http://schemas.openxmlformats.org/officeDocument/2006/relationships/image" Target="/ppt/media/image14.png" Id="R4b3cc4c2df734a85" /><Relationship Type="http://schemas.openxmlformats.org/officeDocument/2006/relationships/notesSlide" Target="/ppt/notesSlides/notesSlide6.xml" Id="Ra09167a5fb8541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e5b0d85b674a8b" /><Relationship Type="http://schemas.openxmlformats.org/officeDocument/2006/relationships/image" Target="/ppt/media/image15.png" Id="R481f8df7035747bd" /><Relationship Type="http://schemas.openxmlformats.org/officeDocument/2006/relationships/notesSlide" Target="/ppt/notesSlides/notesSlide7.xml" Id="R2882a69c157e4a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0f933f99ea54bfd" /><Relationship Type="http://schemas.openxmlformats.org/officeDocument/2006/relationships/image" Target="/ppt/media/image16.png" Id="R6c44cd69d4564fa7" /><Relationship Type="http://schemas.openxmlformats.org/officeDocument/2006/relationships/notesSlide" Target="/ppt/notesSlides/notesSlide8.xml" Id="Ra16f0b2c77b54c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9397f64d51c4065" /><Relationship Type="http://schemas.openxmlformats.org/officeDocument/2006/relationships/image" Target="/ppt/media/image17.png" Id="R6bd0281307844538" /><Relationship Type="http://schemas.openxmlformats.org/officeDocument/2006/relationships/notesSlide" Target="/ppt/notesSlides/notesSlide9.xml" Id="Rded0a6d53c3c4a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5361dfc8ac24efa" /><Relationship Type="http://schemas.openxmlformats.org/officeDocument/2006/relationships/image" Target="/ppt/media/image18.png" Id="R06ba929fb0fb4b8a" /><Relationship Type="http://schemas.openxmlformats.org/officeDocument/2006/relationships/notesSlide" Target="/ppt/notesSlides/notesSlide10.xml" Id="R1d6feed3358c4e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4406d73f4ff47f9" /><Relationship Type="http://schemas.openxmlformats.org/officeDocument/2006/relationships/image" Target="/ppt/media/image19.png" Id="R0faec141f1424bfd" /><Relationship Type="http://schemas.openxmlformats.org/officeDocument/2006/relationships/notesSlide" Target="/ppt/notesSlides/notesSlide11.xml" Id="R5564bd4248ef43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033aab9314b4225" /><Relationship Type="http://schemas.openxmlformats.org/officeDocument/2006/relationships/image" Target="/ppt/media/image20.png" Id="Rc7198b808c534651" /><Relationship Type="http://schemas.openxmlformats.org/officeDocument/2006/relationships/image" Target="/ppt/media/image21.png" Id="Rb3dabaadad234036" /><Relationship Type="http://schemas.openxmlformats.org/officeDocument/2006/relationships/image" Target="/ppt/media/image22.png" Id="Rbf9129e87c884b44" /><Relationship Type="http://schemas.openxmlformats.org/officeDocument/2006/relationships/notesSlide" Target="/ppt/notesSlides/notesSlide12.xml" Id="Ra788c4b8af9f49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9f8b16a14494d21" /><Relationship Type="http://schemas.openxmlformats.org/officeDocument/2006/relationships/image" Target="/ppt/media/image23.png" Id="R353998279a0f460a" /><Relationship Type="http://schemas.openxmlformats.org/officeDocument/2006/relationships/hyperlink" Target="https://tragicoding.github.io/HandsOn/" TargetMode="External" Id="Rceec5f7399144511" /><Relationship Type="http://schemas.openxmlformats.org/officeDocument/2006/relationships/notesSlide" Target="/ppt/notesSlides/notesSlide13.xml" Id="Racc5073893144f31" /></Relationships>
</file>

<file path=ppt/slides/slide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Dutch-Pay">
            <a:extLst xmlns:a="http://schemas.openxmlformats.org/drawingml/2006/main">
              <a:ext uri="{FF2B5EF4-FFF2-40B4-BE49-F238E27FC236}">
                <a16:creationId xmlns:a16="http://schemas.microsoft.com/office/drawing/2014/main" id="{B98F7521-0F1B-4CFC-8C3B-979692814FAB}"/>
              </a:ext>
            </a:extLst>
          </p:cNvPr>
          <p:cNvSpPr>
            <a:spLocks xmlns:a="http://schemas.openxmlformats.org/drawingml/2006/main" noGrp="1"/>
          </p:cNvSpPr>
          <p:nvPr/>
        </p:nvSpPr>
        <p:spPr>
          <a:xfrm xmlns:a="http://schemas.openxmlformats.org/drawingml/2006/main">
            <a:off x="571500" y="51435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7860AD"/>
                </a:solidFill>
                <a:latin typeface="Malgun Gothic"/>
                <a:ea typeface="Malgun Gothic"/>
                <a:cs typeface="Malgun Gothic"/>
              </a:defRPr>
            </a:defPPr>
          </a:lstStyle>
          <a:p xmlns:a="http://schemas.openxmlformats.org/drawingml/2006/main">
            <a:pPr algn="l">
              <a:lnSpc>
                <a:spcPct val="116000"/>
              </a:lnSpc>
              <a:buNone/>
              <a:defRPr sz="2400" b="1">
                <a:solidFill>
                  <a:srgbClr val="7860AD"/>
                </a:solidFill>
                <a:latin typeface="Malgun Gothic"/>
                <a:ea typeface="Malgun Gothic"/>
                <a:cs typeface="Malgun Gothic"/>
              </a:defRPr>
            </a:pPr>
            <a:r>
              <a:rPr sz="2400" b="1">
                <a:solidFill>
                  <a:srgbClr val="7860AD"/>
                </a:solidFill>
                <a:latin typeface="Malgun Gothic"/>
                <a:ea typeface="Malgun Gothic"/>
                <a:cs typeface="Malgun Gothic"/>
              </a:rPr>
              <a:t>Dutch-Pay</a:t>
            </a:r>
          </a:p>
        </p:txBody>
      </p:sp>
      <p:sp>
        <p:nvSpPr>
          <p:cNvPr id="2" name="더치페이도, AI 판단도&#10;기준이 필요했다">
            <a:extLst xmlns:a="http://schemas.openxmlformats.org/drawingml/2006/main">
              <a:ext uri="{FF2B5EF4-FFF2-40B4-BE49-F238E27FC236}">
                <a16:creationId xmlns:a16="http://schemas.microsoft.com/office/drawing/2014/main" id="{89863050-9508-4C5B-B2CA-DD6FFEE7C427}"/>
              </a:ext>
            </a:extLst>
          </p:cNvPr>
          <p:cNvSpPr>
            <a:spLocks xmlns:a="http://schemas.openxmlformats.org/drawingml/2006/main" noGrp="1"/>
          </p:cNvSpPr>
          <p:nvPr/>
        </p:nvSpPr>
        <p:spPr>
          <a:xfrm xmlns:a="http://schemas.openxmlformats.org/drawingml/2006/main">
            <a:off x="571500" y="1304925"/>
            <a:ext cx="7334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1">
                <a:solidFill>
                  <a:srgbClr val="44364F"/>
                </a:solidFill>
                <a:latin typeface="Malgun Gothic"/>
                <a:ea typeface="Malgun Gothic"/>
                <a:cs typeface="Malgun Gothic"/>
              </a:defRPr>
            </a:defPPr>
          </a:lstStyle>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더치페이도, AI 판단도</a:t>
            </a:r>
          </a:p>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기준이 필요했다</a:t>
            </a:r>
          </a:p>
        </p:txBody>
      </p:sp>
      <p:sp>
        <p:nvSpPr>
          <p:cNvPr id="3" name="한 줄 요청 · 명세서 · Claude 작업 규칙의 비교">
            <a:extLst xmlns:a="http://schemas.openxmlformats.org/drawingml/2006/main">
              <a:ext uri="{FF2B5EF4-FFF2-40B4-BE49-F238E27FC236}">
                <a16:creationId xmlns:a16="http://schemas.microsoft.com/office/drawing/2014/main" id="{3D8724F3-C40B-4670-B18F-78BD64461AB5}"/>
              </a:ext>
            </a:extLst>
          </p:cNvPr>
          <p:cNvSpPr>
            <a:spLocks xmlns:a="http://schemas.openxmlformats.org/drawingml/2006/main" noGrp="1"/>
          </p:cNvSpPr>
          <p:nvPr/>
        </p:nvSpPr>
        <p:spPr>
          <a:xfrm xmlns:a="http://schemas.openxmlformats.org/drawingml/2006/main">
            <a:off x="571500" y="3000375"/>
            <a:ext cx="7096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7860AD"/>
                </a:solidFill>
                <a:latin typeface="Malgun Gothic"/>
                <a:ea typeface="Malgun Gothic"/>
                <a:cs typeface="Malgun Gothic"/>
              </a:defRPr>
            </a:defPPr>
          </a:lstStyle>
          <a:p xmlns:a="http://schemas.openxmlformats.org/drawingml/2006/main">
            <a:pPr algn="l">
              <a:lnSpc>
                <a:spcPct val="116000"/>
              </a:lnSpc>
              <a:buNone/>
              <a:defRPr sz="1875" b="0">
                <a:solidFill>
                  <a:srgbClr val="7860AD"/>
                </a:solidFill>
                <a:latin typeface="Malgun Gothic"/>
                <a:ea typeface="Malgun Gothic"/>
                <a:cs typeface="Malgun Gothic"/>
              </a:defRPr>
            </a:pPr>
            <a:r>
              <a:rPr sz="1875" b="0">
                <a:solidFill>
                  <a:srgbClr val="7860AD"/>
                </a:solidFill>
                <a:latin typeface="Malgun Gothic"/>
                <a:ea typeface="Malgun Gothic"/>
                <a:cs typeface="Malgun Gothic"/>
              </a:rPr>
              <a:t>한 줄 요청 · 명세서 · Claude 작업 규칙의 비교</a:t>
            </a:r>
          </a:p>
        </p:txBody>
      </p:sp>
      <p:sp>
        <p:nvSpPr>
          <p:cNvPr id="4" name="모임 정산 담당자가 결제자와 참여 조건이 다른 상황에서&#10;감면율을 반영하고, 누가 ">
            <a:extLst xmlns:a="http://schemas.openxmlformats.org/drawingml/2006/main">
              <a:ext uri="{FF2B5EF4-FFF2-40B4-BE49-F238E27FC236}">
                <a16:creationId xmlns:a16="http://schemas.microsoft.com/office/drawing/2014/main" id="{5D5B2049-4BC5-4405-942C-9CA298681DFE}"/>
              </a:ext>
            </a:extLst>
          </p:cNvPr>
          <p:cNvSpPr>
            <a:spLocks xmlns:a="http://schemas.openxmlformats.org/drawingml/2006/main" noGrp="1"/>
          </p:cNvSpPr>
          <p:nvPr/>
        </p:nvSpPr>
        <p:spPr>
          <a:xfrm xmlns:a="http://schemas.openxmlformats.org/drawingml/2006/main">
            <a:off x="571500" y="3705225"/>
            <a:ext cx="709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모임 정산 담당자가 결제자와 참여 조건이 다른 상황에서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감면율을 반영하고, 누가 누구에게 얼마를 보낼지</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브라우저에서 한 번에 확인하게 한다.</a:t>
            </a:r>
          </a:p>
        </p:txBody>
      </p:sp>
      <p:sp>
        <p:nvSpPr>
          <p:cNvPr id="5" name="phase0">
            <a:extLst xmlns:a="http://schemas.openxmlformats.org/drawingml/2006/main">
              <a:ext uri="{FF2B5EF4-FFF2-40B4-BE49-F238E27FC236}">
                <a16:creationId xmlns:a16="http://schemas.microsoft.com/office/drawing/2014/main" id="{F543F82A-E3AA-4255-A437-5F7159192848}"/>
              </a:ext>
            </a:extLst>
          </p:cNvPr>
          <p:cNvSpPr>
            <a:spLocks xmlns:a="http://schemas.openxmlformats.org/drawingml/2006/main" noGrp="1"/>
          </p:cNvSpPr>
          <p:nvPr/>
        </p:nvSpPr>
        <p:spPr>
          <a:xfrm xmlns:a="http://schemas.openxmlformats.org/drawingml/2006/main">
            <a:off x="571500" y="4905375"/>
            <a:ext cx="2000250" cy="533400"/>
          </a:xfrm>
          <a:prstGeom xmlns:a="http://schemas.openxmlformats.org/drawingml/2006/main" prst="rect">
            <a:avLst/>
          </a:prstGeom>
          <a:solidFill xmlns:a="http://schemas.openxmlformats.org/drawingml/2006/main">
            <a:srgbClr val="F9E6DE"/>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950" b="1">
                <a:solidFill>
                  <a:srgbClr val="934D3C"/>
                </a:solidFill>
                <a:latin typeface="Malgun Gothic"/>
                <a:ea typeface="Malgun Gothic"/>
                <a:cs typeface="Malgun Gothic"/>
              </a:defRPr>
            </a:defPPr>
          </a:lstStyle>
          <a:p xmlns:a="http://schemas.openxmlformats.org/drawingml/2006/main">
            <a:pPr algn="l">
              <a:lnSpc>
                <a:spcPct val="116000"/>
              </a:lnSpc>
              <a:buNone/>
              <a:defRPr sz="1950" b="1">
                <a:solidFill>
                  <a:srgbClr val="934D3C"/>
                </a:solidFill>
                <a:latin typeface="Malgun Gothic"/>
                <a:ea typeface="Malgun Gothic"/>
                <a:cs typeface="Malgun Gothic"/>
              </a:defRPr>
            </a:pPr>
            <a:r>
              <a:rPr sz="1950" b="1">
                <a:solidFill>
                  <a:srgbClr val="934D3C"/>
                </a:solidFill>
                <a:latin typeface="Malgun Gothic"/>
                <a:ea typeface="Malgun Gothic"/>
                <a:cs typeface="Malgun Gothic"/>
              </a:rPr>
              <a:t>한 줄 요청</a:t>
            </a:r>
          </a:p>
        </p:txBody>
      </p:sp>
      <p:sp>
        <p:nvSpPr>
          <p:cNvPr id="6" name="phase2/doc">
            <a:extLst xmlns:a="http://schemas.openxmlformats.org/drawingml/2006/main">
              <a:ext uri="{FF2B5EF4-FFF2-40B4-BE49-F238E27FC236}">
                <a16:creationId xmlns:a16="http://schemas.microsoft.com/office/drawing/2014/main" id="{7E084F8C-910E-4CF4-89FF-417CB51FD4DA}"/>
              </a:ext>
            </a:extLst>
          </p:cNvPr>
          <p:cNvSpPr>
            <a:spLocks xmlns:a="http://schemas.openxmlformats.org/drawingml/2006/main" noGrp="1"/>
          </p:cNvSpPr>
          <p:nvPr/>
        </p:nvSpPr>
        <p:spPr>
          <a:xfrm xmlns:a="http://schemas.openxmlformats.org/drawingml/2006/main">
            <a:off x="2714625" y="4905375"/>
            <a:ext cx="2000250" cy="533400"/>
          </a:xfrm>
          <a:prstGeom xmlns:a="http://schemas.openxmlformats.org/drawingml/2006/main" prst="rect">
            <a:avLst/>
          </a:prstGeom>
          <a:solidFill xmlns:a="http://schemas.openxmlformats.org/drawingml/2006/main">
            <a:srgbClr val="F8E9C9"/>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950" b="1">
                <a:solidFill>
                  <a:srgbClr val="8B6335"/>
                </a:solidFill>
                <a:latin typeface="Malgun Gothic"/>
                <a:ea typeface="Malgun Gothic"/>
                <a:cs typeface="Malgun Gothic"/>
              </a:defRPr>
            </a:defPPr>
          </a:lstStyle>
          <a:p xmlns:a="http://schemas.openxmlformats.org/drawingml/2006/main">
            <a:pPr algn="l">
              <a:lnSpc>
                <a:spcPct val="116000"/>
              </a:lnSpc>
              <a:buNone/>
              <a:defRPr sz="1950" b="1">
                <a:solidFill>
                  <a:srgbClr val="8B6335"/>
                </a:solidFill>
                <a:latin typeface="Malgun Gothic"/>
                <a:ea typeface="Malgun Gothic"/>
                <a:cs typeface="Malgun Gothic"/>
              </a:defRPr>
            </a:pPr>
            <a:r>
              <a:rPr sz="1950" b="1">
                <a:solidFill>
                  <a:srgbClr val="8B6335"/>
                </a:solidFill>
                <a:latin typeface="Malgun Gothic"/>
                <a:ea typeface="Malgun Gothic"/>
                <a:cs typeface="Malgun Gothic"/>
              </a:rPr>
              <a:t>명세서</a:t>
            </a:r>
          </a:p>
        </p:txBody>
      </p:sp>
      <p:sp>
        <p:nvSpPr>
          <p:cNvPr id="7" name="phase2/claude">
            <a:extLst xmlns:a="http://schemas.openxmlformats.org/drawingml/2006/main">
              <a:ext uri="{FF2B5EF4-FFF2-40B4-BE49-F238E27FC236}">
                <a16:creationId xmlns:a16="http://schemas.microsoft.com/office/drawing/2014/main" id="{4E9C3A3E-7F66-4393-A6DD-B88B7F387CE0}"/>
              </a:ext>
            </a:extLst>
          </p:cNvPr>
          <p:cNvSpPr>
            <a:spLocks xmlns:a="http://schemas.openxmlformats.org/drawingml/2006/main" noGrp="1"/>
          </p:cNvSpPr>
          <p:nvPr/>
        </p:nvSpPr>
        <p:spPr>
          <a:xfrm xmlns:a="http://schemas.openxmlformats.org/drawingml/2006/main">
            <a:off x="4857750" y="4905375"/>
            <a:ext cx="3000375" cy="533400"/>
          </a:xfrm>
          <a:prstGeom xmlns:a="http://schemas.openxmlformats.org/drawingml/2006/main" prst="rect">
            <a:avLst/>
          </a:prstGeom>
          <a:solidFill xmlns:a="http://schemas.openxmlformats.org/drawingml/2006/main">
            <a:srgbClr val="EEE6F7"/>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800" b="1">
                <a:solidFill>
                  <a:srgbClr val="684D98"/>
                </a:solidFill>
                <a:latin typeface="Malgun Gothic"/>
                <a:ea typeface="Malgun Gothic"/>
                <a:cs typeface="Malgun Gothic"/>
              </a:defRPr>
            </a:defPPr>
          </a:lstStyle>
          <a:p xmlns:a="http://schemas.openxmlformats.org/drawingml/2006/main">
            <a:pPr algn="l">
              <a:lnSpc>
                <a:spcPct val="116000"/>
              </a:lnSpc>
              <a:buNone/>
              <a:defRPr sz="1800" b="1">
                <a:solidFill>
                  <a:srgbClr val="684D98"/>
                </a:solidFill>
                <a:latin typeface="Malgun Gothic"/>
                <a:ea typeface="Malgun Gothic"/>
                <a:cs typeface="Malgun Gothic"/>
              </a:defRPr>
            </a:pPr>
            <a:r>
              <a:rPr sz="1800" b="1">
                <a:solidFill>
                  <a:srgbClr val="684D98"/>
                </a:solidFill>
                <a:latin typeface="Malgun Gothic"/>
                <a:ea typeface="Malgun Gothic"/>
                <a:cs typeface="Malgun Gothic"/>
              </a:rPr>
              <a:t>Claude 작업 규칙</a:t>
            </a:r>
          </a:p>
        </p:txBody>
      </p:sp>
      <p:sp>
        <p:nvSpPr>
          <p:cNvPr id="8" name="김진서">
            <a:extLst xmlns:a="http://schemas.openxmlformats.org/drawingml/2006/main">
              <a:ext uri="{FF2B5EF4-FFF2-40B4-BE49-F238E27FC236}">
                <a16:creationId xmlns:a16="http://schemas.microsoft.com/office/drawing/2014/main" id="{88669CDA-3C14-4547-B9D0-694291667F86}"/>
              </a:ext>
            </a:extLst>
          </p:cNvPr>
          <p:cNvSpPr>
            <a:spLocks xmlns:a="http://schemas.openxmlformats.org/drawingml/2006/main" noGrp="1"/>
          </p:cNvSpPr>
          <p:nvPr/>
        </p:nvSpPr>
        <p:spPr>
          <a:xfrm xmlns:a="http://schemas.openxmlformats.org/drawingml/2006/main">
            <a:off x="571500" y="552450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김진서</a:t>
            </a:r>
          </a:p>
        </p:txBody>
      </p:sp>
      <p:sp>
        <p:nvSpPr>
          <p:cNvPr id="9" name="https://tragicoding.github.io/HandsOn/">
            <a:extLst xmlns:a="http://schemas.openxmlformats.org/drawingml/2006/main">
              <a:ext uri="{FF2B5EF4-FFF2-40B4-BE49-F238E27FC236}">
                <a16:creationId xmlns:a16="http://schemas.microsoft.com/office/drawing/2014/main" id="{E5D2DD6A-2288-4742-AE60-A25D069D2F1F}"/>
              </a:ext>
            </a:extLst>
          </p:cNvPr>
          <p:cNvSpPr>
            <a:spLocks xmlns:a="http://schemas.openxmlformats.org/drawingml/2006/main" noGrp="1"/>
          </p:cNvSpPr>
          <p:nvPr/>
        </p:nvSpPr>
        <p:spPr>
          <a:xfrm xmlns:a="http://schemas.openxmlformats.org/drawingml/2006/main">
            <a:off x="571500" y="59626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0AD"/>
                </a:solidFill>
                <a:latin typeface="Malgun Gothic"/>
                <a:ea typeface="Malgun Gothic"/>
                <a:cs typeface="Malgun Gothic"/>
              </a:defRPr>
            </a:defPPr>
          </a:lstStyle>
          <a:p xmlns:a="http://schemas.openxmlformats.org/drawingml/2006/main">
            <a:pPr algn="l">
              <a:lnSpc>
                <a:spcPct val="116000"/>
              </a:lnSpc>
              <a:buNone/>
              <a:defRPr sz="1350" b="0">
                <a:solidFill>
                  <a:srgbClr val="7860AD"/>
                </a:solidFill>
                <a:latin typeface="Malgun Gothic"/>
                <a:ea typeface="Malgun Gothic"/>
                <a:cs typeface="Malgun Gothic"/>
              </a:defRPr>
            </a:pPr>
            <a:r>
              <a:rPr sz="1350" b="0">
                <a:solidFill>
                  <a:srgbClr val="7860AD"/>
                </a:solidFill>
                <a:latin typeface="Malgun Gothic"/>
                <a:ea typeface="Malgun Gothic"/>
                <a:cs typeface="Malgun Gothic"/>
                <a:hlinkClick xmlns:r="http://schemas.openxmlformats.org/officeDocument/2006/relationships" r:id="R04b21075ee864faa"/>
              </a:rPr>
              <a:t>https://tragicoding.github.io/HandsOn/</a:t>
            </a:r>
          </a:p>
        </p:txBody>
      </p:sp>
      <p:sp>
        <p:nvSpPr>
          <p:cNvPr id="10" name="https://github.com/tragicoding/HandsOn">
            <a:extLst xmlns:a="http://schemas.openxmlformats.org/drawingml/2006/main">
              <a:ext uri="{FF2B5EF4-FFF2-40B4-BE49-F238E27FC236}">
                <a16:creationId xmlns:a16="http://schemas.microsoft.com/office/drawing/2014/main" id="{DA82229C-CEA7-444D-8813-DCC10EF5559E}"/>
              </a:ext>
            </a:extLst>
          </p:cNvPr>
          <p:cNvSpPr>
            <a:spLocks xmlns:a="http://schemas.openxmlformats.org/drawingml/2006/main" noGrp="1"/>
          </p:cNvSpPr>
          <p:nvPr/>
        </p:nvSpPr>
        <p:spPr>
          <a:xfrm xmlns:a="http://schemas.openxmlformats.org/drawingml/2006/main">
            <a:off x="571500" y="62674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hlinkClick xmlns:r="http://schemas.openxmlformats.org/officeDocument/2006/relationships" r:id="R9edfdb292611413b"/>
              </a:rPr>
              <a:t>https://github.com/tragicoding/HandsOn</a:t>
            </a:r>
          </a:p>
        </p:txBody>
      </p:sp>
      <p:pic>
        <p:nvPicPr>
          <p:cNvPr id="11" name="">
            <a:extLst xmlns:a="http://schemas.openxmlformats.org/drawingml/2006/main">
              <a:ext uri="{FF2B5EF4-FFF2-40B4-BE49-F238E27FC236}">
                <a16:creationId xmlns:a16="http://schemas.microsoft.com/office/drawing/2014/main" id="{0CBE1A65-7EFD-482A-9654-92A0E27B4394}"/>
              </a:ext>
            </a:extLst>
          </p:cNvPr>
          <p:cNvPicPr>
            <a:picLocks xmlns:a="http://schemas.openxmlformats.org/drawingml/2006/main" noChangeAspect="1"/>
          </p:cNvPicPr>
          <p:nvPr/>
        </p:nvPicPr>
        <p:blipFill>
          <a:blip xmlns:r="http://schemas.openxmlformats.org/officeDocument/2006/relationships" xmlns:a="http://schemas.openxmlformats.org/drawingml/2006/main" r:embed="Rc457d41df66b496d"/>
          <a:srcRect xmlns:a="http://schemas.openxmlformats.org/drawingml/2006/main" l="2326" t="3731" r="2326" b="55871"/>
          <a:stretch xmlns:a="http://schemas.openxmlformats.org/drawingml/2006/main"/>
        </p:blipFill>
        <p:spPr>
          <a:xfrm xmlns:a="http://schemas.openxmlformats.org/drawingml/2006/main">
            <a:off x="8593544" y="600075"/>
            <a:ext cx="2520137" cy="4991100"/>
          </a:xfrm>
          <a:prstGeom xmlns:a="http://schemas.openxmlformats.org/drawingml/2006/main" prst="rect">
            <a:avLst/>
          </a:prstGeom>
        </p:spPr>
      </p:pic>
      <p:sp>
        <p:nvSpPr>
          <p:cNvPr id="12" name="50% 감면을 설정하는 실제 화면">
            <a:extLst xmlns:a="http://schemas.openxmlformats.org/drawingml/2006/main">
              <a:ext uri="{FF2B5EF4-FFF2-40B4-BE49-F238E27FC236}">
                <a16:creationId xmlns:a16="http://schemas.microsoft.com/office/drawing/2014/main" id="{BFAB4E5A-F6DF-4A16-A174-746DAFAB04E6}"/>
              </a:ext>
            </a:extLst>
          </p:cNvPr>
          <p:cNvSpPr>
            <a:spLocks xmlns:a="http://schemas.openxmlformats.org/drawingml/2006/main" noGrp="1"/>
          </p:cNvSpPr>
          <p:nvPr/>
        </p:nvSpPr>
        <p:spPr>
          <a:xfrm xmlns:a="http://schemas.openxmlformats.org/drawingml/2006/main">
            <a:off x="8153400" y="56292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50% 감면을 설정하는 실제 화면</a:t>
            </a:r>
          </a:p>
        </p:txBody>
      </p:sp>
      <p:pic>
        <p:nvPicPr>
          <p:cNvPr id="13" name="">
            <a:extLst xmlns:a="http://schemas.openxmlformats.org/drawingml/2006/main">
              <a:ext uri="{FF2B5EF4-FFF2-40B4-BE49-F238E27FC236}">
                <a16:creationId xmlns:a16="http://schemas.microsoft.com/office/drawing/2014/main" id="{ACB2B19D-0FD5-48F6-A4EC-BFACB700F370}"/>
              </a:ext>
            </a:extLst>
          </p:cNvPr>
          <p:cNvPicPr>
            <a:picLocks xmlns:a="http://schemas.openxmlformats.org/drawingml/2006/main" noChangeAspect="1"/>
          </p:cNvPicPr>
          <p:nvPr/>
        </p:nvPicPr>
        <p:blipFill>
          <a:blip xmlns:r="http://schemas.openxmlformats.org/officeDocument/2006/relationships" xmlns:a="http://schemas.openxmlformats.org/drawingml/2006/main" r:embed="R89e8dfb13c414da8"/>
          <a:srcRect xmlns:a="http://schemas.openxmlformats.org/drawingml/2006/main" l="80144" t="67588" r="598" b="1169"/>
          <a:stretch xmlns:a="http://schemas.openxmlformats.org/drawingml/2006/main"/>
        </p:blipFill>
        <p:spPr>
          <a:xfrm xmlns:a="http://schemas.openxmlformats.org/drawingml/2006/main">
            <a:off x="9684884" y="5848350"/>
            <a:ext cx="1032782" cy="942975"/>
          </a:xfrm>
          <a:prstGeom xmlns:a="http://schemas.openxmlformats.org/drawingml/2006/main" prst="rect">
            <a:avLst/>
          </a:prstGeom>
        </p:spPr>
      </p:pic>
    </p:spTree>
    <p:extLst>
      <p:ext uri="{BB962C8B-B14F-4D97-AF65-F5344CB8AC3E}">
        <p14:creationId xmlns:p14="http://schemas.microsoft.com/office/powerpoint/2010/main" val="357706029"/>
      </p:ext>
    </p:extLst>
  </p:cSld>
</p:sld>
</file>

<file path=ppt/slides/slide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7" name="Dutch-Pay  /  성찰 기록">
            <a:extLst xmlns:a="http://schemas.openxmlformats.org/drawingml/2006/main">
              <a:ext uri="{FF2B5EF4-FFF2-40B4-BE49-F238E27FC236}">
                <a16:creationId xmlns:a16="http://schemas.microsoft.com/office/drawing/2014/main" id="{34586901-B572-4E92-985C-4D5DB558B12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조건이 다른 모임도 한 번에 정산">
            <a:extLst xmlns:a="http://schemas.openxmlformats.org/drawingml/2006/main">
              <a:ext uri="{FF2B5EF4-FFF2-40B4-BE49-F238E27FC236}">
                <a16:creationId xmlns:a16="http://schemas.microsoft.com/office/drawing/2014/main" id="{827B66FA-07E4-47D0-8C35-2C39230986D5}"/>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조건이 다른 모임도 한 번에 정산</a:t>
            </a:r>
          </a:p>
        </p:txBody>
      </p:sp>
      <p:sp>
        <p:nvSpPr>
          <p:cNvPr id="3" name="02 / 07">
            <a:extLst xmlns:a="http://schemas.openxmlformats.org/drawingml/2006/main">
              <a:ext uri="{FF2B5EF4-FFF2-40B4-BE49-F238E27FC236}">
                <a16:creationId xmlns:a16="http://schemas.microsoft.com/office/drawing/2014/main" id="{4F1F9D16-8D91-4B6F-A394-F9480821CCE8}"/>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02 / 07</a:t>
            </a:r>
          </a:p>
        </p:txBody>
      </p:sp>
      <p:pic>
        <p:nvPicPr>
          <p:cNvPr id="4" name="">
            <a:extLst xmlns:a="http://schemas.openxmlformats.org/drawingml/2006/main">
              <a:ext uri="{FF2B5EF4-FFF2-40B4-BE49-F238E27FC236}">
                <a16:creationId xmlns:a16="http://schemas.microsoft.com/office/drawing/2014/main" id="{91C4F169-743F-4B43-A9F7-D8A518843F25}"/>
              </a:ext>
            </a:extLst>
          </p:cNvPr>
          <p:cNvPicPr>
            <a:picLocks xmlns:a="http://schemas.openxmlformats.org/drawingml/2006/main" noChangeAspect="1"/>
          </p:cNvPicPr>
          <p:nvPr/>
        </p:nvPicPr>
        <p:blipFill>
          <a:blip xmlns:r="http://schemas.openxmlformats.org/officeDocument/2006/relationships" xmlns:a="http://schemas.openxmlformats.org/drawingml/2006/main" r:embed="Rb778aec0cdd74f2e"/>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불편  택시를 따로 타거나 술을 안 마신 친구까지 똑같이 나누기 어려웠다.">
            <a:extLst xmlns:a="http://schemas.openxmlformats.org/drawingml/2006/main">
              <a:ext uri="{FF2B5EF4-FFF2-40B4-BE49-F238E27FC236}">
                <a16:creationId xmlns:a16="http://schemas.microsoft.com/office/drawing/2014/main" id="{3B58F276-2010-4AFF-BE96-A1C405F1C5D7}"/>
              </a:ext>
            </a:extLst>
          </p:cNvPr>
          <p:cNvSpPr>
            <a:spLocks xmlns:a="http://schemas.openxmlformats.org/drawingml/2006/main" noGrp="1"/>
          </p:cNvSpPr>
          <p:nvPr/>
        </p:nvSpPr>
        <p:spPr>
          <a:xfrm xmlns:a="http://schemas.openxmlformats.org/drawingml/2006/main">
            <a:off x="2143125" y="1809750"/>
            <a:ext cx="9477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택시를 따로 타거나 술을 안 마신 친구까지 똑같이 나누기 어려웠다.</a:t>
            </a:r>
          </a:p>
        </p:txBody>
      </p:sp>
      <p:sp>
        <p:nvSpPr>
          <p:cNvPr id="6" name="기존 방식  카카오 정산만으로는 개인별 감면과 여러 결제자의 상계를 함께 처리하기">
            <a:extLst xmlns:a="http://schemas.openxmlformats.org/drawingml/2006/main">
              <a:ext uri="{FF2B5EF4-FFF2-40B4-BE49-F238E27FC236}">
                <a16:creationId xmlns:a16="http://schemas.microsoft.com/office/drawing/2014/main" id="{6F9D332C-948F-438B-A5E0-48EC5F4DA361}"/>
              </a:ext>
            </a:extLst>
          </p:cNvPr>
          <p:cNvSpPr>
            <a:spLocks xmlns:a="http://schemas.openxmlformats.org/drawingml/2006/main" noGrp="1"/>
          </p:cNvSpPr>
          <p:nvPr/>
        </p:nvSpPr>
        <p:spPr>
          <a:xfrm xmlns:a="http://schemas.openxmlformats.org/drawingml/2006/main">
            <a:off x="2143125" y="2133600"/>
            <a:ext cx="9477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카카오 정산만으로는 개인별 감면과 여러 결제자의 상계를 함께 처리하기 어려웠다.</a:t>
            </a:r>
          </a:p>
        </p:txBody>
      </p:sp>
      <p:sp>
        <p:nvSpPr>
          <p:cNvPr id="7" name="1  참여자 입력">
            <a:extLst xmlns:a="http://schemas.openxmlformats.org/drawingml/2006/main">
              <a:ext uri="{FF2B5EF4-FFF2-40B4-BE49-F238E27FC236}">
                <a16:creationId xmlns:a16="http://schemas.microsoft.com/office/drawing/2014/main" id="{77307997-90B8-4C5E-B89C-B0CCA472E1EC}"/>
              </a:ext>
            </a:extLst>
          </p:cNvPr>
          <p:cNvSpPr>
            <a:spLocks xmlns:a="http://schemas.openxmlformats.org/drawingml/2006/main" noGrp="1"/>
          </p:cNvSpPr>
          <p:nvPr/>
        </p:nvSpPr>
        <p:spPr>
          <a:xfrm xmlns:a="http://schemas.openxmlformats.org/drawingml/2006/main">
            <a:off x="57150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1  참여자 입력</a:t>
            </a:r>
          </a:p>
        </p:txBody>
      </p:sp>
      <p:sp>
        <p:nvSpPr>
          <p:cNvPr id="8" name="2  조건별 지출 조정">
            <a:extLst xmlns:a="http://schemas.openxmlformats.org/drawingml/2006/main">
              <a:ext uri="{FF2B5EF4-FFF2-40B4-BE49-F238E27FC236}">
                <a16:creationId xmlns:a16="http://schemas.microsoft.com/office/drawing/2014/main" id="{88723CAF-7403-47BD-8FED-97D7F01B2B3B}"/>
              </a:ext>
            </a:extLst>
          </p:cNvPr>
          <p:cNvSpPr>
            <a:spLocks xmlns:a="http://schemas.openxmlformats.org/drawingml/2006/main" noGrp="1"/>
          </p:cNvSpPr>
          <p:nvPr/>
        </p:nvSpPr>
        <p:spPr>
          <a:xfrm xmlns:a="http://schemas.openxmlformats.org/drawingml/2006/main">
            <a:off x="4429125"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2  지출 조건 반영</a:t>
            </a:r>
          </a:p>
        </p:txBody>
      </p:sp>
      <p:sp>
        <p:nvSpPr>
          <p:cNvPr id="9" name="3  송금 결과 복사">
            <a:extLst xmlns:a="http://schemas.openxmlformats.org/drawingml/2006/main">
              <a:ext uri="{FF2B5EF4-FFF2-40B4-BE49-F238E27FC236}">
                <a16:creationId xmlns:a16="http://schemas.microsoft.com/office/drawing/2014/main" id="{AD5B5A7E-3ACD-4E14-ADED-AEBCB3BB43B7}"/>
              </a:ext>
            </a:extLst>
          </p:cNvPr>
          <p:cNvSpPr>
            <a:spLocks xmlns:a="http://schemas.openxmlformats.org/drawingml/2006/main" noGrp="1"/>
          </p:cNvSpPr>
          <p:nvPr/>
        </p:nvSpPr>
        <p:spPr>
          <a:xfrm xmlns:a="http://schemas.openxmlformats.org/drawingml/2006/main">
            <a:off x="828675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3  송금 결과 복사</a:t>
            </a:r>
          </a:p>
        </p:txBody>
      </p:sp>
      <p:pic>
        <p:nvPicPr>
          <p:cNvPr id="10" name="">
            <a:extLst xmlns:a="http://schemas.openxmlformats.org/drawingml/2006/main">
              <a:ext uri="{FF2B5EF4-FFF2-40B4-BE49-F238E27FC236}">
                <a16:creationId xmlns:a16="http://schemas.microsoft.com/office/drawing/2014/main" id="{89B670E3-0F30-48A8-88C1-A8D5C0C895FA}"/>
              </a:ext>
            </a:extLst>
          </p:cNvPr>
          <p:cNvPicPr>
            <a:picLocks xmlns:a="http://schemas.openxmlformats.org/drawingml/2006/main" noChangeAspect="1"/>
          </p:cNvPicPr>
          <p:nvPr/>
        </p:nvPicPr>
        <p:blipFill>
          <a:blip xmlns:r="http://schemas.openxmlformats.org/officeDocument/2006/relationships" xmlns:a="http://schemas.openxmlformats.org/drawingml/2006/main" r:embed="Rb494d099fcad4b0d"/>
          <a:srcRect xmlns:a="http://schemas.openxmlformats.org/drawingml/2006/main" l="3256" t="5682" r="3256" b="80147"/>
          <a:stretch xmlns:a="http://schemas.openxmlformats.org/drawingml/2006/main"/>
        </p:blipFill>
        <p:spPr>
          <a:xfrm xmlns:a="http://schemas.openxmlformats.org/drawingml/2006/main">
            <a:off x="666750" y="3363912"/>
            <a:ext cx="3190875" cy="16827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37AC827E-B833-46B9-ACAA-1D6CBC6C52AA}"/>
              </a:ext>
            </a:extLst>
          </p:cNvPr>
          <p:cNvPicPr>
            <a:picLocks xmlns:a="http://schemas.openxmlformats.org/drawingml/2006/main" noChangeAspect="1"/>
          </p:cNvPicPr>
          <p:nvPr/>
        </p:nvPicPr>
        <p:blipFill>
          <a:blip xmlns:r="http://schemas.openxmlformats.org/officeDocument/2006/relationships" xmlns:a="http://schemas.openxmlformats.org/drawingml/2006/main" r:embed="R72086bf43ef94acc"/>
          <a:srcRect xmlns:a="http://schemas.openxmlformats.org/drawingml/2006/main" l="3256" t="51625" r="3256" b="31644"/>
          <a:stretch xmlns:a="http://schemas.openxmlformats.org/drawingml/2006/main"/>
        </p:blipFill>
        <p:spPr>
          <a:xfrm xmlns:a="http://schemas.openxmlformats.org/drawingml/2006/main">
            <a:off x="4670244" y="2943225"/>
            <a:ext cx="2899138" cy="252412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332AD1BC-ED45-4553-882E-8FAB6DFB9858}"/>
              </a:ext>
            </a:extLst>
          </p:cNvPr>
          <p:cNvPicPr>
            <a:picLocks xmlns:a="http://schemas.openxmlformats.org/drawingml/2006/main" noChangeAspect="1"/>
          </p:cNvPicPr>
          <p:nvPr/>
        </p:nvPicPr>
        <p:blipFill>
          <a:blip xmlns:r="http://schemas.openxmlformats.org/officeDocument/2006/relationships" xmlns:a="http://schemas.openxmlformats.org/drawingml/2006/main" r:embed="R094d18b487654725"/>
          <a:srcRect xmlns:a="http://schemas.openxmlformats.org/drawingml/2006/main" l="3256" t="84544" r="3256" b="415"/>
          <a:stretch xmlns:a="http://schemas.openxmlformats.org/drawingml/2006/main"/>
        </p:blipFill>
        <p:spPr>
          <a:xfrm xmlns:a="http://schemas.openxmlformats.org/drawingml/2006/main">
            <a:off x="8382000" y="3054350"/>
            <a:ext cx="3190875" cy="2301875"/>
          </a:xfrm>
          <a:prstGeom xmlns:a="http://schemas.openxmlformats.org/drawingml/2006/main" prst="rect">
            <a:avLst/>
          </a:prstGeom>
        </p:spPr>
      </p:pic>
      <p:sp>
        <p:nvSpPr>
          <p:cNvPr id="13" name="이름을 추가하고 함께 쓴 사람 선택">
            <a:extLst xmlns:a="http://schemas.openxmlformats.org/drawingml/2006/main">
              <a:ext uri="{FF2B5EF4-FFF2-40B4-BE49-F238E27FC236}">
                <a16:creationId xmlns:a16="http://schemas.microsoft.com/office/drawing/2014/main" id="{3EA25F6D-3E38-49E8-B8B8-14981060BA4A}"/>
              </a:ext>
            </a:extLst>
          </p:cNvPr>
          <p:cNvSpPr>
            <a:spLocks xmlns:a="http://schemas.openxmlformats.org/drawingml/2006/main" noGrp="1"/>
          </p:cNvSpPr>
          <p:nvPr/>
        </p:nvSpPr>
        <p:spPr>
          <a:xfrm xmlns:a="http://schemas.openxmlformats.org/drawingml/2006/main">
            <a:off x="571500"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이름을 추가하고 함께 쓴 사람 선택</a:t>
            </a:r>
          </a:p>
        </p:txBody>
      </p:sp>
      <p:sp>
        <p:nvSpPr>
          <p:cNvPr id="14" name="각 지출의 결제자·감면·잔여액 반영">
            <a:extLst xmlns:a="http://schemas.openxmlformats.org/drawingml/2006/main">
              <a:ext uri="{FF2B5EF4-FFF2-40B4-BE49-F238E27FC236}">
                <a16:creationId xmlns:a16="http://schemas.microsoft.com/office/drawing/2014/main" id="{ABF88E05-429C-4ACC-88B4-6C5B5A456AE6}"/>
              </a:ext>
            </a:extLst>
          </p:cNvPr>
          <p:cNvSpPr>
            <a:spLocks xmlns:a="http://schemas.openxmlformats.org/drawingml/2006/main" noGrp="1"/>
          </p:cNvSpPr>
          <p:nvPr/>
        </p:nvSpPr>
        <p:spPr>
          <a:xfrm xmlns:a="http://schemas.openxmlformats.org/drawingml/2006/main">
            <a:off x="4429125"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각 지출의 결제자·감면·잔여액 반영</a:t>
            </a:r>
          </a:p>
        </p:txBody>
      </p:sp>
      <p:sp>
        <p:nvSpPr>
          <p:cNvPr id="15" name="서로 갚을 금액을 상계해 공유">
            <a:extLst xmlns:a="http://schemas.openxmlformats.org/drawingml/2006/main">
              <a:ext uri="{FF2B5EF4-FFF2-40B4-BE49-F238E27FC236}">
                <a16:creationId xmlns:a16="http://schemas.microsoft.com/office/drawing/2014/main" id="{9110B334-7FB2-43CE-9F34-669A56E0D2E8}"/>
              </a:ext>
            </a:extLst>
          </p:cNvPr>
          <p:cNvSpPr>
            <a:spLocks xmlns:a="http://schemas.openxmlformats.org/drawingml/2006/main" noGrp="1"/>
          </p:cNvSpPr>
          <p:nvPr/>
        </p:nvSpPr>
        <p:spPr>
          <a:xfrm xmlns:a="http://schemas.openxmlformats.org/drawingml/2006/main">
            <a:off x="8286750" y="550545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서로 갚을 금액을 상계해 공유</a:t>
            </a:r>
          </a:p>
        </p:txBody>
      </p:sp>
      <p:sp>
        <p:nvSpPr>
          <p:cNvPr id="16" name="기능별 실제 캡처(시점별 금액 상이). localStorage에 저장하며 로그인·">
            <a:extLst xmlns:a="http://schemas.openxmlformats.org/drawingml/2006/main">
              <a:ext uri="{FF2B5EF4-FFF2-40B4-BE49-F238E27FC236}">
                <a16:creationId xmlns:a16="http://schemas.microsoft.com/office/drawing/2014/main" id="{F1D20B74-69F4-46B1-A94E-2B82E276D007}"/>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기능별 실제 캡처(시점별 금액 상이). localStorage에 저장하며 로그인·서버·실제 송금 기능은 없다.</a:t>
            </a:r>
          </a:p>
        </p:txBody>
      </p:sp>
      <p:sp>
        <p:nvSpPr>
          <p:cNvPr id="18" name="">
            <a:extLst xmlns:a="http://schemas.openxmlformats.org/drawingml/2006/main">
              <a:ext uri="{FF2B5EF4-FFF2-40B4-BE49-F238E27FC236}">
                <a16:creationId xmlns:a16="http://schemas.microsoft.com/office/drawing/2014/main" id="{FAE152D6-D6CB-4B38-98F3-8D86746AAD20}"/>
              </a:ext>
            </a:extLst>
          </p:cNvPr>
          <p:cNvSpPr>
            <a:spLocks xmlns:a="http://schemas.openxmlformats.org/drawingml/2006/main" noGrp="1"/>
          </p:cNvSpPr>
          <p:nvPr/>
        </p:nvSpPr>
        <p:spPr>
          <a:xfrm xmlns:a="http://schemas.openxmlformats.org/drawingml/2006/main">
            <a:off x="571500" y="1438275"/>
            <a:ext cx="5715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1">
                <a:solidFill>
                  <a:srgbClr val="694E91"/>
                </a:solidFill>
                <a:latin typeface="Malgun Gothic"/>
                <a:ea typeface="Malgun Gothic"/>
                <a:cs typeface="Malgun Gothic"/>
              </a:defRPr>
            </a:defPPr>
          </a:lstStyle>
          <a:p xmlns:a="http://schemas.openxmlformats.org/drawingml/2006/main">
            <a:pPr algn="l">
              <a:defRPr sz="1875" b="1">
                <a:solidFill>
                  <a:srgbClr val="694E91"/>
                </a:solidFill>
                <a:latin typeface="Malgun Gothic"/>
                <a:ea typeface="Malgun Gothic"/>
                <a:cs typeface="Malgun Gothic"/>
              </a:defRPr>
            </a:pPr>
            <a:r>
              <a:rPr sz="1875" b="1">
                <a:solidFill>
                  <a:srgbClr val="694E91"/>
                </a:solidFill>
                <a:latin typeface="Malgun Gothic"/>
                <a:ea typeface="Malgun Gothic"/>
                <a:cs typeface="Malgun Gothic"/>
              </a:rPr>
              <a:t>기존 앱의 불편 사항</a:t>
            </a:r>
          </a:p>
        </p:txBody>
      </p:sp>
      <p:sp>
        <p:nvSpPr>
          <p:cNvPr id="19" name="">
            <a:extLst xmlns:a="http://schemas.openxmlformats.org/drawingml/2006/main">
              <a:ext uri="{FF2B5EF4-FFF2-40B4-BE49-F238E27FC236}">
                <a16:creationId xmlns:a16="http://schemas.microsoft.com/office/drawing/2014/main" id="{638F86A2-E3B4-49C9-9623-5E080E9740AF}"/>
              </a:ext>
            </a:extLst>
          </p:cNvPr>
          <p:cNvSpPr>
            <a:spLocks xmlns:a="http://schemas.openxmlformats.org/drawingml/2006/main" noGrp="1"/>
          </p:cNvSpPr>
          <p:nvPr/>
        </p:nvSpPr>
        <p:spPr>
          <a:xfrm xmlns:a="http://schemas.openxmlformats.org/drawingml/2006/main">
            <a:off x="571500" y="1809750"/>
            <a:ext cx="1428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1">
                <a:solidFill>
                  <a:srgbClr val="B45E57"/>
                </a:solidFill>
                <a:latin typeface="Malgun Gothic"/>
                <a:ea typeface="Malgun Gothic"/>
                <a:cs typeface="Malgun Gothic"/>
              </a:defRPr>
            </a:defPPr>
          </a:lstStyle>
          <a:p xmlns:a="http://schemas.openxmlformats.org/drawingml/2006/main">
            <a:pPr algn="l">
              <a:defRPr sz="1650" b="1">
                <a:solidFill>
                  <a:srgbClr val="B45E57"/>
                </a:solidFill>
                <a:latin typeface="Malgun Gothic"/>
                <a:ea typeface="Malgun Gothic"/>
                <a:cs typeface="Malgun Gothic"/>
              </a:defRPr>
            </a:pPr>
            <a:r>
              <a:rPr sz="1650" b="1">
                <a:solidFill>
                  <a:srgbClr val="B45E57"/>
                </a:solidFill>
                <a:latin typeface="Malgun Gothic"/>
                <a:ea typeface="Malgun Gothic"/>
                <a:cs typeface="Malgun Gothic"/>
              </a:rPr>
              <a:t>불편</a:t>
            </a:r>
          </a:p>
        </p:txBody>
      </p:sp>
      <p:sp>
        <p:nvSpPr>
          <p:cNvPr id="20" name="">
            <a:extLst xmlns:a="http://schemas.openxmlformats.org/drawingml/2006/main">
              <a:ext uri="{FF2B5EF4-FFF2-40B4-BE49-F238E27FC236}">
                <a16:creationId xmlns:a16="http://schemas.microsoft.com/office/drawing/2014/main" id="{D96AE893-18A3-47FA-B224-A5D56D1B5397}"/>
              </a:ext>
            </a:extLst>
          </p:cNvPr>
          <p:cNvSpPr>
            <a:spLocks xmlns:a="http://schemas.openxmlformats.org/drawingml/2006/main" noGrp="1"/>
          </p:cNvSpPr>
          <p:nvPr/>
        </p:nvSpPr>
        <p:spPr>
          <a:xfrm xmlns:a="http://schemas.openxmlformats.org/drawingml/2006/main">
            <a:off x="571500" y="2133600"/>
            <a:ext cx="1428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1">
                <a:solidFill>
                  <a:srgbClr val="9C703B"/>
                </a:solidFill>
                <a:latin typeface="Malgun Gothic"/>
                <a:ea typeface="Malgun Gothic"/>
                <a:cs typeface="Malgun Gothic"/>
              </a:defRPr>
            </a:defPPr>
          </a:lstStyle>
          <a:p xmlns:a="http://schemas.openxmlformats.org/drawingml/2006/main">
            <a:pPr algn="l">
              <a:defRPr sz="1650" b="1">
                <a:solidFill>
                  <a:srgbClr val="9C703B"/>
                </a:solidFill>
                <a:latin typeface="Malgun Gothic"/>
                <a:ea typeface="Malgun Gothic"/>
                <a:cs typeface="Malgun Gothic"/>
              </a:defRPr>
            </a:pPr>
            <a:r>
              <a:rPr sz="1650" b="1">
                <a:solidFill>
                  <a:srgbClr val="9C703B"/>
                </a:solidFill>
                <a:latin typeface="Malgun Gothic"/>
                <a:ea typeface="Malgun Gothic"/>
                <a:cs typeface="Malgun Gothic"/>
              </a:rPr>
              <a:t>기존 방식</a:t>
            </a:r>
          </a:p>
        </p:txBody>
      </p:sp>
    </p:spTree>
    <p:extLst>
      <p:ext uri="{BB962C8B-B14F-4D97-AF65-F5344CB8AC3E}">
        <p14:creationId xmlns:p14="http://schemas.microsoft.com/office/powerpoint/2010/main" val="1930453312"/>
      </p:ext>
    </p:extLst>
  </p:cSld>
</p:sld>
</file>

<file path=ppt/slides/slide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1" name="Dutch-Pay  /  성찰 기록">
            <a:extLst xmlns:a="http://schemas.openxmlformats.org/drawingml/2006/main">
              <a:ext uri="{FF2B5EF4-FFF2-40B4-BE49-F238E27FC236}">
                <a16:creationId xmlns:a16="http://schemas.microsoft.com/office/drawing/2014/main" id="{1C2D1E0A-6B9F-4F81-A7A9-7EAD746B3CE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한 줄 요청이 만든 phase0">
            <a:extLst xmlns:a="http://schemas.openxmlformats.org/drawingml/2006/main">
              <a:ext uri="{FF2B5EF4-FFF2-40B4-BE49-F238E27FC236}">
                <a16:creationId xmlns:a16="http://schemas.microsoft.com/office/drawing/2014/main" id="{AA2B189D-75E6-4A5B-B8EE-794765F9284E}"/>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한 줄 요청이 만든 phase0</a:t>
            </a:r>
          </a:p>
        </p:txBody>
      </p:sp>
      <p:sp>
        <p:nvSpPr>
          <p:cNvPr id="3" name="03 / 07">
            <a:extLst xmlns:a="http://schemas.openxmlformats.org/drawingml/2006/main">
              <a:ext uri="{FF2B5EF4-FFF2-40B4-BE49-F238E27FC236}">
                <a16:creationId xmlns:a16="http://schemas.microsoft.com/office/drawing/2014/main" id="{0C0A0539-8BEB-408E-8CC8-3116E9FA688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03 / 07</a:t>
            </a:r>
          </a:p>
        </p:txBody>
      </p:sp>
      <p:pic>
        <p:nvPicPr>
          <p:cNvPr id="4" name="">
            <a:extLst xmlns:a="http://schemas.openxmlformats.org/drawingml/2006/main">
              <a:ext uri="{FF2B5EF4-FFF2-40B4-BE49-F238E27FC236}">
                <a16:creationId xmlns:a16="http://schemas.microsoft.com/office/drawing/2014/main" id="{E1B304B7-B705-4F79-8E22-3610622B384B}"/>
              </a:ext>
            </a:extLst>
          </p:cNvPr>
          <p:cNvPicPr>
            <a:picLocks xmlns:a="http://schemas.openxmlformats.org/drawingml/2006/main" noChangeAspect="1"/>
          </p:cNvPicPr>
          <p:nvPr/>
        </p:nvPicPr>
        <p:blipFill>
          <a:blip xmlns:r="http://schemas.openxmlformats.org/officeDocument/2006/relationships" xmlns:a="http://schemas.openxmlformats.org/drawingml/2006/main" r:embed="Rc399d42ef43f42b4"/>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모임 더치페이 정산 웹앱 만들어줘”">
            <a:extLst xmlns:a="http://schemas.openxmlformats.org/drawingml/2006/main">
              <a:ext uri="{FF2B5EF4-FFF2-40B4-BE49-F238E27FC236}">
                <a16:creationId xmlns:a16="http://schemas.microsoft.com/office/drawing/2014/main" id="{0089CF62-CEC4-4A41-A883-4614DEF8D30C}"/>
              </a:ext>
            </a:extLst>
          </p:cNvPr>
          <p:cNvSpPr>
            <a:spLocks xmlns:a="http://schemas.openxmlformats.org/drawingml/2006/main" noGrp="1"/>
          </p:cNvSpPr>
          <p:nvPr/>
        </p:nvSpPr>
        <p:spPr>
          <a:xfrm xmlns:a="http://schemas.openxmlformats.org/drawingml/2006/main">
            <a:off x="571500" y="15430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7860AD"/>
                </a:solidFill>
                <a:latin typeface="Malgun Gothic"/>
                <a:ea typeface="Malgun Gothic"/>
                <a:cs typeface="Malgun Gothic"/>
              </a:defRPr>
            </a:defPPr>
          </a:lstStyle>
          <a:p xmlns:a="http://schemas.openxmlformats.org/drawingml/2006/main">
            <a:pPr algn="l">
              <a:lnSpc>
                <a:spcPct val="116000"/>
              </a:lnSpc>
              <a:buNone/>
              <a:defRPr sz="2475" b="1">
                <a:solidFill>
                  <a:srgbClr val="7860AD"/>
                </a:solidFill>
                <a:latin typeface="Malgun Gothic"/>
                <a:ea typeface="Malgun Gothic"/>
                <a:cs typeface="Malgun Gothic"/>
              </a:defRPr>
            </a:pPr>
            <a:r>
              <a:rPr sz="2475" b="1">
                <a:solidFill>
                  <a:srgbClr val="7860AD"/>
                </a:solidFill>
                <a:latin typeface="Malgun Gothic"/>
                <a:ea typeface="Malgun Gothic"/>
                <a:cs typeface="Malgun Gothic"/>
              </a:rPr>
              <a:t>“모임 더치페이 정산 웹앱 만들어줘”</a:t>
            </a:r>
          </a:p>
        </p:txBody>
      </p:sp>
      <p:pic>
        <p:nvPicPr>
          <p:cNvPr id="6" name="">
            <a:extLst xmlns:a="http://schemas.openxmlformats.org/drawingml/2006/main">
              <a:ext uri="{FF2B5EF4-FFF2-40B4-BE49-F238E27FC236}">
                <a16:creationId xmlns:a16="http://schemas.microsoft.com/office/drawing/2014/main" id="{ABCBFD45-8906-4D2F-889C-4F6E6E7EA059}"/>
              </a:ext>
            </a:extLst>
          </p:cNvPr>
          <p:cNvPicPr>
            <a:picLocks xmlns:a="http://schemas.openxmlformats.org/drawingml/2006/main" noChangeAspect="1"/>
          </p:cNvPicPr>
          <p:nvPr/>
        </p:nvPicPr>
        <p:blipFill>
          <a:blip xmlns:r="http://schemas.openxmlformats.org/officeDocument/2006/relationships" xmlns:a="http://schemas.openxmlformats.org/drawingml/2006/main" r:embed="R6209fae5dd6b460f"/>
          <a:stretch xmlns:a="http://schemas.openxmlformats.org/drawingml/2006/main"/>
        </p:blipFill>
        <p:spPr>
          <a:xfrm xmlns:a="http://schemas.openxmlformats.org/drawingml/2006/main">
            <a:off x="1098582" y="2333625"/>
            <a:ext cx="2041461" cy="3429000"/>
          </a:xfrm>
          <a:prstGeom xmlns:a="http://schemas.openxmlformats.org/drawingml/2006/main" prst="rect">
            <a:avLst/>
          </a:prstGeom>
        </p:spPr>
      </p:pic>
      <p:sp>
        <p:nvSpPr>
          <p:cNvPr id="7" name="AI가 정한 것">
            <a:extLst xmlns:a="http://schemas.openxmlformats.org/drawingml/2006/main">
              <a:ext uri="{FF2B5EF4-FFF2-40B4-BE49-F238E27FC236}">
                <a16:creationId xmlns:a16="http://schemas.microsoft.com/office/drawing/2014/main" id="{AC982D49-953B-4AA1-8643-DBEF32D6E07B}"/>
              </a:ext>
            </a:extLst>
          </p:cNvPr>
          <p:cNvSpPr>
            <a:spLocks xmlns:a="http://schemas.openxmlformats.org/drawingml/2006/main" noGrp="1"/>
          </p:cNvSpPr>
          <p:nvPr/>
        </p:nvSpPr>
        <p:spPr>
          <a:xfrm xmlns:a="http://schemas.openxmlformats.org/drawingml/2006/main">
            <a:off x="4114800" y="235267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AI가 정한 것</a:t>
            </a:r>
          </a:p>
        </p:txBody>
      </p:sp>
      <p:sp>
        <p:nvSpPr>
          <p:cNvPr id="8" name="내 의도와의 차이">
            <a:extLst xmlns:a="http://schemas.openxmlformats.org/drawingml/2006/main">
              <a:ext uri="{FF2B5EF4-FFF2-40B4-BE49-F238E27FC236}">
                <a16:creationId xmlns:a16="http://schemas.microsoft.com/office/drawing/2014/main" id="{4F095FE6-0FB6-4F54-ACAB-65F0292A3103}"/>
              </a:ext>
            </a:extLst>
          </p:cNvPr>
          <p:cNvSpPr>
            <a:spLocks xmlns:a="http://schemas.openxmlformats.org/drawingml/2006/main" noGrp="1"/>
          </p:cNvSpPr>
          <p:nvPr/>
        </p:nvSpPr>
        <p:spPr>
          <a:xfrm xmlns:a="http://schemas.openxmlformats.org/drawingml/2006/main">
            <a:off x="7524750" y="23526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내 의도와의 차이</a:t>
            </a:r>
          </a:p>
        </p:txBody>
      </p:sp>
      <p:graphicFrame>
        <p:nvGraphicFramePr>
          <p:cNvPr id="9" name="">
            <a:extLst xmlns:a="http://schemas.openxmlformats.org/drawingml/2006/main">
              <a:ext uri="{FF2B5EF4-FFF2-40B4-BE49-F238E27FC236}">
                <a16:creationId xmlns:a16="http://schemas.microsoft.com/office/drawing/2014/main" id="{6D2AE380-0B38-4D29-83A9-3F3622553366}"/>
              </a:ext>
            </a:extLst>
          </p:cNvPr>
          <p:cNvGraphicFramePr/>
          <p:nvPr/>
        </p:nvGraphicFramePr>
        <p:xfrm>
          <a:off xmlns:a="http://schemas.openxmlformats.org/drawingml/2006/main" x="4114800" y="2867025"/>
          <a:ext xmlns:a="http://schemas.openxmlformats.org/drawingml/2006/main" cx="7400925" cy="2505075"/>
        </p:xfrm>
        <a:graphic xmlns:a="http://schemas.openxmlformats.org/drawingml/2006/main">
          <a:graphicData uri="http://schemas.openxmlformats.org/drawingml/2006/table">
            <a:tbl>
              <a:tblPr firstRow="0" bandRow="0"/>
              <a:tblGrid>
                <a:gridCol w="3381375"/>
                <a:gridCol w="4019550"/>
              </a:tblGrid>
              <a:tr h="835025">
                <a:tc>
                  <a:txBody>
                    <a:bodyPr lIns="114300" tIns="114300" rIns="114300" bIns="114300"/>
                    <a:lstStyle/>
                    <a:p>
                      <a:pPr algn="l">
                        <a:buNone/>
                      </a:pPr>
                      <a:r>
                        <a:rPr sz="1725" b="0">
                          <a:solidFill>
                            <a:srgbClr val="44364F"/>
                          </a:solidFill>
                          <a:latin typeface="Malgun Gothic"/>
                          <a:ea typeface="Malgun Gothic"/>
                          <a:cs typeface="Malgun Gothic"/>
                        </a:rPr>
                        <a:t>단순 1/N + 앞사람부터 잔여 배분</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앱 UI·UX를 스스로 결정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정산 결과 텍스트 복사</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10" name="첫 결과의 기본 흐름은 쓸 수 있었다. 이후 명세를 소급 적용한 test07에서는">
            <a:extLst xmlns:a="http://schemas.openxmlformats.org/drawingml/2006/main">
              <a:ext uri="{FF2B5EF4-FFF2-40B4-BE49-F238E27FC236}">
                <a16:creationId xmlns:a16="http://schemas.microsoft.com/office/drawing/2014/main" id="{3FA94996-CBE0-4C5D-A285-54A98CAD48FF}"/>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첫 결과의 기본 흐름은 쓸 수 있었다. 이후 명세를 소급 적용한 test07에서는 84/153 PASS였다.</a:t>
            </a:r>
          </a:p>
        </p:txBody>
      </p:sp>
      <p:sp>
        <p:nvSpPr>
          <p:cNvPr id="12" name="">
            <a:extLst xmlns:a="http://schemas.openxmlformats.org/drawingml/2006/main">
              <a:ext uri="{FF2B5EF4-FFF2-40B4-BE49-F238E27FC236}">
                <a16:creationId xmlns:a16="http://schemas.microsoft.com/office/drawing/2014/main" id="{8DDACB92-917D-4B0E-B2AF-59D6C904C1E1}"/>
              </a:ext>
            </a:extLst>
          </p:cNvPr>
          <p:cNvSpPr>
            <a:spLocks xmlns:a="http://schemas.openxmlformats.org/drawingml/2006/main" noGrp="1"/>
          </p:cNvSpPr>
          <p:nvPr/>
        </p:nvSpPr>
        <p:spPr>
          <a:xfrm xmlns:a="http://schemas.openxmlformats.org/drawingml/2006/main">
            <a:off x="7524750" y="29146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B53B58"/>
                </a:solidFill>
                <a:latin typeface="Malgun Gothic"/>
                <a:ea typeface="Malgun Gothic"/>
                <a:cs typeface="Malgun Gothic"/>
              </a:defRPr>
            </a:defPPr>
          </a:lstStyle>
          <a:p xmlns:a="http://schemas.openxmlformats.org/drawingml/2006/main">
            <a:pPr algn="l">
              <a:defRPr sz="1950" b="1">
                <a:solidFill>
                  <a:srgbClr val="B53B58"/>
                </a:solidFill>
                <a:latin typeface="Malgun Gothic"/>
                <a:ea typeface="Malgun Gothic"/>
                <a:cs typeface="Malgun Gothic"/>
              </a:defRPr>
            </a:pPr>
            <a:r>
              <a:rPr sz="1950" b="1">
                <a:solidFill>
                  <a:srgbClr val="B53B58"/>
                </a:solidFill>
                <a:latin typeface="Malgun Gothic"/>
                <a:ea typeface="Malgun Gothic"/>
                <a:cs typeface="Malgun Gothic"/>
              </a:rPr>
              <a:t>문제 있음</a:t>
            </a:r>
          </a:p>
        </p:txBody>
      </p:sp>
      <p:sp>
        <p:nvSpPr>
          <p:cNvPr id="13" name="">
            <a:extLst xmlns:a="http://schemas.openxmlformats.org/drawingml/2006/main">
              <a:ext uri="{FF2B5EF4-FFF2-40B4-BE49-F238E27FC236}">
                <a16:creationId xmlns:a16="http://schemas.microsoft.com/office/drawing/2014/main" id="{7971D8F9-D65B-4255-A8A6-A2478AF401F1}"/>
              </a:ext>
            </a:extLst>
          </p:cNvPr>
          <p:cNvSpPr>
            <a:spLocks xmlns:a="http://schemas.openxmlformats.org/drawingml/2006/main" noGrp="1"/>
          </p:cNvSpPr>
          <p:nvPr/>
        </p:nvSpPr>
        <p:spPr>
          <a:xfrm xmlns:a="http://schemas.openxmlformats.org/drawingml/2006/main">
            <a:off x="7524750" y="3248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감면·잔여 처리 선택이 없었다</a:t>
            </a:r>
          </a:p>
        </p:txBody>
      </p:sp>
      <p:sp>
        <p:nvSpPr>
          <p:cNvPr id="14" name="">
            <a:extLst xmlns:a="http://schemas.openxmlformats.org/drawingml/2006/main">
              <a:ext uri="{FF2B5EF4-FFF2-40B4-BE49-F238E27FC236}">
                <a16:creationId xmlns:a16="http://schemas.microsoft.com/office/drawing/2014/main" id="{B2CB0832-B646-433C-AF0B-F7666F7D203D}"/>
              </a:ext>
            </a:extLst>
          </p:cNvPr>
          <p:cNvSpPr>
            <a:spLocks xmlns:a="http://schemas.openxmlformats.org/drawingml/2006/main" noGrp="1"/>
          </p:cNvSpPr>
          <p:nvPr/>
        </p:nvSpPr>
        <p:spPr>
          <a:xfrm xmlns:a="http://schemas.openxmlformats.org/drawingml/2006/main">
            <a:off x="7524750" y="37528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238060"/>
                </a:solidFill>
                <a:latin typeface="Malgun Gothic"/>
                <a:ea typeface="Malgun Gothic"/>
                <a:cs typeface="Malgun Gothic"/>
              </a:defRPr>
            </a:defPPr>
          </a:lstStyle>
          <a:p xmlns:a="http://schemas.openxmlformats.org/drawingml/2006/main">
            <a:pPr algn="l">
              <a:defRPr sz="1950" b="1">
                <a:solidFill>
                  <a:srgbClr val="238060"/>
                </a:solidFill>
                <a:latin typeface="Malgun Gothic"/>
                <a:ea typeface="Malgun Gothic"/>
                <a:cs typeface="Malgun Gothic"/>
              </a:defRPr>
            </a:pPr>
            <a:r>
              <a:rPr sz="1950" b="1">
                <a:solidFill>
                  <a:srgbClr val="238060"/>
                </a:solidFill>
                <a:latin typeface="Malgun Gothic"/>
                <a:ea typeface="Malgun Gothic"/>
                <a:cs typeface="Malgun Gothic"/>
              </a:rPr>
              <a:t>문제 없음</a:t>
            </a:r>
          </a:p>
        </p:txBody>
      </p:sp>
      <p:sp>
        <p:nvSpPr>
          <p:cNvPr id="15" name="">
            <a:extLst xmlns:a="http://schemas.openxmlformats.org/drawingml/2006/main">
              <a:ext uri="{FF2B5EF4-FFF2-40B4-BE49-F238E27FC236}">
                <a16:creationId xmlns:a16="http://schemas.microsoft.com/office/drawing/2014/main" id="{9A699C87-27C8-4202-8AC9-796F268D6A9B}"/>
              </a:ext>
            </a:extLst>
          </p:cNvPr>
          <p:cNvSpPr>
            <a:spLocks xmlns:a="http://schemas.openxmlformats.org/drawingml/2006/main" noGrp="1"/>
          </p:cNvSpPr>
          <p:nvPr/>
        </p:nvSpPr>
        <p:spPr>
          <a:xfrm xmlns:a="http://schemas.openxmlformats.org/drawingml/2006/main">
            <a:off x="7524750" y="40862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UI에 대한 구체적 아이디어가 없었다</a:t>
            </a:r>
          </a:p>
        </p:txBody>
      </p:sp>
      <p:sp>
        <p:nvSpPr>
          <p:cNvPr id="16" name="">
            <a:extLst xmlns:a="http://schemas.openxmlformats.org/drawingml/2006/main">
              <a:ext uri="{FF2B5EF4-FFF2-40B4-BE49-F238E27FC236}">
                <a16:creationId xmlns:a16="http://schemas.microsoft.com/office/drawing/2014/main" id="{2BC36645-3DB8-4BB0-B6CC-E6B4C3522208}"/>
              </a:ext>
            </a:extLst>
          </p:cNvPr>
          <p:cNvSpPr>
            <a:spLocks xmlns:a="http://schemas.openxmlformats.org/drawingml/2006/main" noGrp="1"/>
          </p:cNvSpPr>
          <p:nvPr/>
        </p:nvSpPr>
        <p:spPr>
          <a:xfrm xmlns:a="http://schemas.openxmlformats.org/drawingml/2006/main">
            <a:off x="7524750" y="4591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644BB0"/>
                </a:solidFill>
                <a:latin typeface="Malgun Gothic"/>
                <a:ea typeface="Malgun Gothic"/>
                <a:cs typeface="Malgun Gothic"/>
              </a:defRPr>
            </a:defPPr>
          </a:lstStyle>
          <a:p xmlns:a="http://schemas.openxmlformats.org/drawingml/2006/main">
            <a:pPr algn="l">
              <a:defRPr sz="1950" b="1">
                <a:solidFill>
                  <a:srgbClr val="644BB0"/>
                </a:solidFill>
                <a:latin typeface="Malgun Gothic"/>
                <a:ea typeface="Malgun Gothic"/>
                <a:cs typeface="Malgun Gothic"/>
              </a:defRPr>
            </a:pPr>
            <a:r>
              <a:rPr sz="1950" b="1">
                <a:solidFill>
                  <a:srgbClr val="644BB0"/>
                </a:solidFill>
                <a:latin typeface="Malgun Gothic"/>
                <a:ea typeface="Malgun Gothic"/>
                <a:cs typeface="Malgun Gothic"/>
              </a:rPr>
              <a:t>받아들임</a:t>
            </a:r>
          </a:p>
        </p:txBody>
      </p:sp>
      <p:sp>
        <p:nvSpPr>
          <p:cNvPr id="17" name="">
            <a:extLst xmlns:a="http://schemas.openxmlformats.org/drawingml/2006/main">
              <a:ext uri="{FF2B5EF4-FFF2-40B4-BE49-F238E27FC236}">
                <a16:creationId xmlns:a16="http://schemas.microsoft.com/office/drawing/2014/main" id="{F96F1185-9EAE-4F69-8AFC-8C466E7B9ADF}"/>
              </a:ext>
            </a:extLst>
          </p:cNvPr>
          <p:cNvSpPr>
            <a:spLocks xmlns:a="http://schemas.openxmlformats.org/drawingml/2006/main" noGrp="1"/>
          </p:cNvSpPr>
          <p:nvPr/>
        </p:nvSpPr>
        <p:spPr>
          <a:xfrm xmlns:a="http://schemas.openxmlformats.org/drawingml/2006/main">
            <a:off x="7524750" y="49244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단톡방에 옮기는 흐름에 맞았다</a:t>
            </a:r>
          </a:p>
        </p:txBody>
      </p:sp>
    </p:spTree>
    <p:extLst>
      <p:ext uri="{BB962C8B-B14F-4D97-AF65-F5344CB8AC3E}">
        <p14:creationId xmlns:p14="http://schemas.microsoft.com/office/powerpoint/2010/main" val="561471374"/>
      </p:ext>
    </p:extLst>
  </p:cSld>
</p:sld>
</file>

<file path=ppt/slides/slide4.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EF3FC526-35FD-4BA7-BD32-7370AD0A2D6A}"/>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기본 정산과 공유 흐름을 받아들일까?">
            <a:extLst xmlns:a="http://schemas.openxmlformats.org/drawingml/2006/main">
              <a:ext uri="{FF2B5EF4-FFF2-40B4-BE49-F238E27FC236}">
                <a16:creationId xmlns:a16="http://schemas.microsoft.com/office/drawing/2014/main" id="{0BED063E-7771-42DC-B5CA-735645BD78B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AI가 정한 UI·UX를 그대로 유지</a:t>
            </a:r>
          </a:p>
        </p:txBody>
      </p:sp>
      <p:sp>
        <p:nvSpPr>
          <p:cNvPr id="3" name="개입하지 않음">
            <a:extLst xmlns:a="http://schemas.openxmlformats.org/drawingml/2006/main">
              <a:ext uri="{FF2B5EF4-FFF2-40B4-BE49-F238E27FC236}">
                <a16:creationId xmlns:a16="http://schemas.microsoft.com/office/drawing/2014/main" id="{B63859BB-5F91-4854-9611-E47F80D4EBF6}"/>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46745A"/>
                </a:solidFill>
                <a:latin typeface="Malgun Gothic"/>
                <a:ea typeface="Malgun Gothic"/>
                <a:cs typeface="Malgun Gothic"/>
              </a:defRPr>
            </a:defPPr>
          </a:lstStyle>
          <a:p xmlns:a="http://schemas.openxmlformats.org/drawingml/2006/main">
            <a:pPr algn="r">
              <a:lnSpc>
                <a:spcPct val="116000"/>
              </a:lnSpc>
              <a:buNone/>
              <a:defRPr sz="3938" b="1">
                <a:solidFill>
                  <a:srgbClr val="46745A"/>
                </a:solidFill>
                <a:latin typeface="Malgun Gothic"/>
                <a:ea typeface="Malgun Gothic"/>
                <a:cs typeface="Malgun Gothic"/>
              </a:defRPr>
            </a:pPr>
            <a:r>
              <a:rPr sz="3938" b="1">
                <a:solidFill>
                  <a:srgbClr val="46745A"/>
                </a:solidFill>
                <a:latin typeface="Malgun Gothic"/>
                <a:ea typeface="Malgun Gothic"/>
                <a:cs typeface="Malgun Gothic"/>
              </a:rPr>
              <a:t>개입하지 않음</a:t>
            </a:r>
          </a:p>
        </p:txBody>
      </p:sp>
      <p:sp>
        <p:nvSpPr>
          <p:cNvPr id="4" name="04 / 07">
            <a:extLst xmlns:a="http://schemas.openxmlformats.org/drawingml/2006/main">
              <a:ext uri="{FF2B5EF4-FFF2-40B4-BE49-F238E27FC236}">
                <a16:creationId xmlns:a16="http://schemas.microsoft.com/office/drawing/2014/main" id="{DE346F80-7528-47D0-A282-D77C5547B2EE}"/>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04 / 07</a:t>
            </a:r>
          </a:p>
        </p:txBody>
      </p:sp>
      <p:pic>
        <p:nvPicPr>
          <p:cNvPr id="5" name="">
            <a:extLst xmlns:a="http://schemas.openxmlformats.org/drawingml/2006/main">
              <a:ext uri="{FF2B5EF4-FFF2-40B4-BE49-F238E27FC236}">
                <a16:creationId xmlns:a16="http://schemas.microsoft.com/office/drawing/2014/main" id="{2E9CA203-8868-453E-93D5-3EEEBF5CB31A}"/>
              </a:ext>
            </a:extLst>
          </p:cNvPr>
          <p:cNvPicPr>
            <a:picLocks xmlns:a="http://schemas.openxmlformats.org/drawingml/2006/main" noChangeAspect="1"/>
          </p:cNvPicPr>
          <p:nvPr/>
        </p:nvPicPr>
        <p:blipFill>
          <a:blip xmlns:r="http://schemas.openxmlformats.org/officeDocument/2006/relationships" xmlns:a="http://schemas.openxmlformats.org/drawingml/2006/main" r:embed="Rd332fbf8acbc41c2"/>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정산 로직에 대해서 설명해줘”">
            <a:extLst xmlns:a="http://schemas.openxmlformats.org/drawingml/2006/main">
              <a:ext uri="{FF2B5EF4-FFF2-40B4-BE49-F238E27FC236}">
                <a16:creationId xmlns:a16="http://schemas.microsoft.com/office/drawing/2014/main" id="{534AFD5B-FB75-4C72-BC1B-2C5B5A94637C}"/>
              </a:ext>
            </a:extLst>
          </p:cNvPr>
          <p:cNvSpPr>
            <a:spLocks xmlns:a="http://schemas.openxmlformats.org/drawingml/2006/main" noGrp="1"/>
          </p:cNvSpPr>
          <p:nvPr/>
        </p:nvSpPr>
        <p:spPr>
          <a:xfrm xmlns:a="http://schemas.openxmlformats.org/drawingml/2006/main">
            <a:off x="571500" y="14382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Phase 0  “모임 더치페이 정산 웹앱만들어줘”</a:t>
            </a:r>
          </a:p>
        </p:txBody>
      </p:sp>
      <p:sp>
        <p:nvSpPr>
          <p:cNvPr id="7" name="AI 출력">
            <a:extLst xmlns:a="http://schemas.openxmlformats.org/drawingml/2006/main">
              <a:ext uri="{FF2B5EF4-FFF2-40B4-BE49-F238E27FC236}">
                <a16:creationId xmlns:a16="http://schemas.microsoft.com/office/drawing/2014/main" id="{FF859DF4-39FB-421A-96D0-A21BF3DA081B}"/>
              </a:ext>
            </a:extLst>
          </p:cNvPr>
          <p:cNvSpPr>
            <a:spLocks xmlns:a="http://schemas.openxmlformats.org/drawingml/2006/main" noGrp="1"/>
          </p:cNvSpPr>
          <p:nvPr/>
        </p:nvSpPr>
        <p:spPr>
          <a:xfrm xmlns:a="http://schemas.openxmlformats.org/drawingml/2006/main">
            <a:off x="571500" y="211455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출력과 유지한 화면</a:t>
            </a:r>
          </a:p>
        </p:txBody>
      </p:sp>
      <p:pic>
        <p:nvPicPr>
          <p:cNvPr id="8" name="">
            <a:extLst xmlns:a="http://schemas.openxmlformats.org/drawingml/2006/main">
              <a:ext uri="{FF2B5EF4-FFF2-40B4-BE49-F238E27FC236}">
                <a16:creationId xmlns:a16="http://schemas.microsoft.com/office/drawing/2014/main" id="{4348C90C-4D3F-4CC2-858D-CF75CA4EBB6F}"/>
              </a:ext>
            </a:extLst>
          </p:cNvPr>
          <p:cNvPicPr>
            <a:picLocks xmlns:a="http://schemas.openxmlformats.org/drawingml/2006/main" noChangeAspect="1"/>
          </p:cNvPicPr>
          <p:nvPr/>
        </p:nvPicPr>
        <p:blipFill>
          <a:blip xmlns:r="http://schemas.openxmlformats.org/officeDocument/2006/relationships" xmlns:a="http://schemas.openxmlformats.org/drawingml/2006/main" r:embed="R65088d8fc6464ca5"/>
          <a:srcRect xmlns:a="http://schemas.openxmlformats.org/drawingml/2006/main" l="0" t="0" r="0" b="58419"/>
          <a:stretch xmlns:a="http://schemas.openxmlformats.org/drawingml/2006/main"/>
        </p:blipFill>
        <p:spPr>
          <a:xfrm xmlns:a="http://schemas.openxmlformats.org/drawingml/2006/main">
            <a:off x="571500" y="2543175"/>
            <a:ext cx="2000250" cy="3762375"/>
          </a:xfrm>
          <a:prstGeom xmlns:a="http://schemas.openxmlformats.org/drawingml/2006/main" prst="rect">
            <a:avLst/>
          </a:prstGeom>
        </p:spPr>
      </p:pic>
      <p:sp>
        <p:nvSpPr>
          <p:cNvPr id="9" name="판단과 근거">
            <a:extLst xmlns:a="http://schemas.openxmlformats.org/drawingml/2006/main">
              <a:ext uri="{FF2B5EF4-FFF2-40B4-BE49-F238E27FC236}">
                <a16:creationId xmlns:a16="http://schemas.microsoft.com/office/drawing/2014/main" id="{D5B8EF14-25D6-45AC-BC40-C820031427C3}"/>
              </a:ext>
            </a:extLst>
          </p:cNvPr>
          <p:cNvSpPr>
            <a:spLocks xmlns:a="http://schemas.openxmlformats.org/drawingml/2006/main" noGrp="1"/>
          </p:cNvSpPr>
          <p:nvPr/>
        </p:nvSpPr>
        <p:spPr>
          <a:xfrm xmlns:a="http://schemas.openxmlformats.org/drawingml/2006/main">
            <a:off x="5095875" y="211455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0" name="60,000원을 두 사람이 쓰면 30,000원씩.&#10;차액과 송금 결과를 직접 확인할">
            <a:extLst xmlns:a="http://schemas.openxmlformats.org/drawingml/2006/main">
              <a:ext uri="{FF2B5EF4-FFF2-40B4-BE49-F238E27FC236}">
                <a16:creationId xmlns:a16="http://schemas.microsoft.com/office/drawing/2014/main" id="{7DFE8C89-1A8E-4C3E-9F2F-5CCAF8E10B04}"/>
              </a:ext>
            </a:extLst>
          </p:cNvPr>
          <p:cNvSpPr>
            <a:spLocks xmlns:a="http://schemas.openxmlformats.org/drawingml/2006/main" noGrp="1"/>
          </p:cNvSpPr>
          <p:nvPr/>
        </p:nvSpPr>
        <p:spPr>
          <a:xfrm xmlns:a="http://schemas.openxmlformats.org/drawingml/2006/main">
            <a:off x="5095875" y="2533650"/>
            <a:ext cx="6381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직접 앱을 열어 기능을 확인했다.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사용하기 편리했고, 명세서에서 요구한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기능이 사용자 흐름에 맞게 작동했다.</a:t>
            </a:r>
          </a:p>
        </p:txBody>
      </p:sp>
      <p:sp>
        <p:nvSpPr>
          <p:cNvPr id="11" name="후속 검증  test07">
            <a:extLst xmlns:a="http://schemas.openxmlformats.org/drawingml/2006/main">
              <a:ext uri="{FF2B5EF4-FFF2-40B4-BE49-F238E27FC236}">
                <a16:creationId xmlns:a16="http://schemas.microsoft.com/office/drawing/2014/main" id="{F711A9AF-F0C0-460B-98DF-14D2E11DAFB6}"/>
              </a:ext>
            </a:extLst>
          </p:cNvPr>
          <p:cNvSpPr>
            <a:spLocks xmlns:a="http://schemas.openxmlformats.org/drawingml/2006/main" noGrp="1"/>
          </p:cNvSpPr>
          <p:nvPr/>
        </p:nvSpPr>
        <p:spPr>
          <a:xfrm xmlns:a="http://schemas.openxmlformats.org/drawingml/2006/main">
            <a:off x="5095875" y="3705225"/>
            <a:ext cx="619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유지 방법과 결과</a:t>
            </a:r>
          </a:p>
        </p:txBody>
      </p:sp>
      <p:sp>
        <p:nvSpPr>
          <p:cNvPr id="12" name="불변식 24/24    송금·상계 12/12">
            <a:extLst xmlns:a="http://schemas.openxmlformats.org/drawingml/2006/main">
              <a:ext uri="{FF2B5EF4-FFF2-40B4-BE49-F238E27FC236}">
                <a16:creationId xmlns:a16="http://schemas.microsoft.com/office/drawing/2014/main" id="{ACD65F31-ADF0-49AF-B051-768F1D4950BD}"/>
              </a:ext>
            </a:extLst>
          </p:cNvPr>
          <p:cNvSpPr>
            <a:spLocks xmlns:a="http://schemas.openxmlformats.org/drawingml/2006/main" noGrp="1"/>
          </p:cNvSpPr>
          <p:nvPr/>
        </p:nvSpPr>
        <p:spPr>
          <a:xfrm xmlns:a="http://schemas.openxmlformats.org/drawingml/2006/main">
            <a:off x="5095875" y="4095750"/>
            <a:ext cx="638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4364F"/>
                </a:solidFill>
                <a:latin typeface="Malgun Gothic"/>
                <a:ea typeface="Malgun Gothic"/>
                <a:cs typeface="Malgun Gothic"/>
              </a:defRPr>
            </a:defPPr>
          </a:lstStyle>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Phase 0 UI·UX 결과를 docs에 추가하고</a:t>
            </a:r>
          </a:p>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PRD에서 참조하도록 해 phase2/doc을 실행했다.</a:t>
            </a:r>
          </a:p>
        </p:txBody>
      </p:sp>
      <p:sp>
        <p:nvSpPr>
          <p:cNvPr id="13" name="단, 잔여액 규칙의 정답 비교는 4/8만 통과">
            <a:extLst xmlns:a="http://schemas.openxmlformats.org/drawingml/2006/main">
              <a:ext uri="{FF2B5EF4-FFF2-40B4-BE49-F238E27FC236}">
                <a16:creationId xmlns:a16="http://schemas.microsoft.com/office/drawing/2014/main" id="{A50261A7-536E-4104-80E2-F1A1CFA26586}"/>
              </a:ext>
            </a:extLst>
          </p:cNvPr>
          <p:cNvSpPr>
            <a:spLocks xmlns:a="http://schemas.openxmlformats.org/drawingml/2006/main" noGrp="1"/>
          </p:cNvSpPr>
          <p:nvPr/>
        </p:nvSpPr>
        <p:spPr>
          <a:xfrm xmlns:a="http://schemas.openxmlformats.org/drawingml/2006/main">
            <a:off x="5095875" y="4905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860AD"/>
                </a:solidFill>
                <a:latin typeface="Malgun Gothic"/>
                <a:ea typeface="Malgun Gothic"/>
                <a:cs typeface="Malgun Gothic"/>
              </a:defRPr>
            </a:defPPr>
          </a:lstStyle>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실행 프롬프트</a:t>
            </a:r>
          </a:p>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“phase2-doc workflow에 따라 실행.</a:t>
            </a:r>
          </a:p>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phase2/doc 브랜치가 없으면 만들어 거기서 시작”</a:t>
            </a:r>
          </a:p>
        </p:txBody>
      </p:sp>
      <p:sp>
        <p:nvSpPr>
          <p:cNvPr id="14" name="수용 범위: 기본 합계·차액·송금 흐름. 나중에 추가한 감면·잔여 선택까지 믿었다">
            <a:extLst xmlns:a="http://schemas.openxmlformats.org/drawingml/2006/main">
              <a:ext uri="{FF2B5EF4-FFF2-40B4-BE49-F238E27FC236}">
                <a16:creationId xmlns:a16="http://schemas.microsoft.com/office/drawing/2014/main" id="{59D53A62-7BC3-4D39-BF79-5DB2D9B6FCE6}"/>
              </a:ext>
            </a:extLst>
          </p:cNvPr>
          <p:cNvSpPr>
            <a:spLocks xmlns:a="http://schemas.openxmlformats.org/drawingml/2006/main" noGrp="1"/>
          </p:cNvSpPr>
          <p:nvPr/>
        </p:nvSpPr>
        <p:spPr>
          <a:xfrm xmlns:a="http://schemas.openxmlformats.org/drawingml/2006/main">
            <a:off x="2809875" y="5419725"/>
            <a:ext cx="2076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화이트 모드 실제 웹앱 캡처</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phase2/doc에서 UI를 계승</a:t>
            </a:r>
          </a:p>
        </p:txBody>
      </p:sp>
      <p:pic>
        <p:nvPicPr>
          <p:cNvPr id="16" name="">
            <a:extLst xmlns:a="http://schemas.openxmlformats.org/drawingml/2006/main">
              <a:ext uri="{FF2B5EF4-FFF2-40B4-BE49-F238E27FC236}">
                <a16:creationId xmlns:a16="http://schemas.microsoft.com/office/drawing/2014/main" id="{103F7CF9-EB2B-4798-8D29-BDDFD6A0A12D}"/>
              </a:ext>
            </a:extLst>
          </p:cNvPr>
          <p:cNvPicPr>
            <a:picLocks xmlns:a="http://schemas.openxmlformats.org/drawingml/2006/main" noChangeAspect="1"/>
          </p:cNvPicPr>
          <p:nvPr/>
        </p:nvPicPr>
        <p:blipFill>
          <a:blip xmlns:r="http://schemas.openxmlformats.org/officeDocument/2006/relationships" xmlns:a="http://schemas.openxmlformats.org/drawingml/2006/main" r:embed="R1117761eb73244fc"/>
          <a:srcRect xmlns:a="http://schemas.openxmlformats.org/drawingml/2006/main" l="0" t="65708" r="0" b="7084"/>
          <a:stretch xmlns:a="http://schemas.openxmlformats.org/drawingml/2006/main"/>
        </p:blipFill>
        <p:spPr>
          <a:xfrm xmlns:a="http://schemas.openxmlformats.org/drawingml/2006/main">
            <a:off x="2809875" y="2543175"/>
            <a:ext cx="1905000" cy="23526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C9223056-AEBB-4C41-8000-FF1E1197D429}"/>
              </a:ext>
            </a:extLst>
          </p:cNvPr>
          <p:cNvSpPr>
            <a:spLocks xmlns:a="http://schemas.openxmlformats.org/drawingml/2006/main" noGrp="1"/>
          </p:cNvSpPr>
          <p:nvPr/>
        </p:nvSpPr>
        <p:spPr>
          <a:xfrm xmlns:a="http://schemas.openxmlformats.org/drawingml/2006/main">
            <a:off x="5095875" y="6029325"/>
            <a:ext cx="547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86D82"/>
                </a:solidFill>
                <a:latin typeface="Malgun Gothic"/>
                <a:ea typeface="Malgun Gothic"/>
                <a:cs typeface="Malgun Gothic"/>
              </a:defRPr>
            </a:defPPr>
          </a:lstStyle>
          <a:p xmlns:a="http://schemas.openxmlformats.org/drawingml/2006/main">
            <a:pPr>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구현 단계는 “오직 명세서만을 읽고” 진행하도록 workflow에 명시했다.</a:t>
            </a:r>
          </a:p>
        </p:txBody>
      </p:sp>
    </p:spTree>
    <p:extLst>
      <p:ext uri="{BB962C8B-B14F-4D97-AF65-F5344CB8AC3E}">
        <p14:creationId xmlns:p14="http://schemas.microsoft.com/office/powerpoint/2010/main" val="1482097171"/>
      </p:ext>
    </p:extLst>
  </p:cSld>
</p:sld>
</file>

<file path=ppt/slides/slide5.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F1A7772E-A7C8-4E4A-9DC3-E858F340E3AB}"/>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108건 PASS의 기준을 바꿔야 할까?">
            <a:extLst xmlns:a="http://schemas.openxmlformats.org/drawingml/2006/main">
              <a:ext uri="{FF2B5EF4-FFF2-40B4-BE49-F238E27FC236}">
                <a16:creationId xmlns:a16="http://schemas.microsoft.com/office/drawing/2014/main" id="{C86AA5CB-F42B-43BE-A2A7-AB09A179C357}"/>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임의로 가정한 예외까지 PASS로 기록</a:t>
            </a:r>
          </a:p>
        </p:txBody>
      </p:sp>
      <p:sp>
        <p:nvSpPr>
          <p:cNvPr id="3" name="개입함">
            <a:extLst xmlns:a="http://schemas.openxmlformats.org/drawingml/2006/main">
              <a:ext uri="{FF2B5EF4-FFF2-40B4-BE49-F238E27FC236}">
                <a16:creationId xmlns:a16="http://schemas.microsoft.com/office/drawing/2014/main" id="{6407EBC5-C4FC-4E82-9A6C-2C813CE9E068}"/>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AE566D"/>
                </a:solidFill>
                <a:latin typeface="Malgun Gothic"/>
                <a:ea typeface="Malgun Gothic"/>
                <a:cs typeface="Malgun Gothic"/>
              </a:defRPr>
            </a:defPPr>
          </a:lstStyle>
          <a:p xmlns:a="http://schemas.openxmlformats.org/drawingml/2006/main">
            <a:pPr algn="r">
              <a:lnSpc>
                <a:spcPct val="116000"/>
              </a:lnSpc>
              <a:buNone/>
              <a:defRPr sz="3938" b="1">
                <a:solidFill>
                  <a:srgbClr val="AE566D"/>
                </a:solidFill>
                <a:latin typeface="Malgun Gothic"/>
                <a:ea typeface="Malgun Gothic"/>
                <a:cs typeface="Malgun Gothic"/>
              </a:defRPr>
            </a:pPr>
            <a:r>
              <a:rPr sz="3938" b="1">
                <a:solidFill>
                  <a:srgbClr val="AE566D"/>
                </a:solidFill>
                <a:latin typeface="Malgun Gothic"/>
                <a:ea typeface="Malgun Gothic"/>
                <a:cs typeface="Malgun Gothic"/>
              </a:rPr>
              <a:t>개입함</a:t>
            </a:r>
          </a:p>
        </p:txBody>
      </p:sp>
      <p:sp>
        <p:nvSpPr>
          <p:cNvPr id="4" name="05 / 07">
            <a:extLst xmlns:a="http://schemas.openxmlformats.org/drawingml/2006/main">
              <a:ext uri="{FF2B5EF4-FFF2-40B4-BE49-F238E27FC236}">
                <a16:creationId xmlns:a16="http://schemas.microsoft.com/office/drawing/2014/main" id="{239D1124-7826-4C7F-AB8E-AD66B03373F6}"/>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05 / 07</a:t>
            </a:r>
          </a:p>
        </p:txBody>
      </p:sp>
      <p:pic>
        <p:nvPicPr>
          <p:cNvPr id="5" name="">
            <a:extLst xmlns:a="http://schemas.openxmlformats.org/drawingml/2006/main">
              <a:ext uri="{FF2B5EF4-FFF2-40B4-BE49-F238E27FC236}">
                <a16:creationId xmlns:a16="http://schemas.microsoft.com/office/drawing/2014/main" id="{C987A001-E045-455E-8DE7-4DC547EBCEEE}"/>
              </a:ext>
            </a:extLst>
          </p:cNvPr>
          <p:cNvPicPr>
            <a:picLocks xmlns:a="http://schemas.openxmlformats.org/drawingml/2006/main" noChangeAspect="1"/>
          </p:cNvPicPr>
          <p:nvPr/>
        </p:nvPicPr>
        <p:blipFill>
          <a:blip xmlns:r="http://schemas.openxmlformats.org/officeDocument/2006/relationships" xmlns:a="http://schemas.openxmlformats.org/drawingml/2006/main" r:embed="R8a224401ca294328"/>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가정 처리를 실패로 기록, 스크립트 재작성, 예외처리 수정,&#10;명세서·">
            <a:extLst xmlns:a="http://schemas.openxmlformats.org/drawingml/2006/main">
              <a:ext uri="{FF2B5EF4-FFF2-40B4-BE49-F238E27FC236}">
                <a16:creationId xmlns:a16="http://schemas.microsoft.com/office/drawing/2014/main" id="{A5AA7723-6C06-4622-B640-5277F9371FB9}"/>
              </a:ext>
            </a:extLst>
          </p:cNvPr>
          <p:cNvSpPr>
            <a:spLocks xmlns:a="http://schemas.openxmlformats.org/drawingml/2006/main" noGrp="1"/>
          </p:cNvSpPr>
          <p:nvPr/>
        </p:nvSpPr>
        <p:spPr>
          <a:xfrm xmlns:a="http://schemas.openxmlformats.org/drawingml/2006/main">
            <a:off x="571500" y="14668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프롬프트  “가정 처리를 실패로 기록, 스크립트 재작성, 예외처리 수정,</a:t>
            </a:r>
          </a:p>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명세서·test.md 반영, 작업마다 commit”</a:t>
            </a:r>
          </a:p>
        </p:txBody>
      </p:sp>
      <p:sp>
        <p:nvSpPr>
          <p:cNvPr id="7" name="AI 출력  phase2/doc의 초기 코드">
            <a:extLst xmlns:a="http://schemas.openxmlformats.org/drawingml/2006/main">
              <a:ext uri="{FF2B5EF4-FFF2-40B4-BE49-F238E27FC236}">
                <a16:creationId xmlns:a16="http://schemas.microsoft.com/office/drawing/2014/main" id="{E939E4CB-E375-4AA9-B2BB-F8B8B54B9273}"/>
              </a:ext>
            </a:extLst>
          </p:cNvPr>
          <p:cNvSpPr>
            <a:spLocks xmlns:a="http://schemas.openxmlformats.org/drawingml/2006/main" noGrp="1"/>
          </p:cNvSpPr>
          <p:nvPr/>
        </p:nvSpPr>
        <p:spPr>
          <a:xfrm xmlns:a="http://schemas.openxmlformats.org/drawingml/2006/main">
            <a:off x="571500" y="2428875"/>
            <a:ext cx="5857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  전원 감면을 임의로 처리</a:t>
            </a:r>
          </a:p>
        </p:txBody>
      </p:sp>
      <p:sp>
        <p:nvSpPr>
          <p:cNvPr id="8" name="if (discCount === 0 || R === 0n) {&#10;  for (con">
            <a:extLst xmlns:a="http://schemas.openxmlformats.org/drawingml/2006/main">
              <a:ext uri="{FF2B5EF4-FFF2-40B4-BE49-F238E27FC236}">
                <a16:creationId xmlns:a16="http://schemas.microsoft.com/office/drawing/2014/main" id="{23B04124-E045-4378-B41A-10529AD46BC1}"/>
              </a:ext>
            </a:extLst>
          </p:cNvPr>
          <p:cNvSpPr>
            <a:spLocks xmlns:a="http://schemas.openxmlformats.org/drawingml/2006/main" noGrp="1"/>
          </p:cNvSpPr>
          <p:nvPr/>
        </p:nvSpPr>
        <p:spPr>
          <a:xfrm xmlns:a="http://schemas.openxmlformats.org/drawingml/2006/main">
            <a:off x="571500" y="2886075"/>
            <a:ext cx="5953125" cy="1247775"/>
          </a:xfrm>
          <a:prstGeom xmlns:a="http://schemas.openxmlformats.org/drawingml/2006/main" prst="rect">
            <a:avLst/>
          </a:prstGeom>
          <a:solidFill xmlns:a="http://schemas.openxmlformats.org/drawingml/2006/main">
            <a:srgbClr val="F0EAF5"/>
          </a:solidFill>
          <a:ln xmlns:a="http://schemas.openxmlformats.org/drawingml/2006/main" w="0">
            <a:noFill/>
          </a:ln>
        </p:spPr>
        <p:txBody>
          <a:bodyPr xmlns:a="http://schemas.openxmlformats.org/drawingml/2006/main" wrap="square" lIns="133350" tIns="133350" rIns="133350" bIns="13335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if (discCount === 0 || R === 0n)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for (const id of ids) out[id] = Number(T / N);</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return out;</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a:t>
            </a:r>
          </a:p>
        </p:txBody>
      </p:sp>
      <p:sp>
        <p:nvSpPr>
          <p:cNvPr id="9" name="전원 감면도 감면을 무시하고 균등 분배.&#10;AI는 이 가정을 “약점”으로 적고 PA">
            <a:extLst xmlns:a="http://schemas.openxmlformats.org/drawingml/2006/main">
              <a:ext uri="{FF2B5EF4-FFF2-40B4-BE49-F238E27FC236}">
                <a16:creationId xmlns:a16="http://schemas.microsoft.com/office/drawing/2014/main" id="{06104339-1C57-4FD1-A4AC-B06D711D7DCD}"/>
              </a:ext>
            </a:extLst>
          </p:cNvPr>
          <p:cNvSpPr>
            <a:spLocks xmlns:a="http://schemas.openxmlformats.org/drawingml/2006/main" noGrp="1"/>
          </p:cNvSpPr>
          <p:nvPr/>
        </p:nvSpPr>
        <p:spPr>
          <a:xfrm xmlns:a="http://schemas.openxmlformats.org/drawingml/2006/main">
            <a:off x="571500" y="4305300"/>
            <a:ext cx="59531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전원 감면을 거부하지 않고 균등 분배했다.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AI는 자기 구현에 맞춰 기대값을 가정해</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최초 테스트 108건을 모두 PASS로 기록했다.</a:t>
            </a:r>
          </a:p>
        </p:txBody>
      </p:sp>
      <p:sp>
        <p:nvSpPr>
          <p:cNvPr id="10" name="판단과 근거">
            <a:extLst xmlns:a="http://schemas.openxmlformats.org/drawingml/2006/main">
              <a:ext uri="{FF2B5EF4-FFF2-40B4-BE49-F238E27FC236}">
                <a16:creationId xmlns:a16="http://schemas.microsoft.com/office/drawing/2014/main" id="{95E7AF9B-39C1-4285-B86F-910E78E7492E}"/>
              </a:ext>
            </a:extLst>
          </p:cNvPr>
          <p:cNvSpPr>
            <a:spLocks xmlns:a="http://schemas.openxmlformats.org/drawingml/2006/main" noGrp="1"/>
          </p:cNvSpPr>
          <p:nvPr/>
        </p:nvSpPr>
        <p:spPr>
          <a:xfrm xmlns:a="http://schemas.openxmlformats.org/drawingml/2006/main">
            <a:off x="6953250" y="2428875"/>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1" name="명세에 없는 동작을 정답으로 삼으면&#10;구현과 테스트가 함께 틀릴 수 있다.">
            <a:extLst xmlns:a="http://schemas.openxmlformats.org/drawingml/2006/main">
              <a:ext uri="{FF2B5EF4-FFF2-40B4-BE49-F238E27FC236}">
                <a16:creationId xmlns:a16="http://schemas.microsoft.com/office/drawing/2014/main" id="{0EA9DB80-F9EE-483E-873E-5216D34173BD}"/>
              </a:ext>
            </a:extLst>
          </p:cNvPr>
          <p:cNvSpPr>
            <a:spLocks xmlns:a="http://schemas.openxmlformats.org/drawingml/2006/main" noGrp="1"/>
          </p:cNvSpPr>
          <p:nvPr/>
        </p:nvSpPr>
        <p:spPr>
          <a:xfrm xmlns:a="http://schemas.openxmlformats.org/drawingml/2006/main">
            <a:off x="6953250" y="2857500"/>
            <a:ext cx="4667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예외처리를 코드와 사용자 흐름에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구현하고, 그 동작을 검증해야 한다.</a:t>
            </a:r>
          </a:p>
        </p:txBody>
      </p:sp>
      <p:sp>
        <p:nvSpPr>
          <p:cNvPr id="12" name="변경 후">
            <a:extLst xmlns:a="http://schemas.openxmlformats.org/drawingml/2006/main">
              <a:ext uri="{FF2B5EF4-FFF2-40B4-BE49-F238E27FC236}">
                <a16:creationId xmlns:a16="http://schemas.microsoft.com/office/drawing/2014/main" id="{526975DD-4964-4741-B00C-FAD6CA84E52F}"/>
              </a:ext>
            </a:extLst>
          </p:cNvPr>
          <p:cNvSpPr>
            <a:spLocks xmlns:a="http://schemas.openxmlformats.org/drawingml/2006/main" noGrp="1"/>
          </p:cNvSpPr>
          <p:nvPr/>
        </p:nvSpPr>
        <p:spPr>
          <a:xfrm xmlns:a="http://schemas.openxmlformats.org/drawingml/2006/main">
            <a:off x="6953250" y="3762375"/>
            <a:ext cx="4667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AE566D"/>
                </a:solidFill>
                <a:latin typeface="Malgun Gothic"/>
                <a:ea typeface="Malgun Gothic"/>
                <a:cs typeface="Malgun Gothic"/>
              </a:defRPr>
            </a:defPPr>
          </a:lstStyle>
          <a:p xmlns:a="http://schemas.openxmlformats.org/drawingml/2006/main">
            <a:pPr algn="l">
              <a:lnSpc>
                <a:spcPct val="116000"/>
              </a:lnSpc>
              <a:buNone/>
              <a:defRPr sz="1650" b="1">
                <a:solidFill>
                  <a:srgbClr val="AE566D"/>
                </a:solidFill>
                <a:latin typeface="Malgun Gothic"/>
                <a:ea typeface="Malgun Gothic"/>
                <a:cs typeface="Malgun Gothic"/>
              </a:defRPr>
            </a:pPr>
            <a:r>
              <a:rPr sz="1650" b="1">
                <a:solidFill>
                  <a:srgbClr val="AE566D"/>
                </a:solidFill>
                <a:latin typeface="Malgun Gothic"/>
                <a:ea typeface="Malgun Gothic"/>
                <a:cs typeface="Malgun Gothic"/>
              </a:rPr>
              <a:t>test skill·workflow 판정 기준 수정</a:t>
            </a:r>
          </a:p>
        </p:txBody>
      </p:sp>
      <p:sp>
        <p:nvSpPr>
          <p:cNvPr id="13" name="미정의 가정은 FAIL&#10;명세를 확정한 뒤 다시 검증">
            <a:extLst xmlns:a="http://schemas.openxmlformats.org/drawingml/2006/main">
              <a:ext uri="{FF2B5EF4-FFF2-40B4-BE49-F238E27FC236}">
                <a16:creationId xmlns:a16="http://schemas.microsoft.com/office/drawing/2014/main" id="{A30AEAB9-1BA5-40D1-8635-741D7870B283}"/>
              </a:ext>
            </a:extLst>
          </p:cNvPr>
          <p:cNvSpPr>
            <a:spLocks xmlns:a="http://schemas.openxmlformats.org/drawingml/2006/main" noGrp="1"/>
          </p:cNvSpPr>
          <p:nvPr/>
        </p:nvSpPr>
        <p:spPr>
          <a:xfrm xmlns:a="http://schemas.openxmlformats.org/drawingml/2006/main">
            <a:off x="6953250" y="4181475"/>
            <a:ext cx="4667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PASS  지정한 예외처리가 코드에서</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의도대로 작동한 경우</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FAIL   지정·구현하지 않은 예외를</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AI가 임의로 가정한 경우</a:t>
            </a:r>
          </a:p>
        </p:txBody>
      </p:sp>
      <p:sp>
        <p:nvSpPr>
          <p:cNvPr id="14" name="test01  113/130 PASS  ·  test02  126/130 PASS">
            <a:extLst xmlns:a="http://schemas.openxmlformats.org/drawingml/2006/main">
              <a:ext uri="{FF2B5EF4-FFF2-40B4-BE49-F238E27FC236}">
                <a16:creationId xmlns:a16="http://schemas.microsoft.com/office/drawing/2014/main" id="{2845ABFF-0BEB-442C-91F1-6CFEE7802CA1}"/>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재검증 test01: 17건 FAIL 발견    예외처리 구현·명세 반영 후 test03: 130/130 PASS    근거: 부록 A3·A4</a:t>
            </a:r>
          </a:p>
        </p:txBody>
      </p:sp>
    </p:spTree>
    <p:extLst>
      <p:ext uri="{BB962C8B-B14F-4D97-AF65-F5344CB8AC3E}">
        <p14:creationId xmlns:p14="http://schemas.microsoft.com/office/powerpoint/2010/main" val="1280284522"/>
      </p:ext>
    </p:extLst>
  </p:cSld>
</p:sld>
</file>

<file path=ppt/slides/slide6.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9A25D1BF-3C00-44AC-BFC1-0EAB9001F5C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되물은 네 가지를 기본값에 맡겨도 될까?">
            <a:extLst xmlns:a="http://schemas.openxmlformats.org/drawingml/2006/main">
              <a:ext uri="{FF2B5EF4-FFF2-40B4-BE49-F238E27FC236}">
                <a16:creationId xmlns:a16="http://schemas.microsoft.com/office/drawing/2014/main" id="{C1F5F242-E793-404A-BF44-12FD54AC3E8A}"/>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되물은 네 가지를 기본값에 맡겨도 될까?</a:t>
            </a:r>
          </a:p>
        </p:txBody>
      </p:sp>
      <p:sp>
        <p:nvSpPr>
          <p:cNvPr id="3" name="개입함">
            <a:extLst xmlns:a="http://schemas.openxmlformats.org/drawingml/2006/main">
              <a:ext uri="{FF2B5EF4-FFF2-40B4-BE49-F238E27FC236}">
                <a16:creationId xmlns:a16="http://schemas.microsoft.com/office/drawing/2014/main" id="{8A232553-EFFB-4B2C-9229-3F785618301C}"/>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AE566D"/>
                </a:solidFill>
                <a:latin typeface="Malgun Gothic"/>
                <a:ea typeface="Malgun Gothic"/>
                <a:cs typeface="Malgun Gothic"/>
              </a:defRPr>
            </a:defPPr>
          </a:lstStyle>
          <a:p xmlns:a="http://schemas.openxmlformats.org/drawingml/2006/main">
            <a:pPr algn="r">
              <a:lnSpc>
                <a:spcPct val="116000"/>
              </a:lnSpc>
              <a:buNone/>
              <a:defRPr sz="3938" b="1">
                <a:solidFill>
                  <a:srgbClr val="AE566D"/>
                </a:solidFill>
                <a:latin typeface="Malgun Gothic"/>
                <a:ea typeface="Malgun Gothic"/>
                <a:cs typeface="Malgun Gothic"/>
              </a:defRPr>
            </a:pPr>
            <a:r>
              <a:rPr sz="3938" b="1">
                <a:solidFill>
                  <a:srgbClr val="AE566D"/>
                </a:solidFill>
                <a:latin typeface="Malgun Gothic"/>
                <a:ea typeface="Malgun Gothic"/>
                <a:cs typeface="Malgun Gothic"/>
              </a:rPr>
              <a:t>개입함</a:t>
            </a:r>
          </a:p>
        </p:txBody>
      </p:sp>
      <p:sp>
        <p:nvSpPr>
          <p:cNvPr id="4" name="06 / 07">
            <a:extLst xmlns:a="http://schemas.openxmlformats.org/drawingml/2006/main">
              <a:ext uri="{FF2B5EF4-FFF2-40B4-BE49-F238E27FC236}">
                <a16:creationId xmlns:a16="http://schemas.microsoft.com/office/drawing/2014/main" id="{4A298599-6E72-42A8-B86D-D0C2E582755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06 / 07</a:t>
            </a:r>
          </a:p>
        </p:txBody>
      </p:sp>
      <p:pic>
        <p:nvPicPr>
          <p:cNvPr id="5" name="">
            <a:extLst xmlns:a="http://schemas.openxmlformats.org/drawingml/2006/main">
              <a:ext uri="{FF2B5EF4-FFF2-40B4-BE49-F238E27FC236}">
                <a16:creationId xmlns:a16="http://schemas.microsoft.com/office/drawing/2014/main" id="{E1236180-3323-4C83-B7B7-A6977E7A6ADE}"/>
              </a:ext>
            </a:extLst>
          </p:cNvPr>
          <p:cNvPicPr>
            <a:picLocks xmlns:a="http://schemas.openxmlformats.org/drawingml/2006/main" noChangeAspect="1"/>
          </p:cNvPicPr>
          <p:nvPr/>
        </p:nvPicPr>
        <p:blipFill>
          <a:blip xmlns:r="http://schemas.openxmlformats.org/officeDocument/2006/relationships" xmlns:a="http://schemas.openxmlformats.org/drawingml/2006/main" r:embed="R9d36be53b5f24980"/>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workflow phase2-claude_flow 실행”">
            <a:extLst xmlns:a="http://schemas.openxmlformats.org/drawingml/2006/main">
              <a:ext uri="{FF2B5EF4-FFF2-40B4-BE49-F238E27FC236}">
                <a16:creationId xmlns:a16="http://schemas.microsoft.com/office/drawing/2014/main" id="{542D7CE9-43DD-4E9C-A56F-874FBDA5BF51}"/>
              </a:ext>
            </a:extLst>
          </p:cNvPr>
          <p:cNvSpPr>
            <a:spLocks xmlns:a="http://schemas.openxmlformats.org/drawingml/2006/main" noGrp="1"/>
          </p:cNvSpPr>
          <p:nvPr/>
        </p:nvSpPr>
        <p:spPr>
          <a:xfrm xmlns:a="http://schemas.openxmlformats.org/drawingml/2006/main">
            <a:off x="571500" y="14668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프롬프트  “workflow phase2-claude_flow 실행”</a:t>
            </a:r>
          </a:p>
        </p:txBody>
      </p:sp>
      <p:sp>
        <p:nvSpPr>
          <p:cNvPr id="7" name="AI는 4가지를 물었다. 나는 처음엔 모두 “[No preference]”로 답했">
            <a:extLst xmlns:a="http://schemas.openxmlformats.org/drawingml/2006/main">
              <a:ext uri="{FF2B5EF4-FFF2-40B4-BE49-F238E27FC236}">
                <a16:creationId xmlns:a16="http://schemas.microsoft.com/office/drawing/2014/main" id="{858A34FE-8E6D-4082-8874-F6841463AE7F}"/>
              </a:ext>
            </a:extLst>
          </p:cNvPr>
          <p:cNvSpPr>
            <a:spLocks xmlns:a="http://schemas.openxmlformats.org/drawingml/2006/main" noGrp="1"/>
          </p:cNvSpPr>
          <p:nvPr/>
        </p:nvSpPr>
        <p:spPr>
          <a:xfrm xmlns:a="http://schemas.openxmlformats.org/drawingml/2006/main">
            <a:off x="571500" y="19621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AI는 4가지를 물었다. 나는 처음엔 모두 “[No preference]”로 답했다.</a:t>
            </a:r>
          </a:p>
        </p:txBody>
      </p:sp>
      <p:graphicFrame>
        <p:nvGraphicFramePr>
          <p:cNvPr id="8" name="">
            <a:extLst xmlns:a="http://schemas.openxmlformats.org/drawingml/2006/main">
              <a:ext uri="{FF2B5EF4-FFF2-40B4-BE49-F238E27FC236}">
                <a16:creationId xmlns:a16="http://schemas.microsoft.com/office/drawing/2014/main" id="{3F4DE336-2690-4642-BEFE-DC93FCC087F2}"/>
              </a:ext>
            </a:extLst>
          </p:cNvPr>
          <p:cNvGraphicFramePr/>
          <p:nvPr/>
        </p:nvGraphicFramePr>
        <p:xfrm>
          <a:off xmlns:a="http://schemas.openxmlformats.org/drawingml/2006/main" x="571500" y="2600325"/>
          <a:ext xmlns:a="http://schemas.openxmlformats.org/drawingml/2006/main" cx="8143875" cy="2714625"/>
        </p:xfrm>
        <a:graphic xmlns:a="http://schemas.openxmlformats.org/drawingml/2006/main">
          <a:graphicData uri="http://schemas.openxmlformats.org/drawingml/2006/table">
            <a:tbl>
              <a:tblPr firstRow="1" bandRow="0"/>
              <a:tblGrid>
                <a:gridCol w="1905000"/>
                <a:gridCol w="2952750"/>
                <a:gridCol w="3286125"/>
              </a:tblGrid>
              <a:tr h="542925">
                <a:tc>
                  <a:txBody>
                    <a:bodyPr lIns="114300" tIns="114300" rIns="114300" bIns="114300"/>
                    <a:lstStyle/>
                    <a:p>
                      <a:pPr algn="l">
                        <a:buNone/>
                      </a:pPr>
                      <a:r>
                        <a:rPr sz="1650" b="1">
                          <a:solidFill>
                            <a:srgbClr val="44364F"/>
                          </a:solidFill>
                          <a:latin typeface="Malgun Gothic"/>
                          <a:ea typeface="Malgun Gothic"/>
                          <a:cs typeface="Malgun Gothic"/>
                        </a:rPr>
                        <a:t>판단할 규칙</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기존 동작 / 가정</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내가 확정한 동작</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감면율 소수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12.5가 125로 입력됨¹</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정수만 허용 + 안내</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동명이인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중복 이름 거부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(1), (2), (3)으로 구분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결제자 포함</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 쓰지 않아도 허용</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함께한 사람에 반드시 포함</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수정 시 잔여액</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수정할 때마다 다시 질문</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이전 방식과 seed 유지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pic>
        <p:nvPicPr>
          <p:cNvPr id="9" name="">
            <a:extLst xmlns:a="http://schemas.openxmlformats.org/drawingml/2006/main">
              <a:ext uri="{FF2B5EF4-FFF2-40B4-BE49-F238E27FC236}">
                <a16:creationId xmlns:a16="http://schemas.microsoft.com/office/drawing/2014/main" id="{788F9A25-574F-46C7-B814-8645222A64A9}"/>
              </a:ext>
            </a:extLst>
          </p:cNvPr>
          <p:cNvPicPr>
            <a:picLocks xmlns:a="http://schemas.openxmlformats.org/drawingml/2006/main" noChangeAspect="1"/>
          </p:cNvPicPr>
          <p:nvPr/>
        </p:nvPicPr>
        <p:blipFill>
          <a:blip xmlns:r="http://schemas.openxmlformats.org/officeDocument/2006/relationships" xmlns:a="http://schemas.openxmlformats.org/drawingml/2006/main" r:embed="R4b3cc4c2df734a85"/>
          <a:srcRect xmlns:a="http://schemas.openxmlformats.org/drawingml/2006/main" l="3023" t="3613" r="3023" b="74924"/>
          <a:stretch xmlns:a="http://schemas.openxmlformats.org/drawingml/2006/main"/>
        </p:blipFill>
        <p:spPr>
          <a:xfrm xmlns:a="http://schemas.openxmlformats.org/drawingml/2006/main">
            <a:off x="8953500" y="2505075"/>
            <a:ext cx="2667000" cy="3257550"/>
          </a:xfrm>
          <a:prstGeom xmlns:a="http://schemas.openxmlformats.org/drawingml/2006/main" prst="rect">
            <a:avLst/>
          </a:prstGeom>
        </p:spPr>
      </p:pic>
      <p:sp>
        <p:nvSpPr>
          <p:cNvPr id="10" name="동명이인 구분&#10;실제 AI 출력">
            <a:extLst xmlns:a="http://schemas.openxmlformats.org/drawingml/2006/main">
              <a:ext uri="{FF2B5EF4-FFF2-40B4-BE49-F238E27FC236}">
                <a16:creationId xmlns:a16="http://schemas.microsoft.com/office/drawing/2014/main" id="{118972B5-C5D8-46A6-A0FA-3D52119E8BEE}"/>
              </a:ext>
            </a:extLst>
          </p:cNvPr>
          <p:cNvSpPr>
            <a:spLocks xmlns:a="http://schemas.openxmlformats.org/drawingml/2006/main" noGrp="1"/>
          </p:cNvSpPr>
          <p:nvPr/>
        </p:nvSpPr>
        <p:spPr>
          <a:xfrm xmlns:a="http://schemas.openxmlformats.org/drawingml/2006/main">
            <a:off x="8953500" y="5829300"/>
            <a:ext cx="1638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동명이인 구분</a:t>
            </a:r>
          </a:p>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실제 AI 출력</a:t>
            </a:r>
          </a:p>
        </p:txBody>
      </p:sp>
      <p:sp>
        <p:nvSpPr>
          <p:cNvPr id="11" name="판단  돈과 사용자 선택에 영향을 주는 규칙은 내가 정한다.">
            <a:extLst xmlns:a="http://schemas.openxmlformats.org/drawingml/2006/main">
              <a:ext uri="{FF2B5EF4-FFF2-40B4-BE49-F238E27FC236}">
                <a16:creationId xmlns:a16="http://schemas.microsoft.com/office/drawing/2014/main" id="{BD319EAC-1FEF-4116-846E-15E51F246EE4}"/>
              </a:ext>
            </a:extLst>
          </p:cNvPr>
          <p:cNvSpPr>
            <a:spLocks xmlns:a="http://schemas.openxmlformats.org/drawingml/2006/main" noGrp="1"/>
          </p:cNvSpPr>
          <p:nvPr/>
        </p:nvSpPr>
        <p:spPr>
          <a:xfrm xmlns:a="http://schemas.openxmlformats.org/drawingml/2006/main">
            <a:off x="571500" y="5514975"/>
            <a:ext cx="814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판단  돈과 사용자 선택에 영향을 주는 규칙은 내가 정한다.</a:t>
            </a:r>
          </a:p>
        </p:txBody>
      </p:sp>
      <p:sp>
        <p:nvSpPr>
          <p:cNvPr id="12" name="결과: 명세를 먼저 바꾸고 소스 4파일·테스트를 맞춰 test06 153/153 ">
            <a:extLst xmlns:a="http://schemas.openxmlformats.org/drawingml/2006/main">
              <a:ext uri="{FF2B5EF4-FFF2-40B4-BE49-F238E27FC236}">
                <a16:creationId xmlns:a16="http://schemas.microsoft.com/office/drawing/2014/main" id="{6260DEBC-394F-42AE-83BA-A635723EE08B}"/>
              </a:ext>
            </a:extLst>
          </p:cNvPr>
          <p:cNvSpPr>
            <a:spLocks xmlns:a="http://schemas.openxmlformats.org/drawingml/2006/main" noGrp="1"/>
          </p:cNvSpPr>
          <p:nvPr/>
        </p:nvSpPr>
        <p:spPr>
          <a:xfrm xmlns:a="http://schemas.openxmlformats.org/drawingml/2006/main">
            <a:off x="571500" y="5953125"/>
            <a:ext cx="819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결과: 명세를 먼저 바꾸고 소스 4파일·테스트를 맞춰 test06 153/153 PASS.</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¹ phase2/doc test05 관찰값</a:t>
            </a:r>
          </a:p>
        </p:txBody>
      </p:sp>
    </p:spTree>
    <p:extLst>
      <p:ext uri="{BB962C8B-B14F-4D97-AF65-F5344CB8AC3E}">
        <p14:creationId xmlns:p14="http://schemas.microsoft.com/office/powerpoint/2010/main" val="621565537"/>
      </p:ext>
    </p:extLst>
  </p:cSld>
</p:sld>
</file>

<file path=ppt/slides/slide7.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6581DA05-609B-4D68-BB1C-24090F0C0AF2}"/>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AI에게 맡길 범위는 검증 기준으로 정한다">
            <a:extLst xmlns:a="http://schemas.openxmlformats.org/drawingml/2006/main">
              <a:ext uri="{FF2B5EF4-FFF2-40B4-BE49-F238E27FC236}">
                <a16:creationId xmlns:a16="http://schemas.microsoft.com/office/drawing/2014/main" id="{2E2E9A46-F2F7-4597-802C-89DF3D82863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AI에게 맡길 범위는 검증 기준으로 정한다</a:t>
            </a:r>
          </a:p>
        </p:txBody>
      </p:sp>
      <p:sp>
        <p:nvSpPr>
          <p:cNvPr id="3" name="07 / 07">
            <a:extLst xmlns:a="http://schemas.openxmlformats.org/drawingml/2006/main">
              <a:ext uri="{FF2B5EF4-FFF2-40B4-BE49-F238E27FC236}">
                <a16:creationId xmlns:a16="http://schemas.microsoft.com/office/drawing/2014/main" id="{C11E6373-C859-46D8-9D95-32D3D97AB04D}"/>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07 / 07</a:t>
            </a:r>
          </a:p>
        </p:txBody>
      </p:sp>
      <p:pic>
        <p:nvPicPr>
          <p:cNvPr id="4" name="">
            <a:extLst xmlns:a="http://schemas.openxmlformats.org/drawingml/2006/main">
              <a:ext uri="{FF2B5EF4-FFF2-40B4-BE49-F238E27FC236}">
                <a16:creationId xmlns:a16="http://schemas.microsoft.com/office/drawing/2014/main" id="{18E8E682-28FE-493C-B53A-3E1AB3AD9797}"/>
              </a:ext>
            </a:extLst>
          </p:cNvPr>
          <p:cNvPicPr>
            <a:picLocks xmlns:a="http://schemas.openxmlformats.org/drawingml/2006/main" noChangeAspect="1"/>
          </p:cNvPicPr>
          <p:nvPr/>
        </p:nvPicPr>
        <p:blipFill>
          <a:blip xmlns:r="http://schemas.openxmlformats.org/officeDocument/2006/relationships" xmlns:a="http://schemas.openxmlformats.org/drawingml/2006/main" r:embed="R481f8df7035747bd"/>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FF5AF964-193A-45D4-9F29-EAC43E7F85C3}"/>
              </a:ext>
            </a:extLst>
          </p:cNvPr>
          <p:cNvGraphicFramePr/>
          <p:nvPr/>
        </p:nvGraphicFramePr>
        <p:xfrm>
          <a:off xmlns:a="http://schemas.openxmlformats.org/drawingml/2006/main" x="571500" y="1562100"/>
          <a:ext xmlns:a="http://schemas.openxmlformats.org/drawingml/2006/main" cx="11049000" cy="2171700"/>
        </p:xfrm>
        <a:graphic xmlns:a="http://schemas.openxmlformats.org/drawingml/2006/main">
          <a:graphicData uri="http://schemas.openxmlformats.org/drawingml/2006/table">
            <a:tbl>
              <a:tblPr firstRow="1" bandRow="0"/>
              <a:tblGrid>
                <a:gridCol w="3676650"/>
                <a:gridCol w="3676650"/>
                <a:gridCol w="3695700"/>
              </a:tblGrid>
              <a:tr h="542925">
                <a:tc>
                  <a:txBody>
                    <a:bodyPr lIns="114300" tIns="114300" rIns="114300" bIns="114300"/>
                    <a:lstStyle/>
                    <a:p>
                      <a:pPr algn="ctr">
                        <a:buNone/>
                      </a:pPr>
                      <a:r>
                        <a:rPr sz="1875" b="1">
                          <a:solidFill>
                            <a:srgbClr val="44364F"/>
                          </a:solidFill>
                          <a:latin typeface="Malgun Gothic"/>
                          <a:ea typeface="Malgun Gothic"/>
                          <a:cs typeface="Malgun Gothic"/>
                        </a:rPr>
                        <a:t>phase0</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E2D7"/>
                    </a:solidFill>
                  </a:tcPr>
                </a:tc>
                <a:tc>
                  <a:txBody>
                    <a:bodyPr lIns="114300" tIns="114300" rIns="114300" bIns="114300"/>
                    <a:lstStyle/>
                    <a:p>
                      <a:pPr algn="ctr">
                        <a:buNone/>
                      </a:pPr>
                      <a:r>
                        <a:rPr sz="18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EDCF"/>
                    </a:solidFill>
                  </a:tcPr>
                </a:tc>
                <a:tc>
                  <a:txBody>
                    <a:bodyPr lIns="114300" tIns="114300" rIns="114300" bIns="114300"/>
                    <a:lstStyle/>
                    <a:p>
                      <a:pPr algn="ctr">
                        <a:buNone/>
                      </a:pPr>
                      <a:r>
                        <a:rPr sz="18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한 줄 요청</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PRD + 요구사항</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명세 + 작업 규칙 + 후속 결정</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test07</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test05  (doc 브랜치)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ctr">
                        <a:buNone/>
                      </a:pPr>
                      <a:r>
                        <a:rPr sz="2175" b="1">
                          <a:solidFill>
                            <a:srgbClr val="7860AD"/>
                          </a:solidFill>
                          <a:latin typeface="Malgun Gothic"/>
                          <a:ea typeface="Malgun Gothic"/>
                          <a:cs typeface="Malgun Gothic"/>
                        </a:rPr>
                        <a:t>84 / 153 PASS</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137 / 147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153 / 153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맡길 수 있었던 것">
            <a:extLst xmlns:a="http://schemas.openxmlformats.org/drawingml/2006/main">
              <a:ext uri="{FF2B5EF4-FFF2-40B4-BE49-F238E27FC236}">
                <a16:creationId xmlns:a16="http://schemas.microsoft.com/office/drawing/2014/main" id="{059BFACB-2A39-42AC-8A78-10CAE5E73FB4}"/>
              </a:ext>
            </a:extLst>
          </p:cNvPr>
          <p:cNvSpPr>
            <a:spLocks xmlns:a="http://schemas.openxmlformats.org/drawingml/2006/main" noGrp="1"/>
          </p:cNvSpPr>
          <p:nvPr/>
        </p:nvSpPr>
        <p:spPr>
          <a:xfrm xmlns:a="http://schemas.openxmlformats.org/drawingml/2006/main">
            <a:off x="5715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맡길 수 있었던 것</a:t>
            </a:r>
          </a:p>
        </p:txBody>
      </p:sp>
      <p:sp>
        <p:nvSpPr>
          <p:cNvPr id="7" name="기본 화면·복사 흐름&#10;직접 대조 가능한 정산 계산">
            <a:extLst xmlns:a="http://schemas.openxmlformats.org/drawingml/2006/main">
              <a:ext uri="{FF2B5EF4-FFF2-40B4-BE49-F238E27FC236}">
                <a16:creationId xmlns:a16="http://schemas.microsoft.com/office/drawing/2014/main" id="{80E1BA3D-3A74-4CFC-B9CC-F4E9DBE1DA39}"/>
              </a:ext>
            </a:extLst>
          </p:cNvPr>
          <p:cNvSpPr>
            <a:spLocks xmlns:a="http://schemas.openxmlformats.org/drawingml/2006/main" noGrp="1"/>
          </p:cNvSpPr>
          <p:nvPr/>
        </p:nvSpPr>
        <p:spPr>
          <a:xfrm xmlns:a="http://schemas.openxmlformats.org/drawingml/2006/main">
            <a:off x="5715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UI·UX적 요소</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화면 구성과 기본 사용 흐름</a:t>
            </a:r>
          </a:p>
        </p:txBody>
      </p:sp>
      <p:sp>
        <p:nvSpPr>
          <p:cNvPr id="8" name="사람이 정할 것">
            <a:extLst xmlns:a="http://schemas.openxmlformats.org/drawingml/2006/main">
              <a:ext uri="{FF2B5EF4-FFF2-40B4-BE49-F238E27FC236}">
                <a16:creationId xmlns:a16="http://schemas.microsoft.com/office/drawing/2014/main" id="{D5EA4E0E-2CE7-47CF-8FEB-82A0630EF40E}"/>
              </a:ext>
            </a:extLst>
          </p:cNvPr>
          <p:cNvSpPr>
            <a:spLocks xmlns:a="http://schemas.openxmlformats.org/drawingml/2006/main" noGrp="1"/>
          </p:cNvSpPr>
          <p:nvPr/>
        </p:nvSpPr>
        <p:spPr>
          <a:xfrm xmlns:a="http://schemas.openxmlformats.org/drawingml/2006/main">
            <a:off x="44196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사람이 정할 것</a:t>
            </a:r>
          </a:p>
        </p:txBody>
      </p:sp>
      <p:sp>
        <p:nvSpPr>
          <p:cNvPr id="9" name="예외 입력의 의미&#10;업무 규칙과 테스트의 정답">
            <a:extLst xmlns:a="http://schemas.openxmlformats.org/drawingml/2006/main">
              <a:ext uri="{FF2B5EF4-FFF2-40B4-BE49-F238E27FC236}">
                <a16:creationId xmlns:a16="http://schemas.microsoft.com/office/drawing/2014/main" id="{A87AA4CB-CFA4-467A-9123-340DB8A96030}"/>
              </a:ext>
            </a:extLst>
          </p:cNvPr>
          <p:cNvSpPr>
            <a:spLocks xmlns:a="http://schemas.openxmlformats.org/drawingml/2006/main" noGrp="1"/>
          </p:cNvSpPr>
          <p:nvPr/>
        </p:nvSpPr>
        <p:spPr>
          <a:xfrm xmlns:a="http://schemas.openxmlformats.org/drawingml/2006/main">
            <a:off x="44196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예외 입력의 의미</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업무 규칙과 테스트의 정답</a:t>
            </a:r>
          </a:p>
        </p:txBody>
      </p:sp>
      <p:sp>
        <p:nvSpPr>
          <p:cNvPr id="10" name="다음에는">
            <a:extLst xmlns:a="http://schemas.openxmlformats.org/drawingml/2006/main">
              <a:ext uri="{FF2B5EF4-FFF2-40B4-BE49-F238E27FC236}">
                <a16:creationId xmlns:a16="http://schemas.microsoft.com/office/drawing/2014/main" id="{DD02D64A-D7E8-4685-8D78-EE2C919D408A}"/>
              </a:ext>
            </a:extLst>
          </p:cNvPr>
          <p:cNvSpPr>
            <a:spLocks xmlns:a="http://schemas.openxmlformats.org/drawingml/2006/main" noGrp="1"/>
          </p:cNvSpPr>
          <p:nvPr/>
        </p:nvSpPr>
        <p:spPr>
          <a:xfrm xmlns:a="http://schemas.openxmlformats.org/drawingml/2006/main">
            <a:off x="8267700" y="41433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다음에는</a:t>
            </a:r>
          </a:p>
        </p:txBody>
      </p:sp>
      <p:sp>
        <p:nvSpPr>
          <p:cNvPr id="11" name="경계 사례 4개를 먼저 확정&#10;명세·코드·테스트를 함께 갱신">
            <a:extLst xmlns:a="http://schemas.openxmlformats.org/drawingml/2006/main">
              <a:ext uri="{FF2B5EF4-FFF2-40B4-BE49-F238E27FC236}">
                <a16:creationId xmlns:a16="http://schemas.microsoft.com/office/drawing/2014/main" id="{74128DEF-E556-4CDA-B56B-0895C11AF115}"/>
              </a:ext>
            </a:extLst>
          </p:cNvPr>
          <p:cNvSpPr>
            <a:spLocks xmlns:a="http://schemas.openxmlformats.org/drawingml/2006/main" noGrp="1"/>
          </p:cNvSpPr>
          <p:nvPr/>
        </p:nvSpPr>
        <p:spPr>
          <a:xfrm xmlns:a="http://schemas.openxmlformats.org/drawingml/2006/main">
            <a:off x="8267700" y="4648200"/>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경계 사례 4개를 먼저 확정</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명세·코드·테스트를 함께 갱신</a:t>
            </a:r>
          </a:p>
        </p:txBody>
      </p:sp>
      <p:sp>
        <p:nvSpPr>
          <p:cNvPr id="12" name="총수·구성이 달라 단순 성능 순위로 해석할 수 없다. doc은 변경 전 소스이며,">
            <a:extLst xmlns:a="http://schemas.openxmlformats.org/drawingml/2006/main">
              <a:ext uri="{FF2B5EF4-FFF2-40B4-BE49-F238E27FC236}">
                <a16:creationId xmlns:a16="http://schemas.microsoft.com/office/drawing/2014/main" id="{63652516-3533-47B1-9465-916EA94252F6}"/>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총수·구성이 달라 단순 성능 순위로 해석할 수 없다. doc은 변경 전 소스이며, 작업 규칙만의 효과를 분리한 실험도 아니다.</a:t>
            </a:r>
          </a:p>
        </p:txBody>
      </p:sp>
    </p:spTree>
    <p:extLst>
      <p:ext uri="{BB962C8B-B14F-4D97-AF65-F5344CB8AC3E}">
        <p14:creationId xmlns:p14="http://schemas.microsoft.com/office/powerpoint/2010/main" val="1814865930"/>
      </p:ext>
    </p:extLst>
  </p:cSld>
</p:sld>
</file>

<file path=ppt/slides/slide8.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096393E9-7FB6-45F8-B13D-DFA1AE47F289}"/>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1  비교 결과와 집계 범위">
            <a:extLst xmlns:a="http://schemas.openxmlformats.org/drawingml/2006/main">
              <a:ext uri="{FF2B5EF4-FFF2-40B4-BE49-F238E27FC236}">
                <a16:creationId xmlns:a16="http://schemas.microsoft.com/office/drawing/2014/main" id="{CF5E2BAE-8A34-43C6-8AD3-B54EDE1161D4}"/>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A1  비교 결과와 집계 범위</a:t>
            </a:r>
          </a:p>
        </p:txBody>
      </p:sp>
      <p:sp>
        <p:nvSpPr>
          <p:cNvPr id="3" name="A01">
            <a:extLst xmlns:a="http://schemas.openxmlformats.org/drawingml/2006/main">
              <a:ext uri="{FF2B5EF4-FFF2-40B4-BE49-F238E27FC236}">
                <a16:creationId xmlns:a16="http://schemas.microsoft.com/office/drawing/2014/main" id="{D34BA25B-6680-47FA-854D-959A3D9776A9}"/>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A01</a:t>
            </a:r>
          </a:p>
        </p:txBody>
      </p:sp>
      <p:pic>
        <p:nvPicPr>
          <p:cNvPr id="4" name="">
            <a:extLst xmlns:a="http://schemas.openxmlformats.org/drawingml/2006/main">
              <a:ext uri="{FF2B5EF4-FFF2-40B4-BE49-F238E27FC236}">
                <a16:creationId xmlns:a16="http://schemas.microsoft.com/office/drawing/2014/main" id="{A4EE728A-78F6-4C8E-A6C9-85F703815345}"/>
              </a:ext>
            </a:extLst>
          </p:cNvPr>
          <p:cNvPicPr>
            <a:picLocks xmlns:a="http://schemas.openxmlformats.org/drawingml/2006/main" noChangeAspect="1"/>
          </p:cNvPicPr>
          <p:nvPr/>
        </p:nvPicPr>
        <p:blipFill>
          <a:blip xmlns:r="http://schemas.openxmlformats.org/officeDocument/2006/relationships" xmlns:a="http://schemas.openxmlformats.org/drawingml/2006/main" r:embed="R6c44cd69d4564fa7"/>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A4A8D5FA-6012-4680-BBFF-312B04A468A7}"/>
              </a:ext>
            </a:extLst>
          </p:cNvPr>
          <p:cNvGraphicFramePr/>
          <p:nvPr/>
        </p:nvGraphicFramePr>
        <p:xfrm>
          <a:off xmlns:a="http://schemas.openxmlformats.org/drawingml/2006/main" x="571500" y="1600200"/>
          <a:ext xmlns:a="http://schemas.openxmlformats.org/drawingml/2006/main" cx="11049000" cy="3086100"/>
        </p:xfrm>
        <a:graphic xmlns:a="http://schemas.openxmlformats.org/drawingml/2006/main">
          <a:graphicData uri="http://schemas.openxmlformats.org/drawingml/2006/table">
            <a:tbl>
              <a:tblPr firstRow="1" bandRow="0"/>
              <a:tblGrid>
                <a:gridCol w="2762250"/>
                <a:gridCol w="2762250"/>
                <a:gridCol w="2762250"/>
                <a:gridCol w="2762250"/>
              </a:tblGrid>
              <a:tr h="514350">
                <a:tc>
                  <a:txBody>
                    <a:bodyPr lIns="114300" tIns="114300" rIns="114300" bIns="114300"/>
                    <a:lstStyle/>
                    <a:p>
                      <a:pPr algn="l">
                        <a:buNone/>
                      </a:pPr>
                      <a:r>
                        <a:rPr sz="1800" b="1">
                          <a:solidFill>
                            <a:srgbClr val="44364F"/>
                          </a:solidFill>
                          <a:latin typeface="Malgun Gothic"/>
                          <a:ea typeface="Malgun Gothic"/>
                          <a:cs typeface="Malgun Gothic"/>
                        </a:rPr>
                        <a:t>항목</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참조 로그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test05</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로직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72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112 / 118</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124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UI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12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25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29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전체 PASS / FAIL</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84 / 69</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137 / 10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153 / 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총 테스트 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147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읽는 기준">
            <a:extLst xmlns:a="http://schemas.openxmlformats.org/drawingml/2006/main">
              <a:ext uri="{FF2B5EF4-FFF2-40B4-BE49-F238E27FC236}">
                <a16:creationId xmlns:a16="http://schemas.microsoft.com/office/drawing/2014/main" id="{BC833F1A-E3B8-4FB0-AA0A-7E166837CDC2}"/>
              </a:ext>
            </a:extLst>
          </p:cNvPr>
          <p:cNvSpPr>
            <a:spLocks xmlns:a="http://schemas.openxmlformats.org/drawingml/2006/main" noGrp="1"/>
          </p:cNvSpPr>
          <p:nvPr/>
        </p:nvSpPr>
        <p:spPr>
          <a:xfrm xmlns:a="http://schemas.openxmlformats.org/drawingml/2006/main">
            <a:off x="571500" y="5019675"/>
            <a:ext cx="1952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읽는 기준</a:t>
            </a:r>
          </a:p>
        </p:txBody>
      </p:sp>
      <p:sp>
        <p:nvSpPr>
          <p:cNvPr id="7" name="doc은 동명이인 로직을 UI에서만 검사해 총수가 다르다.&#10;phase0의 UI F">
            <a:extLst xmlns:a="http://schemas.openxmlformats.org/drawingml/2006/main">
              <a:ext uri="{FF2B5EF4-FFF2-40B4-BE49-F238E27FC236}">
                <a16:creationId xmlns:a16="http://schemas.microsoft.com/office/drawing/2014/main" id="{D3BC4A6D-3146-4567-BDCE-CD21F9C664F0}"/>
              </a:ext>
            </a:extLst>
          </p:cNvPr>
          <p:cNvSpPr>
            <a:spLocks xmlns:a="http://schemas.openxmlformats.org/drawingml/2006/main" noGrp="1"/>
          </p:cNvSpPr>
          <p:nvPr/>
        </p:nvSpPr>
        <p:spPr>
          <a:xfrm xmlns:a="http://schemas.openxmlformats.org/drawingml/2006/main">
            <a:off x="2619375" y="5019675"/>
            <a:ext cx="881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doc은 동명이인 로직을 UI에서만 검사해 총수가 다르다.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phase0의 UI FAIL 17건 중 5건은 앞선 실패의 영향이다.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 PASS에는 phase2/claude 문서를 검사한 6건도 포함된다.</a:t>
            </a:r>
          </a:p>
        </p:txBody>
      </p:sp>
    </p:spTree>
    <p:extLst>
      <p:ext uri="{BB962C8B-B14F-4D97-AF65-F5344CB8AC3E}">
        <p14:creationId xmlns:p14="http://schemas.microsoft.com/office/powerpoint/2010/main" val="516309935"/>
      </p:ext>
    </p:extLst>
  </p:cSld>
</p:sld>
</file>

<file path=ppt/slides/slide9.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1888982C-263B-4542-93A8-735B96E6B0B5}"/>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2  무엇을 다르게 주었나">
            <a:extLst xmlns:a="http://schemas.openxmlformats.org/drawingml/2006/main">
              <a:ext uri="{FF2B5EF4-FFF2-40B4-BE49-F238E27FC236}">
                <a16:creationId xmlns:a16="http://schemas.microsoft.com/office/drawing/2014/main" id="{3E4F348B-F57D-48C5-B510-BFDB50EC608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A2  무엇을 다르게 주었나</a:t>
            </a:r>
          </a:p>
        </p:txBody>
      </p:sp>
      <p:sp>
        <p:nvSpPr>
          <p:cNvPr id="3" name="A02">
            <a:extLst xmlns:a="http://schemas.openxmlformats.org/drawingml/2006/main">
              <a:ext uri="{FF2B5EF4-FFF2-40B4-BE49-F238E27FC236}">
                <a16:creationId xmlns:a16="http://schemas.microsoft.com/office/drawing/2014/main" id="{0A9FD353-8B20-4DF4-946A-44BE68310BA5}"/>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A02</a:t>
            </a:r>
          </a:p>
        </p:txBody>
      </p:sp>
      <p:pic>
        <p:nvPicPr>
          <p:cNvPr id="4" name="">
            <a:extLst xmlns:a="http://schemas.openxmlformats.org/drawingml/2006/main">
              <a:ext uri="{FF2B5EF4-FFF2-40B4-BE49-F238E27FC236}">
                <a16:creationId xmlns:a16="http://schemas.microsoft.com/office/drawing/2014/main" id="{92695448-B0DE-47DB-89E8-238207389E93}"/>
              </a:ext>
            </a:extLst>
          </p:cNvPr>
          <p:cNvPicPr>
            <a:picLocks xmlns:a="http://schemas.openxmlformats.org/drawingml/2006/main" noChangeAspect="1"/>
          </p:cNvPicPr>
          <p:nvPr/>
        </p:nvPicPr>
        <p:blipFill>
          <a:blip xmlns:r="http://schemas.openxmlformats.org/officeDocument/2006/relationships" xmlns:a="http://schemas.openxmlformats.org/drawingml/2006/main" r:embed="R6bd0281307844538"/>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9681A065-2F4E-4BAA-8D58-B9354466798A}"/>
              </a:ext>
            </a:extLst>
          </p:cNvPr>
          <p:cNvGraphicFramePr/>
          <p:nvPr/>
        </p:nvGraphicFramePr>
        <p:xfrm>
          <a:off xmlns:a="http://schemas.openxmlformats.org/drawingml/2006/main" x="571500" y="1590675"/>
          <a:ext xmlns:a="http://schemas.openxmlformats.org/drawingml/2006/main" cx="11049000" cy="3600450"/>
        </p:xfrm>
        <a:graphic xmlns:a="http://schemas.openxmlformats.org/drawingml/2006/main">
          <a:graphicData uri="http://schemas.openxmlformats.org/drawingml/2006/table">
            <a:tbl>
              <a:tblPr firstRow="1" bandRow="0"/>
              <a:tblGrid>
                <a:gridCol w="1905000"/>
                <a:gridCol w="2667000"/>
                <a:gridCol w="3095625"/>
                <a:gridCol w="3381375"/>
              </a:tblGrid>
              <a:tr h="720090">
                <a:tc>
                  <a:txBody>
                    <a:bodyPr lIns="114300" tIns="114300" rIns="114300" bIns="114300"/>
                    <a:lstStyle/>
                    <a:p>
                      <a:pPr algn="l">
                        <a:buNone/>
                      </a:pPr>
                      <a:r>
                        <a:rPr sz="1575" b="1">
                          <a:solidFill>
                            <a:srgbClr val="44364F"/>
                          </a:solidFill>
                          <a:latin typeface="Malgun Gothic"/>
                          <a:ea typeface="Malgun Gothic"/>
                          <a:cs typeface="Malgun Gothic"/>
                        </a:rPr>
                        <a:t>비교 조건</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만들 때 준 정보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한 줄 프롬프트</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PRD·requirements</a:t>
                      </a:r>
                    </a:p>
                    <a:p>
                      <a:pPr algn="ctr">
                        <a:buNone/>
                      </a:pPr>
                      <a:r>
                        <a:rPr sz="1575" b="0">
                          <a:solidFill>
                            <a:srgbClr val="44364F"/>
                          </a:solidFill>
                          <a:latin typeface="Malgun Gothic"/>
                          <a:ea typeface="Malgun Gothic"/>
                          <a:cs typeface="Malgun Gothic"/>
                        </a:rPr>
                        <a:t>레퍼런스 이미지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동일 명세 + CLAUDE.md</a:t>
                      </a:r>
                    </a:p>
                    <a:p>
                      <a:pPr algn="ctr">
                        <a:buNone/>
                      </a:pPr>
                      <a:r>
                        <a:rPr sz="1575" b="0">
                          <a:solidFill>
                            <a:srgbClr val="44364F"/>
                          </a:solidFill>
                          <a:latin typeface="Malgun Gothic"/>
                          <a:ea typeface="Malgun Gothic"/>
                          <a:cs typeface="Malgun Gothic"/>
                        </a:rPr>
                        <a:t>agents·skills·workflow</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작업 방식</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3턴 기록</a:t>
                      </a:r>
                    </a:p>
                    <a:p>
                      <a:pPr algn="ctr">
                        <a:buNone/>
                      </a:pPr>
                      <a:r>
                        <a:rPr sz="1575" b="0">
                          <a:solidFill>
                            <a:srgbClr val="44364F"/>
                          </a:solidFill>
                          <a:latin typeface="Malgun Gothic"/>
                          <a:ea typeface="Malgun Gothic"/>
                          <a:cs typeface="Malgun Gothic"/>
                        </a:rPr>
                        <a:t>실행·로직 설명 요청</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 시 작업 규칙 제외</a:t>
                      </a:r>
                    </a:p>
                    <a:p>
                      <a:pPr algn="ctr">
                        <a:buNone/>
                      </a:pPr>
                      <a:r>
                        <a:rPr sz="1575" b="0">
                          <a:solidFill>
                            <a:srgbClr val="44364F"/>
                          </a:solidFill>
                          <a:latin typeface="Malgun Gothic"/>
                          <a:ea typeface="Malgun Gothic"/>
                          <a:cs typeface="Malgun Gothic"/>
                        </a:rPr>
                        <a:t>검증·기록·배포만 허용</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구현·검증·기록·memory</a:t>
                      </a:r>
                    </a:p>
                    <a:p>
                      <a:pPr algn="ctr">
                        <a:buNone/>
                      </a:pPr>
                      <a:r>
                        <a:rPr sz="1575" b="0">
                          <a:solidFill>
                            <a:srgbClr val="44364F"/>
                          </a:solidFill>
                          <a:latin typeface="Malgun Gothic"/>
                          <a:ea typeface="Malgun Gothic"/>
                          <a:cs typeface="Malgun Gothic"/>
                        </a:rPr>
                        <a:t>릴리즈 순서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구조</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index.html / style.css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validate.js 등</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core / data / ui</a:t>
                      </a:r>
                    </a:p>
                    <a:p>
                      <a:pPr algn="ctr">
                        <a:buNone/>
                      </a:pPr>
                      <a:r>
                        <a:rPr sz="1575" b="0">
                          <a:solidFill>
                            <a:srgbClr val="44364F"/>
                          </a:solidFill>
                          <a:latin typeface="Malgun Gothic"/>
                          <a:ea typeface="Malgun Gothic"/>
                          <a:cs typeface="Malgun Gothic"/>
                        </a:rPr>
                        <a:t>파일당 100줄 이하 규칙</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추가 네 규칙</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미구현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수정 없이 재검증</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명세부터 수정해 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6" name="해석의 한계">
            <a:extLst xmlns:a="http://schemas.openxmlformats.org/drawingml/2006/main">
              <a:ext uri="{FF2B5EF4-FFF2-40B4-BE49-F238E27FC236}">
                <a16:creationId xmlns:a16="http://schemas.microsoft.com/office/drawing/2014/main" id="{8A37CA81-3E68-4907-8696-C98B3A4FC8FC}"/>
              </a:ext>
            </a:extLst>
          </p:cNvPr>
          <p:cNvSpPr>
            <a:spLocks xmlns:a="http://schemas.openxmlformats.org/drawingml/2006/main" noGrp="1"/>
          </p:cNvSpPr>
          <p:nvPr/>
        </p:nvSpPr>
        <p:spPr>
          <a:xfrm xmlns:a="http://schemas.openxmlformats.org/drawingml/2006/main">
            <a:off x="571500" y="5467350"/>
            <a:ext cx="1971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E566D"/>
                </a:solidFill>
                <a:latin typeface="Malgun Gothic"/>
                <a:ea typeface="Malgun Gothic"/>
                <a:cs typeface="Malgun Gothic"/>
              </a:defRPr>
            </a:defPPr>
          </a:lstStyle>
          <a:p xmlns:a="http://schemas.openxmlformats.org/drawingml/2006/main">
            <a:pPr algn="l">
              <a:lnSpc>
                <a:spcPct val="116000"/>
              </a:lnSpc>
              <a:buNone/>
              <a:defRPr sz="1875" b="1">
                <a:solidFill>
                  <a:srgbClr val="AE566D"/>
                </a:solidFill>
                <a:latin typeface="Malgun Gothic"/>
                <a:ea typeface="Malgun Gothic"/>
                <a:cs typeface="Malgun Gothic"/>
              </a:defRPr>
            </a:pPr>
            <a:r>
              <a:rPr sz="1875" b="1">
                <a:solidFill>
                  <a:srgbClr val="AE566D"/>
                </a:solidFill>
                <a:latin typeface="Malgun Gothic"/>
                <a:ea typeface="Malgun Gothic"/>
                <a:cs typeface="Malgun Gothic"/>
              </a:rPr>
              <a:t>해석의 한계</a:t>
            </a:r>
          </a:p>
        </p:txBody>
      </p:sp>
      <p:sp>
        <p:nvSpPr>
          <p:cNvPr id="7" name="claude는 doc 단계의 교훈을 이어받았고 추가 수정도 했다.&#10;따라서 에이전트">
            <a:extLst xmlns:a="http://schemas.openxmlformats.org/drawingml/2006/main">
              <a:ext uri="{FF2B5EF4-FFF2-40B4-BE49-F238E27FC236}">
                <a16:creationId xmlns:a16="http://schemas.microsoft.com/office/drawing/2014/main" id="{61F85B90-0F82-475D-8356-ACF6A35C4AFE}"/>
              </a:ext>
            </a:extLst>
          </p:cNvPr>
          <p:cNvSpPr>
            <a:spLocks xmlns:a="http://schemas.openxmlformats.org/drawingml/2006/main" noGrp="1"/>
          </p:cNvSpPr>
          <p:nvPr/>
        </p:nvSpPr>
        <p:spPr>
          <a:xfrm xmlns:a="http://schemas.openxmlformats.org/drawingml/2006/main">
            <a:off x="2676525" y="5448300"/>
            <a:ext cx="8001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claude는 doc 단계의 교훈을 이어받았고 추가 수정도 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따라서 에이전트 구성 자체의 우월성을 입증한 통제 실험은 아니다.</a:t>
            </a:r>
          </a:p>
        </p:txBody>
      </p:sp>
    </p:spTree>
    <p:extLst>
      <p:ext uri="{BB962C8B-B14F-4D97-AF65-F5344CB8AC3E}">
        <p14:creationId xmlns:p14="http://schemas.microsoft.com/office/powerpoint/2010/main" val="704334773"/>
      </p:ext>
    </p:extLst>
  </p:cSld>
</p:sld>
</file>

<file path=ppt/slides/slide10.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증거 부록  /  열람용">
            <a:extLst xmlns:a="http://schemas.openxmlformats.org/drawingml/2006/main">
              <a:ext uri="{FF2B5EF4-FFF2-40B4-BE49-F238E27FC236}">
                <a16:creationId xmlns:a16="http://schemas.microsoft.com/office/drawing/2014/main" id="{7680B6B0-BFDB-4088-8072-110ACD6CB48F}"/>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3  사례별 프롬프트 기록">
            <a:extLst xmlns:a="http://schemas.openxmlformats.org/drawingml/2006/main">
              <a:ext uri="{FF2B5EF4-FFF2-40B4-BE49-F238E27FC236}">
                <a16:creationId xmlns:a16="http://schemas.microsoft.com/office/drawing/2014/main" id="{0E7787A1-680F-42CE-B5C8-28CB5B5E592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A3  사례별 프롬프트 기록</a:t>
            </a:r>
          </a:p>
        </p:txBody>
      </p:sp>
      <p:sp>
        <p:nvSpPr>
          <p:cNvPr id="3" name="A03">
            <a:extLst xmlns:a="http://schemas.openxmlformats.org/drawingml/2006/main">
              <a:ext uri="{FF2B5EF4-FFF2-40B4-BE49-F238E27FC236}">
                <a16:creationId xmlns:a16="http://schemas.microsoft.com/office/drawing/2014/main" id="{51217E15-3DF6-44AF-8EF2-99461DF2257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A03</a:t>
            </a:r>
          </a:p>
        </p:txBody>
      </p:sp>
      <p:pic>
        <p:nvPicPr>
          <p:cNvPr id="4" name="">
            <a:extLst xmlns:a="http://schemas.openxmlformats.org/drawingml/2006/main">
              <a:ext uri="{FF2B5EF4-FFF2-40B4-BE49-F238E27FC236}">
                <a16:creationId xmlns:a16="http://schemas.microsoft.com/office/drawing/2014/main" id="{6F05392B-DCD4-4026-A975-9CB500E2C196}"/>
              </a:ext>
            </a:extLst>
          </p:cNvPr>
          <p:cNvPicPr>
            <a:picLocks xmlns:a="http://schemas.openxmlformats.org/drawingml/2006/main" noChangeAspect="1"/>
          </p:cNvPicPr>
          <p:nvPr/>
        </p:nvPicPr>
        <p:blipFill>
          <a:blip xmlns:r="http://schemas.openxmlformats.org/officeDocument/2006/relationships" xmlns:a="http://schemas.openxmlformats.org/drawingml/2006/main" r:embed="R06ba929fb0fb4b8a"/>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사례 1  개입하지 않음  /  phase0 3턴">
            <a:extLst xmlns:a="http://schemas.openxmlformats.org/drawingml/2006/main">
              <a:ext uri="{FF2B5EF4-FFF2-40B4-BE49-F238E27FC236}">
                <a16:creationId xmlns:a16="http://schemas.microsoft.com/office/drawing/2014/main" id="{2838905A-56CD-4A09-8E4B-C9064C4A9514}"/>
              </a:ext>
            </a:extLst>
          </p:cNvPr>
          <p:cNvSpPr>
            <a:spLocks xmlns:a="http://schemas.openxmlformats.org/drawingml/2006/main" noGrp="1"/>
          </p:cNvSpPr>
          <p:nvPr/>
        </p:nvSpPr>
        <p:spPr>
          <a:xfrm xmlns:a="http://schemas.openxmlformats.org/drawingml/2006/main">
            <a:off x="571500" y="15240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사례 1  개입하지 않음 / Phase 0 UI·UX 유지</a:t>
            </a:r>
          </a:p>
        </p:txBody>
      </p:sp>
      <p:sp>
        <p:nvSpPr>
          <p:cNvPr id="6" name="“정산 로직에 대해서 설명해줘”">
            <a:extLst xmlns:a="http://schemas.openxmlformats.org/drawingml/2006/main">
              <a:ext uri="{FF2B5EF4-FFF2-40B4-BE49-F238E27FC236}">
                <a16:creationId xmlns:a16="http://schemas.microsoft.com/office/drawing/2014/main" id="{55942219-9176-4D3D-930F-9441CB9CBE7B}"/>
              </a:ext>
            </a:extLst>
          </p:cNvPr>
          <p:cNvSpPr>
            <a:spLocks xmlns:a="http://schemas.openxmlformats.org/drawingml/2006/main" noGrp="1"/>
          </p:cNvSpPr>
          <p:nvPr/>
        </p:nvSpPr>
        <p:spPr>
          <a:xfrm xmlns:a="http://schemas.openxmlformats.org/drawingml/2006/main">
            <a:off x="571500" y="1924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0  “모임 더치페이 정산 웹앱만들어줘”</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2  “phase2-doc workflow에 따라 실행. phase2/doc 브랜치가 없으면 만들어 거기서 시작”</a:t>
            </a:r>
          </a:p>
        </p:txBody>
      </p:sp>
      <p:sp>
        <p:nvSpPr>
          <p:cNvPr id="7" name="사례 2  개입함  /  P2D-02">
            <a:extLst xmlns:a="http://schemas.openxmlformats.org/drawingml/2006/main">
              <a:ext uri="{FF2B5EF4-FFF2-40B4-BE49-F238E27FC236}">
                <a16:creationId xmlns:a16="http://schemas.microsoft.com/office/drawing/2014/main" id="{DA9E3B0A-3274-4927-A8BB-1727D1572465}"/>
              </a:ext>
            </a:extLst>
          </p:cNvPr>
          <p:cNvSpPr>
            <a:spLocks xmlns:a="http://schemas.openxmlformats.org/drawingml/2006/main" noGrp="1"/>
          </p:cNvSpPr>
          <p:nvPr/>
        </p:nvSpPr>
        <p:spPr>
          <a:xfrm xmlns:a="http://schemas.openxmlformats.org/drawingml/2006/main">
            <a:off x="571500" y="26384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2  개입함  /  P2D-02</a:t>
            </a:r>
          </a:p>
        </p:txBody>
      </p:sp>
      <p:sp>
        <p:nvSpPr>
          <p:cNvPr id="8" name="“가정 처리를 실패로 기록, 스크립트 재작성, 예외처리 수정,&#10;명세서·test.m">
            <a:extLst xmlns:a="http://schemas.openxmlformats.org/drawingml/2006/main">
              <a:ext uri="{FF2B5EF4-FFF2-40B4-BE49-F238E27FC236}">
                <a16:creationId xmlns:a16="http://schemas.microsoft.com/office/drawing/2014/main" id="{1C919884-6EA7-4071-BB2A-8F6A77B9C8F9}"/>
              </a:ext>
            </a:extLst>
          </p:cNvPr>
          <p:cNvSpPr>
            <a:spLocks xmlns:a="http://schemas.openxmlformats.org/drawingml/2006/main" noGrp="1"/>
          </p:cNvSpPr>
          <p:nvPr/>
        </p:nvSpPr>
        <p:spPr>
          <a:xfrm xmlns:a="http://schemas.openxmlformats.org/drawingml/2006/main">
            <a:off x="571500" y="30575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“가정 처리를 실패로 기록, 스크립트 재작성, 예외처리 수정,</a:t>
            </a:r>
          </a:p>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명세서·test.md 반영, 작업마다 commit”</a:t>
            </a:r>
          </a:p>
        </p:txBody>
      </p:sp>
      <p:sp>
        <p:nvSpPr>
          <p:cNvPr id="9" name="사례 3  개입함  /  P2C-02, P2C-03">
            <a:extLst xmlns:a="http://schemas.openxmlformats.org/drawingml/2006/main">
              <a:ext uri="{FF2B5EF4-FFF2-40B4-BE49-F238E27FC236}">
                <a16:creationId xmlns:a16="http://schemas.microsoft.com/office/drawing/2014/main" id="{F65E0947-8AB9-48A6-B3A4-864052529649}"/>
              </a:ext>
            </a:extLst>
          </p:cNvPr>
          <p:cNvSpPr>
            <a:spLocks xmlns:a="http://schemas.openxmlformats.org/drawingml/2006/main" noGrp="1"/>
          </p:cNvSpPr>
          <p:nvPr/>
        </p:nvSpPr>
        <p:spPr>
          <a:xfrm xmlns:a="http://schemas.openxmlformats.org/drawingml/2006/main">
            <a:off x="571500" y="40862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3  개입함  /  P2C-02, P2C-03</a:t>
            </a:r>
          </a:p>
        </p:txBody>
      </p:sp>
      <p:sp>
        <p:nvSpPr>
          <p:cNvPr id="10" name="“workflow phase2-claude_flow 실행”">
            <a:extLst xmlns:a="http://schemas.openxmlformats.org/drawingml/2006/main">
              <a:ext uri="{FF2B5EF4-FFF2-40B4-BE49-F238E27FC236}">
                <a16:creationId xmlns:a16="http://schemas.microsoft.com/office/drawing/2014/main" id="{1910E3D9-211F-4D2D-999A-00F7807227C6}"/>
              </a:ext>
            </a:extLst>
          </p:cNvPr>
          <p:cNvSpPr>
            <a:spLocks xmlns:a="http://schemas.openxmlformats.org/drawingml/2006/main" noGrp="1"/>
          </p:cNvSpPr>
          <p:nvPr/>
        </p:nvSpPr>
        <p:spPr>
          <a:xfrm xmlns:a="http://schemas.openxmlformats.org/drawingml/2006/main">
            <a:off x="571500" y="45053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“workflow phase2-claude_flow 실행”</a:t>
            </a:r>
          </a:p>
        </p:txBody>
      </p:sp>
      <p:sp>
        <p:nvSpPr>
          <p:cNvPr id="11" name="변경 요청: 감면율 정수만 / 동명이인 (1)(2) / 결제자는 함께한 사람에 포">
            <a:extLst xmlns:a="http://schemas.openxmlformats.org/drawingml/2006/main">
              <a:ext uri="{FF2B5EF4-FFF2-40B4-BE49-F238E27FC236}">
                <a16:creationId xmlns:a16="http://schemas.microsoft.com/office/drawing/2014/main" id="{0C44C6AA-5D2F-4F76-915A-2D9FFD98E93E}"/>
              </a:ext>
            </a:extLst>
          </p:cNvPr>
          <p:cNvSpPr>
            <a:spLocks xmlns:a="http://schemas.openxmlformats.org/drawingml/2006/main" noGrp="1"/>
          </p:cNvSpPr>
          <p:nvPr/>
        </p:nvSpPr>
        <p:spPr>
          <a:xfrm xmlns:a="http://schemas.openxmlformats.org/drawingml/2006/main">
            <a:off x="571500" y="501015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변경 요청: 감면율 정수만 / 동명이인 (1)(2) / 결제자는 함께한 사람에 포함(아니면 예외처리)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수정 저장 시 잔여 선택 유지 / 기능별 스크린샷. change·test_change workflow 실행 후</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phase2/doc에도 같은 test 적용</a:t>
            </a:r>
          </a:p>
        </p:txBody>
      </p:sp>
      <p:sp>
        <p:nvSpPr>
          <p:cNvPr id="12" name="위 문구는 reflection의 Turn 표 기록을 그대로 옮겼다. 별도 대화 전">
            <a:extLst xmlns:a="http://schemas.openxmlformats.org/drawingml/2006/main">
              <a:ext uri="{FF2B5EF4-FFF2-40B4-BE49-F238E27FC236}">
                <a16:creationId xmlns:a16="http://schemas.microsoft.com/office/drawing/2014/main" id="{C7DE5663-71FA-490B-8174-245D1A5900D3}"/>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사례 1은 개발자가 제공한 원문(2026-10-12), 사례 2·3은 reflection의 Turn 기록을 옮겼다.</a:t>
            </a:r>
          </a:p>
        </p:txBody>
      </p:sp>
    </p:spTree>
    <p:extLst>
      <p:ext uri="{BB962C8B-B14F-4D97-AF65-F5344CB8AC3E}">
        <p14:creationId xmlns:p14="http://schemas.microsoft.com/office/powerpoint/2010/main" val="2133539215"/>
      </p:ext>
    </p:extLst>
  </p:cSld>
</p:sld>
</file>

<file path=ppt/slides/slide1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7" name="증거 부록  /  열람용">
            <a:extLst xmlns:a="http://schemas.openxmlformats.org/drawingml/2006/main">
              <a:ext uri="{FF2B5EF4-FFF2-40B4-BE49-F238E27FC236}">
                <a16:creationId xmlns:a16="http://schemas.microsoft.com/office/drawing/2014/main" id="{3D7E2A61-2E41-4FDB-A527-BE52605E028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4  판단을 확인할 수 있는 커밋">
            <a:extLst xmlns:a="http://schemas.openxmlformats.org/drawingml/2006/main">
              <a:ext uri="{FF2B5EF4-FFF2-40B4-BE49-F238E27FC236}">
                <a16:creationId xmlns:a16="http://schemas.microsoft.com/office/drawing/2014/main" id="{BD0FECA0-A86A-421F-81AE-6A1E4AAF3FB9}"/>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A4  판단을 확인할 수 있는 커밋</a:t>
            </a:r>
          </a:p>
        </p:txBody>
      </p:sp>
      <p:sp>
        <p:nvSpPr>
          <p:cNvPr id="3" name="A04">
            <a:extLst xmlns:a="http://schemas.openxmlformats.org/drawingml/2006/main">
              <a:ext uri="{FF2B5EF4-FFF2-40B4-BE49-F238E27FC236}">
                <a16:creationId xmlns:a16="http://schemas.microsoft.com/office/drawing/2014/main" id="{BCC43A46-A8CF-40C3-B60B-C595829BA6D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A04</a:t>
            </a:r>
          </a:p>
        </p:txBody>
      </p:sp>
      <p:pic>
        <p:nvPicPr>
          <p:cNvPr id="4" name="">
            <a:extLst xmlns:a="http://schemas.openxmlformats.org/drawingml/2006/main">
              <a:ext uri="{FF2B5EF4-FFF2-40B4-BE49-F238E27FC236}">
                <a16:creationId xmlns:a16="http://schemas.microsoft.com/office/drawing/2014/main" id="{AF11E1F5-6942-45E4-A61E-099D1B02EF4B}"/>
              </a:ext>
            </a:extLst>
          </p:cNvPr>
          <p:cNvPicPr>
            <a:picLocks xmlns:a="http://schemas.openxmlformats.org/drawingml/2006/main" noChangeAspect="1"/>
          </p:cNvPicPr>
          <p:nvPr/>
        </p:nvPicPr>
        <p:blipFill>
          <a:blip xmlns:r="http://schemas.openxmlformats.org/officeDocument/2006/relationships" xmlns:a="http://schemas.openxmlformats.org/drawingml/2006/main" r:embed="R0faec141f1424bfd"/>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7CE378E6-939E-4900-A788-EAEE86E61FEF}"/>
              </a:ext>
            </a:extLst>
          </p:cNvPr>
          <p:cNvGraphicFramePr/>
          <p:nvPr/>
        </p:nvGraphicFramePr>
        <p:xfrm>
          <a:off xmlns:a="http://schemas.openxmlformats.org/drawingml/2006/main" x="571500" y="1571625"/>
          <a:ext xmlns:a="http://schemas.openxmlformats.org/drawingml/2006/main" cx="11049000" cy="4057650"/>
        </p:xfrm>
        <a:graphic xmlns:a="http://schemas.openxmlformats.org/drawingml/2006/main">
          <a:graphicData uri="http://schemas.openxmlformats.org/drawingml/2006/table">
            <a:tbl>
              <a:tblPr firstRow="1" bandRow="0"/>
              <a:tblGrid>
                <a:gridCol w="2819400"/>
                <a:gridCol w="2514600"/>
                <a:gridCol w="5715000"/>
              </a:tblGrid>
              <a:tr h="507206">
                <a:tc>
                  <a:txBody>
                    <a:bodyPr lIns="114300" tIns="114300" rIns="114300" bIns="114300"/>
                    <a:lstStyle/>
                    <a:p>
                      <a:pPr algn="l">
                        <a:buNone/>
                      </a:pPr>
                      <a:r>
                        <a:rPr sz="1575" b="1">
                          <a:solidFill>
                            <a:srgbClr val="44364F"/>
                          </a:solidFill>
                          <a:latin typeface="Malgun Gothic"/>
                          <a:ea typeface="Malgun Gothic"/>
                          <a:cs typeface="Malgun Gothic"/>
                        </a:rPr>
                        <a:t>사례 / 목적</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커밋</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바뀐 내용</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초기 기준점</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5aec953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phase0-baseline 태그의 실제 소스</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PASS 기준 개정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d795cb1</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 미정의 가정은 FAIL, 로그 판정 일치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규칙을 코드로 반영</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0aa2728</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검증·비활성 처리, validate.js 추가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명세와 테스트 기준 확정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6edfeba / 96f46ae</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0~N-1명·과거 지출 유지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규칙을 명세화</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d2ad84c</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정수 감면·동명이인·결제자·잔여 선택</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 구현</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9e44c3f</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4파일 변경, +55 / -11줄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변경 규칙 테스트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7c37273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로직 124건 + UI 29건으로 확장</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로그 커밋: doc test05 = 60e02d0  /  claude test06">
            <a:extLst xmlns:a="http://schemas.openxmlformats.org/drawingml/2006/main">
              <a:ext uri="{FF2B5EF4-FFF2-40B4-BE49-F238E27FC236}">
                <a16:creationId xmlns:a16="http://schemas.microsoft.com/office/drawing/2014/main" id="{0F5BD130-F8AE-4B32-9698-DB5C937BD5F2}"/>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로그 커밋: doc test05 = 60e02d0  /  claude test06 = 8df451b  /  phase0 test07 = b125d8d</a:t>
            </a:r>
          </a:p>
        </p:txBody>
      </p:sp>
    </p:spTree>
    <p:extLst>
      <p:ext uri="{BB962C8B-B14F-4D97-AF65-F5344CB8AC3E}">
        <p14:creationId xmlns:p14="http://schemas.microsoft.com/office/powerpoint/2010/main" val="1684576612"/>
      </p:ext>
    </p:extLst>
  </p:cSld>
</p:sld>
</file>

<file path=ppt/slides/slide1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증거 부록  /  열람용">
            <a:extLst xmlns:a="http://schemas.openxmlformats.org/drawingml/2006/main">
              <a:ext uri="{FF2B5EF4-FFF2-40B4-BE49-F238E27FC236}">
                <a16:creationId xmlns:a16="http://schemas.microsoft.com/office/drawing/2014/main" id="{30DEB2E4-16E5-450F-AB01-4817C892E4B6}"/>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5  소수 감면율과 결제자 포함의 전후">
            <a:extLst xmlns:a="http://schemas.openxmlformats.org/drawingml/2006/main">
              <a:ext uri="{FF2B5EF4-FFF2-40B4-BE49-F238E27FC236}">
                <a16:creationId xmlns:a16="http://schemas.microsoft.com/office/drawing/2014/main" id="{AD28374B-585B-4B9D-BF1D-1EA35B5C8003}"/>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A5  소수 감면율과 결제자 포함의 전후</a:t>
            </a:r>
          </a:p>
        </p:txBody>
      </p:sp>
      <p:sp>
        <p:nvSpPr>
          <p:cNvPr id="3" name="A05">
            <a:extLst xmlns:a="http://schemas.openxmlformats.org/drawingml/2006/main">
              <a:ext uri="{FF2B5EF4-FFF2-40B4-BE49-F238E27FC236}">
                <a16:creationId xmlns:a16="http://schemas.microsoft.com/office/drawing/2014/main" id="{FFFC632E-184D-44EA-A5B3-C41765A844E3}"/>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A05</a:t>
            </a:r>
          </a:p>
        </p:txBody>
      </p:sp>
      <p:pic>
        <p:nvPicPr>
          <p:cNvPr id="4" name="">
            <a:extLst xmlns:a="http://schemas.openxmlformats.org/drawingml/2006/main">
              <a:ext uri="{FF2B5EF4-FFF2-40B4-BE49-F238E27FC236}">
                <a16:creationId xmlns:a16="http://schemas.microsoft.com/office/drawing/2014/main" id="{96AFEE5E-32D6-43E6-97C4-ABDC66C26797}"/>
              </a:ext>
            </a:extLst>
          </p:cNvPr>
          <p:cNvPicPr>
            <a:picLocks xmlns:a="http://schemas.openxmlformats.org/drawingml/2006/main" noChangeAspect="1"/>
          </p:cNvPicPr>
          <p:nvPr/>
        </p:nvPicPr>
        <p:blipFill>
          <a:blip xmlns:r="http://schemas.openxmlformats.org/officeDocument/2006/relationships" xmlns:a="http://schemas.openxmlformats.org/drawingml/2006/main" r:embed="Rc7198b808c534651"/>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phase2/doc  test05">
            <a:extLst xmlns:a="http://schemas.openxmlformats.org/drawingml/2006/main">
              <a:ext uri="{FF2B5EF4-FFF2-40B4-BE49-F238E27FC236}">
                <a16:creationId xmlns:a16="http://schemas.microsoft.com/office/drawing/2014/main" id="{BBC7CD1D-0724-458A-B3B9-470AECF37197}"/>
              </a:ext>
            </a:extLst>
          </p:cNvPr>
          <p:cNvSpPr>
            <a:spLocks xmlns:a="http://schemas.openxmlformats.org/drawingml/2006/main" noGrp="1"/>
          </p:cNvSpPr>
          <p:nvPr/>
        </p:nvSpPr>
        <p:spPr>
          <a:xfrm xmlns:a="http://schemas.openxmlformats.org/drawingml/2006/main">
            <a:off x="571500" y="155257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phase2/doc  test05</a:t>
            </a:r>
          </a:p>
        </p:txBody>
      </p:sp>
      <p:sp>
        <p:nvSpPr>
          <p:cNvPr id="6" name="12.5가 125로 입력되고 안내가 없었다.&#10;소수 감면율 지출을 계산에서도 제외하">
            <a:extLst xmlns:a="http://schemas.openxmlformats.org/drawingml/2006/main">
              <a:ext uri="{FF2B5EF4-FFF2-40B4-BE49-F238E27FC236}">
                <a16:creationId xmlns:a16="http://schemas.microsoft.com/office/drawing/2014/main" id="{A0365AB6-3950-4098-894A-23A3A26ED6B9}"/>
              </a:ext>
            </a:extLst>
          </p:cNvPr>
          <p:cNvSpPr>
            <a:spLocks xmlns:a="http://schemas.openxmlformats.org/drawingml/2006/main" noGrp="1"/>
          </p:cNvSpPr>
          <p:nvPr/>
        </p:nvSpPr>
        <p:spPr>
          <a:xfrm xmlns:a="http://schemas.openxmlformats.org/drawingml/2006/main">
            <a:off x="571500" y="2066925"/>
            <a:ext cx="5381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12.5가 125로 입력되고 안내가 없었다.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소수 감면율 지출을 계산에서도 제외하지 않았다.</a:t>
            </a:r>
          </a:p>
        </p:txBody>
      </p:sp>
      <p:sp>
        <p:nvSpPr>
          <p:cNvPr id="7" name="정상 지출 50,000원 + 잘못된 지출 50,000원&#10;기대 총액 50,000원 ">
            <a:extLst xmlns:a="http://schemas.openxmlformats.org/drawingml/2006/main">
              <a:ext uri="{FF2B5EF4-FFF2-40B4-BE49-F238E27FC236}">
                <a16:creationId xmlns:a16="http://schemas.microsoft.com/office/drawing/2014/main" id="{12E25BE2-1FAB-46F9-A187-7101E161479E}"/>
              </a:ext>
            </a:extLst>
          </p:cNvPr>
          <p:cNvSpPr>
            <a:spLocks xmlns:a="http://schemas.openxmlformats.org/drawingml/2006/main" noGrp="1"/>
          </p:cNvSpPr>
          <p:nvPr/>
        </p:nvSpPr>
        <p:spPr>
          <a:xfrm xmlns:a="http://schemas.openxmlformats.org/drawingml/2006/main">
            <a:off x="571500" y="3200400"/>
            <a:ext cx="5381625" cy="800100"/>
          </a:xfrm>
          <a:prstGeom xmlns:a="http://schemas.openxmlformats.org/drawingml/2006/main" prst="rect">
            <a:avLst/>
          </a:prstGeom>
          <a:solidFill xmlns:a="http://schemas.openxmlformats.org/drawingml/2006/main">
            <a:srgbClr val="F7E2D7"/>
          </a:solidFill>
          <a:ln xmlns:a="http://schemas.openxmlformats.org/drawingml/2006/main" w="0">
            <a:noFill/>
          </a:ln>
        </p:spPr>
        <p:txBody>
          <a:bodyPr xmlns:a="http://schemas.openxmlformats.org/drawingml/2006/main" wrap="square" lIns="142875" tIns="142875" rIns="142875" bIns="142875"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지출 50,000원 + 잘못된 지출 50,000원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100,000원</a:t>
            </a:r>
          </a:p>
        </p:txBody>
      </p:sp>
      <p:sp>
        <p:nvSpPr>
          <p:cNvPr id="8" name="결제자가 함께한 사람에 없는 지출도 통과.&#10;정상 50,000원 + 잘못된 30,0">
            <a:extLst xmlns:a="http://schemas.openxmlformats.org/drawingml/2006/main">
              <a:ext uri="{FF2B5EF4-FFF2-40B4-BE49-F238E27FC236}">
                <a16:creationId xmlns:a16="http://schemas.microsoft.com/office/drawing/2014/main" id="{48F6429C-4688-4259-939B-3D6E79E6C85C}"/>
              </a:ext>
            </a:extLst>
          </p:cNvPr>
          <p:cNvSpPr>
            <a:spLocks xmlns:a="http://schemas.openxmlformats.org/drawingml/2006/main" noGrp="1"/>
          </p:cNvSpPr>
          <p:nvPr/>
        </p:nvSpPr>
        <p:spPr>
          <a:xfrm xmlns:a="http://schemas.openxmlformats.org/drawingml/2006/main">
            <a:off x="571500" y="4381500"/>
            <a:ext cx="538162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결제자가 함께한 사람에 없는 지출도 통과.</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50,000원 + 잘못된 30,000원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80,000원</a:t>
            </a:r>
          </a:p>
        </p:txBody>
      </p:sp>
      <p:sp>
        <p:nvSpPr>
          <p:cNvPr id="9" name="phase2/claude  test06">
            <a:extLst xmlns:a="http://schemas.openxmlformats.org/drawingml/2006/main">
              <a:ext uri="{FF2B5EF4-FFF2-40B4-BE49-F238E27FC236}">
                <a16:creationId xmlns:a16="http://schemas.microsoft.com/office/drawing/2014/main" id="{03506327-76FB-4845-912B-55B185B2F6B9}"/>
              </a:ext>
            </a:extLst>
          </p:cNvPr>
          <p:cNvSpPr>
            <a:spLocks xmlns:a="http://schemas.openxmlformats.org/drawingml/2006/main" noGrp="1"/>
          </p:cNvSpPr>
          <p:nvPr/>
        </p:nvSpPr>
        <p:spPr>
          <a:xfrm xmlns:a="http://schemas.openxmlformats.org/drawingml/2006/main">
            <a:off x="6657975" y="155257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phase2/claude  test06</a:t>
            </a:r>
          </a:p>
        </p:txBody>
      </p:sp>
      <p:pic>
        <p:nvPicPr>
          <p:cNvPr id="10" name="">
            <a:extLst xmlns:a="http://schemas.openxmlformats.org/drawingml/2006/main">
              <a:ext uri="{FF2B5EF4-FFF2-40B4-BE49-F238E27FC236}">
                <a16:creationId xmlns:a16="http://schemas.microsoft.com/office/drawing/2014/main" id="{ADCDDBF4-1363-4552-93D2-39A8AD8E6E76}"/>
              </a:ext>
            </a:extLst>
          </p:cNvPr>
          <p:cNvPicPr>
            <a:picLocks xmlns:a="http://schemas.openxmlformats.org/drawingml/2006/main" noChangeAspect="1"/>
          </p:cNvPicPr>
          <p:nvPr/>
        </p:nvPicPr>
        <p:blipFill>
          <a:blip xmlns:r="http://schemas.openxmlformats.org/officeDocument/2006/relationships" xmlns:a="http://schemas.openxmlformats.org/drawingml/2006/main" r:embed="Rb3dabaadad234036"/>
          <a:srcRect xmlns:a="http://schemas.openxmlformats.org/drawingml/2006/main" l="3256" t="28232" r="3256" b="54260"/>
          <a:stretch xmlns:a="http://schemas.openxmlformats.org/drawingml/2006/main"/>
        </p:blipFill>
        <p:spPr>
          <a:xfrm xmlns:a="http://schemas.openxmlformats.org/drawingml/2006/main">
            <a:off x="6629400" y="2344951"/>
            <a:ext cx="2305050" cy="236812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9BFD8DE6-19F8-4BFB-B9BC-1AE892828558}"/>
              </a:ext>
            </a:extLst>
          </p:cNvPr>
          <p:cNvPicPr>
            <a:picLocks xmlns:a="http://schemas.openxmlformats.org/drawingml/2006/main" noChangeAspect="1"/>
          </p:cNvPicPr>
          <p:nvPr/>
        </p:nvPicPr>
        <p:blipFill>
          <a:blip xmlns:r="http://schemas.openxmlformats.org/officeDocument/2006/relationships" xmlns:a="http://schemas.openxmlformats.org/drawingml/2006/main" r:embed="Rbf9129e87c884b44"/>
          <a:srcRect xmlns:a="http://schemas.openxmlformats.org/drawingml/2006/main" l="3256" t="26034" r="3256" b="53853"/>
          <a:stretch xmlns:a="http://schemas.openxmlformats.org/drawingml/2006/main"/>
        </p:blipFill>
        <p:spPr>
          <a:xfrm xmlns:a="http://schemas.openxmlformats.org/drawingml/2006/main">
            <a:off x="9220200" y="2204469"/>
            <a:ext cx="2305050" cy="2649087"/>
          </a:xfrm>
          <a:prstGeom xmlns:a="http://schemas.openxmlformats.org/drawingml/2006/main" prst="rect">
            <a:avLst/>
          </a:prstGeom>
        </p:spPr>
      </p:pic>
      <p:sp>
        <p:nvSpPr>
          <p:cNvPr id="12" name="소수 입력 시 정수 안내&#10;UI는 12만 남김">
            <a:extLst xmlns:a="http://schemas.openxmlformats.org/drawingml/2006/main">
              <a:ext uri="{FF2B5EF4-FFF2-40B4-BE49-F238E27FC236}">
                <a16:creationId xmlns:a16="http://schemas.microsoft.com/office/drawing/2014/main" id="{12580E70-754F-4B2C-9716-8DDD53192218}"/>
              </a:ext>
            </a:extLst>
          </p:cNvPr>
          <p:cNvSpPr>
            <a:spLocks xmlns:a="http://schemas.openxmlformats.org/drawingml/2006/main" noGrp="1"/>
          </p:cNvSpPr>
          <p:nvPr/>
        </p:nvSpPr>
        <p:spPr>
          <a:xfrm xmlns:a="http://schemas.openxmlformats.org/drawingml/2006/main">
            <a:off x="6638925" y="5095875"/>
            <a:ext cx="2324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소수 입력 시 정수 안내</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UI는 12만 남김</a:t>
            </a:r>
          </a:p>
        </p:txBody>
      </p:sp>
      <p:sp>
        <p:nvSpPr>
          <p:cNvPr id="13" name="결제자 미포함 시&#10;지출 추가 거부">
            <a:extLst xmlns:a="http://schemas.openxmlformats.org/drawingml/2006/main">
              <a:ext uri="{FF2B5EF4-FFF2-40B4-BE49-F238E27FC236}">
                <a16:creationId xmlns:a16="http://schemas.microsoft.com/office/drawing/2014/main" id="{8C814527-B420-4086-BB4A-AF2162B6FCCA}"/>
              </a:ext>
            </a:extLst>
          </p:cNvPr>
          <p:cNvSpPr>
            <a:spLocks xmlns:a="http://schemas.openxmlformats.org/drawingml/2006/main" noGrp="1"/>
          </p:cNvSpPr>
          <p:nvPr/>
        </p:nvSpPr>
        <p:spPr>
          <a:xfrm xmlns:a="http://schemas.openxmlformats.org/drawingml/2006/main">
            <a:off x="9220200" y="5095875"/>
            <a:ext cx="23050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결제자 미포함 시</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지출 추가 거부</a:t>
            </a:r>
          </a:p>
        </p:txBody>
      </p:sp>
      <p:sp>
        <p:nvSpPr>
          <p:cNvPr id="14" name="UI 처리와 계산 검증을 구분: UI는 소수 부분을 제거하고 안내한다. core는">
            <a:extLst xmlns:a="http://schemas.openxmlformats.org/drawingml/2006/main">
              <a:ext uri="{FF2B5EF4-FFF2-40B4-BE49-F238E27FC236}">
                <a16:creationId xmlns:a16="http://schemas.microsoft.com/office/drawing/2014/main" id="{9BFE8E43-16A0-46C7-852F-21A2DC1AEF00}"/>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UI 처리와 계산 검증을 구분: UI는 소수 부분을 제거하고 안내한다. core는 소수 감면율 지출 자체를 거부한다.</a:t>
            </a:r>
          </a:p>
        </p:txBody>
      </p:sp>
    </p:spTree>
    <p:extLst>
      <p:ext uri="{BB962C8B-B14F-4D97-AF65-F5344CB8AC3E}">
        <p14:creationId xmlns:p14="http://schemas.microsoft.com/office/powerpoint/2010/main" val="220227372"/>
      </p:ext>
    </p:extLst>
  </p:cSld>
</p:sld>
</file>

<file path=ppt/slides/slide1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증거 부록  /  열람용">
            <a:extLst xmlns:a="http://schemas.openxmlformats.org/drawingml/2006/main">
              <a:ext uri="{FF2B5EF4-FFF2-40B4-BE49-F238E27FC236}">
                <a16:creationId xmlns:a16="http://schemas.microsoft.com/office/drawing/2014/main" id="{0AA8A83A-5D2B-4597-9F09-C4733FF6FE7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6  재현 경로와 남은 확인 범위">
            <a:extLst xmlns:a="http://schemas.openxmlformats.org/drawingml/2006/main">
              <a:ext uri="{FF2B5EF4-FFF2-40B4-BE49-F238E27FC236}">
                <a16:creationId xmlns:a16="http://schemas.microsoft.com/office/drawing/2014/main" id="{0697FFDC-C730-4773-8503-79755DAC75D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A6  재현 경로와 남은 확인 범위</a:t>
            </a:r>
          </a:p>
        </p:txBody>
      </p:sp>
      <p:sp>
        <p:nvSpPr>
          <p:cNvPr id="3" name="A06">
            <a:extLst xmlns:a="http://schemas.openxmlformats.org/drawingml/2006/main">
              <a:ext uri="{FF2B5EF4-FFF2-40B4-BE49-F238E27FC236}">
                <a16:creationId xmlns:a16="http://schemas.microsoft.com/office/drawing/2014/main" id="{78E9DE7E-3145-4BDE-A31C-6E23DEF7220F}"/>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A06</a:t>
            </a:r>
          </a:p>
        </p:txBody>
      </p:sp>
      <p:pic>
        <p:nvPicPr>
          <p:cNvPr id="4" name="">
            <a:extLst xmlns:a="http://schemas.openxmlformats.org/drawingml/2006/main">
              <a:ext uri="{FF2B5EF4-FFF2-40B4-BE49-F238E27FC236}">
                <a16:creationId xmlns:a16="http://schemas.microsoft.com/office/drawing/2014/main" id="{EA4FA0DB-AD7D-4781-97B5-6A7AB67EAA95}"/>
              </a:ext>
            </a:extLst>
          </p:cNvPr>
          <p:cNvPicPr>
            <a:picLocks xmlns:a="http://schemas.openxmlformats.org/drawingml/2006/main" noChangeAspect="1"/>
          </p:cNvPicPr>
          <p:nvPr/>
        </p:nvPicPr>
        <p:blipFill>
          <a:blip xmlns:r="http://schemas.openxmlformats.org/officeDocument/2006/relationships" xmlns:a="http://schemas.openxmlformats.org/drawingml/2006/main" r:embed="R353998279a0f460a"/>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로그 찾기">
            <a:extLst xmlns:a="http://schemas.openxmlformats.org/drawingml/2006/main">
              <a:ext uri="{FF2B5EF4-FFF2-40B4-BE49-F238E27FC236}">
                <a16:creationId xmlns:a16="http://schemas.microsoft.com/office/drawing/2014/main" id="{909967A8-CB5F-4C82-9A3B-816E9CE83C87}"/>
              </a:ext>
            </a:extLst>
          </p:cNvPr>
          <p:cNvSpPr>
            <a:spLocks xmlns:a="http://schemas.openxmlformats.org/drawingml/2006/main" noGrp="1"/>
          </p:cNvSpPr>
          <p:nvPr/>
        </p:nvSpPr>
        <p:spPr>
          <a:xfrm xmlns:a="http://schemas.openxmlformats.org/drawingml/2006/main">
            <a:off x="571500" y="15430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로그 찾기</a:t>
            </a:r>
          </a:p>
        </p:txBody>
      </p:sp>
      <p:sp>
        <p:nvSpPr>
          <p:cNvPr id="6" name="phase0  :  phase2/claude의 docs/log/testlog/te">
            <a:extLst xmlns:a="http://schemas.openxmlformats.org/drawingml/2006/main">
              <a:ext uri="{FF2B5EF4-FFF2-40B4-BE49-F238E27FC236}">
                <a16:creationId xmlns:a16="http://schemas.microsoft.com/office/drawing/2014/main" id="{69D3CDD5-8132-4190-9601-21B799AC1BF5}"/>
              </a:ext>
            </a:extLst>
          </p:cNvPr>
          <p:cNvSpPr>
            <a:spLocks xmlns:a="http://schemas.openxmlformats.org/drawingml/2006/main" noGrp="1"/>
          </p:cNvSpPr>
          <p:nvPr/>
        </p:nvSpPr>
        <p:spPr>
          <a:xfrm xmlns:a="http://schemas.openxmlformats.org/drawingml/2006/main">
            <a:off x="3000375" y="1514475"/>
            <a:ext cx="842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  phase2/claude의 docs/log/testlog/test07.md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  해당 브랜치의 docs/log/testlog/test05.md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  docs/log/testlog/test06.md</a:t>
            </a:r>
          </a:p>
        </p:txBody>
      </p:sp>
      <p:sp>
        <p:nvSpPr>
          <p:cNvPr id="7" name="재실행">
            <a:extLst xmlns:a="http://schemas.openxmlformats.org/drawingml/2006/main">
              <a:ext uri="{FF2B5EF4-FFF2-40B4-BE49-F238E27FC236}">
                <a16:creationId xmlns:a16="http://schemas.microsoft.com/office/drawing/2014/main" id="{8BF67425-E96B-4AA1-AAB5-0AFB3292ECE4}"/>
              </a:ext>
            </a:extLst>
          </p:cNvPr>
          <p:cNvSpPr>
            <a:spLocks xmlns:a="http://schemas.openxmlformats.org/drawingml/2006/main" noGrp="1"/>
          </p:cNvSpPr>
          <p:nvPr/>
        </p:nvSpPr>
        <p:spPr>
          <a:xfrm xmlns:a="http://schemas.openxmlformats.org/drawingml/2006/main">
            <a:off x="571500" y="29527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재실행</a:t>
            </a:r>
          </a:p>
        </p:txBody>
      </p:sp>
      <p:sp>
        <p:nvSpPr>
          <p:cNvPr id="8" name="phase2/claude   node scripts/test/run_tests.j">
            <a:extLst xmlns:a="http://schemas.openxmlformats.org/drawingml/2006/main">
              <a:ext uri="{FF2B5EF4-FFF2-40B4-BE49-F238E27FC236}">
                <a16:creationId xmlns:a16="http://schemas.microsoft.com/office/drawing/2014/main" id="{CE9BA7BC-92F0-4419-AECB-0A3D29C24B2A}"/>
              </a:ext>
            </a:extLst>
          </p:cNvPr>
          <p:cNvSpPr>
            <a:spLocks xmlns:a="http://schemas.openxmlformats.org/drawingml/2006/main" noGrp="1"/>
          </p:cNvSpPr>
          <p:nvPr/>
        </p:nvSpPr>
        <p:spPr>
          <a:xfrm xmlns:a="http://schemas.openxmlformats.org/drawingml/2006/main">
            <a:off x="3000375" y="2943225"/>
            <a:ext cx="85248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node scripts/test/run_tests.js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node scripts/test/run_phase0.js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해당 브랜치에서 node scripts/test/run_tests.js</a:t>
            </a:r>
          </a:p>
        </p:txBody>
      </p:sp>
      <p:sp>
        <p:nvSpPr>
          <p:cNvPr id="9" name="확인 범위">
            <a:extLst xmlns:a="http://schemas.openxmlformats.org/drawingml/2006/main">
              <a:ext uri="{FF2B5EF4-FFF2-40B4-BE49-F238E27FC236}">
                <a16:creationId xmlns:a16="http://schemas.microsoft.com/office/drawing/2014/main" id="{A2F8461D-63D9-4171-8761-B4BC9CFEF4F9}"/>
              </a:ext>
            </a:extLst>
          </p:cNvPr>
          <p:cNvSpPr>
            <a:spLocks xmlns:a="http://schemas.openxmlformats.org/drawingml/2006/main" noGrp="1"/>
          </p:cNvSpPr>
          <p:nvPr/>
        </p:nvSpPr>
        <p:spPr>
          <a:xfrm xmlns:a="http://schemas.openxmlformats.org/drawingml/2006/main">
            <a:off x="571500" y="4333875"/>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확인 범위</a:t>
            </a:r>
          </a:p>
        </p:txBody>
      </p:sp>
      <p:sp>
        <p:nvSpPr>
          <p:cNvPr id="10" name="기존 로그는 Node 로직과 Playwright/Chromium UI를 검사했다.">
            <a:extLst xmlns:a="http://schemas.openxmlformats.org/drawingml/2006/main">
              <a:ext uri="{FF2B5EF4-FFF2-40B4-BE49-F238E27FC236}">
                <a16:creationId xmlns:a16="http://schemas.microsoft.com/office/drawing/2014/main" id="{7D2A7E19-1C13-4578-8225-AD6C278A07D0}"/>
              </a:ext>
            </a:extLst>
          </p:cNvPr>
          <p:cNvSpPr>
            <a:spLocks xmlns:a="http://schemas.openxmlformats.org/drawingml/2006/main" noGrp="1"/>
          </p:cNvSpPr>
          <p:nvPr/>
        </p:nvSpPr>
        <p:spPr>
          <a:xfrm xmlns:a="http://schemas.openxmlformats.org/drawingml/2006/main">
            <a:off x="3000375" y="4314825"/>
            <a:ext cx="8429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기존 로그는 Node 로직과 Playwright/Chromium UI를 검사했다.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Safari·Edge·실제 휴대폰은 미실행이다. 토큰·시간 수치는 근사/미측정이다.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저장소 교환 기록(짝·탐색 시간·막힌 지점)과 전체 대화 로그는 확인되지 않았다.</a:t>
            </a:r>
          </a:p>
        </p:txBody>
      </p:sp>
      <p:sp>
        <p:nvSpPr>
          <p:cNvPr id="11" name="배포">
            <a:extLst xmlns:a="http://schemas.openxmlformats.org/drawingml/2006/main">
              <a:ext uri="{FF2B5EF4-FFF2-40B4-BE49-F238E27FC236}">
                <a16:creationId xmlns:a16="http://schemas.microsoft.com/office/drawing/2014/main" id="{662BC2E8-516B-4D37-8E6F-CA5588BC6B24}"/>
              </a:ext>
            </a:extLst>
          </p:cNvPr>
          <p:cNvSpPr>
            <a:spLocks xmlns:a="http://schemas.openxmlformats.org/drawingml/2006/main" noGrp="1"/>
          </p:cNvSpPr>
          <p:nvPr/>
        </p:nvSpPr>
        <p:spPr>
          <a:xfrm xmlns:a="http://schemas.openxmlformats.org/drawingml/2006/main">
            <a:off x="571500" y="567690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7860AD"/>
                </a:solidFill>
                <a:latin typeface="Malgun Gothic"/>
                <a:ea typeface="Malgun Gothic"/>
                <a:cs typeface="Malgun Gothic"/>
              </a:defRPr>
            </a:defPPr>
          </a:lstStyle>
          <a:p xmlns:a="http://schemas.openxmlformats.org/drawingml/2006/main">
            <a:pPr algn="l">
              <a:lnSpc>
                <a:spcPct val="116000"/>
              </a:lnSpc>
              <a:buNone/>
              <a:defRPr sz="1950" b="1">
                <a:solidFill>
                  <a:srgbClr val="7860AD"/>
                </a:solidFill>
                <a:latin typeface="Malgun Gothic"/>
                <a:ea typeface="Malgun Gothic"/>
                <a:cs typeface="Malgun Gothic"/>
              </a:defRPr>
            </a:pPr>
            <a:r>
              <a:rPr sz="1950" b="1">
                <a:solidFill>
                  <a:srgbClr val="7860AD"/>
                </a:solidFill>
                <a:latin typeface="Malgun Gothic"/>
                <a:ea typeface="Malgun Gothic"/>
                <a:cs typeface="Malgun Gothic"/>
              </a:rPr>
              <a:t>배포</a:t>
            </a:r>
          </a:p>
        </p:txBody>
      </p:sp>
      <p:sp>
        <p:nvSpPr>
          <p:cNvPr id="12" name="https://tragicoding.github.io/HandsOn/">
            <a:extLst xmlns:a="http://schemas.openxmlformats.org/drawingml/2006/main">
              <a:ext uri="{FF2B5EF4-FFF2-40B4-BE49-F238E27FC236}">
                <a16:creationId xmlns:a16="http://schemas.microsoft.com/office/drawing/2014/main" id="{D8106A32-CF9C-45B4-B3FE-8EA1679CD3D5}"/>
              </a:ext>
            </a:extLst>
          </p:cNvPr>
          <p:cNvSpPr>
            <a:spLocks xmlns:a="http://schemas.openxmlformats.org/drawingml/2006/main" noGrp="1"/>
          </p:cNvSpPr>
          <p:nvPr/>
        </p:nvSpPr>
        <p:spPr>
          <a:xfrm xmlns:a="http://schemas.openxmlformats.org/drawingml/2006/main">
            <a:off x="3000375" y="5629275"/>
            <a:ext cx="723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7860AD"/>
                </a:solidFill>
                <a:latin typeface="Malgun Gothic"/>
                <a:ea typeface="Malgun Gothic"/>
                <a:cs typeface="Malgun Gothic"/>
              </a:defRPr>
            </a:defPPr>
          </a:lstStyle>
          <a:p xmlns:a="http://schemas.openxmlformats.org/drawingml/2006/main">
            <a:pPr algn="l">
              <a:lnSpc>
                <a:spcPct val="116000"/>
              </a:lnSpc>
              <a:buNone/>
              <a:defRPr sz="1725" b="0">
                <a:solidFill>
                  <a:srgbClr val="7860AD"/>
                </a:solidFill>
                <a:latin typeface="Malgun Gothic"/>
                <a:ea typeface="Malgun Gothic"/>
                <a:cs typeface="Malgun Gothic"/>
              </a:defRPr>
            </a:pPr>
            <a:r>
              <a:rPr sz="1725" b="0">
                <a:solidFill>
                  <a:srgbClr val="7860AD"/>
                </a:solidFill>
                <a:latin typeface="Malgun Gothic"/>
                <a:ea typeface="Malgun Gothic"/>
                <a:cs typeface="Malgun Gothic"/>
                <a:hlinkClick xmlns:r="http://schemas.openxmlformats.org/officeDocument/2006/relationships" r:id="Rceec5f7399144511"/>
              </a:rPr>
              <a:t>https://tragicoding.github.io/HandsOn/</a:t>
            </a:r>
          </a:p>
        </p:txBody>
      </p:sp>
    </p:spTree>
    <p:extLst>
      <p:ext uri="{BB962C8B-B14F-4D97-AF65-F5344CB8AC3E}">
        <p14:creationId xmlns:p14="http://schemas.microsoft.com/office/powerpoint/2010/main" val="356612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2026-10-12T11:27:27.8990000Z</dcterms:created>
  <dcterms:modified xsi:type="dcterms:W3CDTF">2026-10-12T11:27:27.8990000Z</dcterms:modified>
</coreProperties>
</file>