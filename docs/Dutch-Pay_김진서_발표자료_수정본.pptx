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8d4d6e09144cc5" /><Relationship Type="http://schemas.openxmlformats.org/officeDocument/2006/relationships/extended-properties" Target="/docProps/app.xml" Id="R0056a2a068cd4bed" /><Relationship Type="http://schemas.openxmlformats.org/officeDocument/2006/relationships/officeDocument" Target="/ppt/presentation.xml" Id="Rfead4991f17742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2f6e0fa904002"/>
  </p:sldMasterIdLst>
  <p:notesMasterIdLst>
    <p:notesMasterId xmlns:r="http://schemas.openxmlformats.org/officeDocument/2006/relationships" r:id="R88711061b7d5492f"/>
  </p:notesMasterIdLst>
  <p:sldIdLst>
    <p:sldId xmlns:r="http://schemas.openxmlformats.org/officeDocument/2006/relationships" id="256" r:id="R6716f492080e4a88"/>
    <p:sldId xmlns:r="http://schemas.openxmlformats.org/officeDocument/2006/relationships" id="257" r:id="Rb04aae7c1a48461a"/>
    <p:sldId xmlns:r="http://schemas.openxmlformats.org/officeDocument/2006/relationships" id="258" r:id="R5d5eeab043d3419e"/>
    <p:sldId xmlns:r="http://schemas.openxmlformats.org/officeDocument/2006/relationships" id="259" r:id="Rb041df5f98834585"/>
    <p:sldId xmlns:r="http://schemas.openxmlformats.org/officeDocument/2006/relationships" id="260" r:id="Rd64f1ca6c6184861"/>
    <p:sldId xmlns:r="http://schemas.openxmlformats.org/officeDocument/2006/relationships" id="261" r:id="R4ced087122604ed5"/>
    <p:sldId xmlns:r="http://schemas.openxmlformats.org/officeDocument/2006/relationships" id="262" r:id="Rc6151a6234104225"/>
    <p:sldId xmlns:r="http://schemas.openxmlformats.org/officeDocument/2006/relationships" id="263" r:id="Ra1672f4f8b284552"/>
    <p:sldId xmlns:r="http://schemas.openxmlformats.org/officeDocument/2006/relationships" id="264" r:id="Ra319ffdce9a44cdd"/>
    <p:sldId xmlns:r="http://schemas.openxmlformats.org/officeDocument/2006/relationships" id="265" r:id="Ra0f82fb8721d4133"/>
    <p:sldId xmlns:r="http://schemas.openxmlformats.org/officeDocument/2006/relationships" id="266" r:id="R39626e1cd24843b9"/>
    <p:sldId xmlns:r="http://schemas.openxmlformats.org/officeDocument/2006/relationships" id="267" r:id="Ra49a1211a8514254"/>
    <p:sldId xmlns:r="http://schemas.openxmlformats.org/officeDocument/2006/relationships" id="268" r:id="Rfcec660c24b74e8a"/>
    <p:sldId xmlns:r="http://schemas.openxmlformats.org/officeDocument/2006/relationships" id="269" r:id="R16c1091656aa4496"/>
    <p:sldId xmlns:r="http://schemas.openxmlformats.org/officeDocument/2006/relationships" id="270" r:id="Rc94d8d480e0649f2"/>
    <p:sldId xmlns:r="http://schemas.openxmlformats.org/officeDocument/2006/relationships" id="271" r:id="R4f409c59280648c0"/>
    <p:sldId xmlns:r="http://schemas.openxmlformats.org/officeDocument/2006/relationships" id="272" r:id="Rf2f0a5ac458449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f652c05dc4c42" /><Relationship Type="http://schemas.openxmlformats.org/officeDocument/2006/relationships/slideMaster" Target="/ppt/slideMasters/slideMaster1.xml" Id="R1102f6e0fa904002" /><Relationship Type="http://schemas.openxmlformats.org/officeDocument/2006/relationships/notesMaster" Target="/ppt/notesMasters/notesMaster1.xml" Id="R88711061b7d5492f" /><Relationship Type="http://schemas.openxmlformats.org/officeDocument/2006/relationships/presProps" Target="/ppt/presProps.xml" Id="Ra06e342918634245" /><Relationship Type="http://schemas.openxmlformats.org/officeDocument/2006/relationships/tableStyles" Target="/ppt/tableStyles.xml" Id="R57cfcb38a13b4acd" /><Relationship Type="http://schemas.openxmlformats.org/officeDocument/2006/relationships/slide" Target="/ppt/slides/slide1.xml" Id="R6716f492080e4a88" /><Relationship Type="http://schemas.openxmlformats.org/officeDocument/2006/relationships/slide" Target="/ppt/slides/slide2.xml" Id="Rb04aae7c1a48461a" /><Relationship Type="http://schemas.openxmlformats.org/officeDocument/2006/relationships/slide" Target="/ppt/slides/slide3.xml" Id="R5d5eeab043d3419e" /><Relationship Type="http://schemas.openxmlformats.org/officeDocument/2006/relationships/slide" Target="/ppt/slides/slide4.xml" Id="Rb041df5f98834585" /><Relationship Type="http://schemas.openxmlformats.org/officeDocument/2006/relationships/slide" Target="/ppt/slides/slide5.xml" Id="Rd64f1ca6c6184861" /><Relationship Type="http://schemas.openxmlformats.org/officeDocument/2006/relationships/slide" Target="/ppt/slides/slide6.xml" Id="R4ced087122604ed5" /><Relationship Type="http://schemas.openxmlformats.org/officeDocument/2006/relationships/slide" Target="/ppt/slides/slide7.xml" Id="Rc6151a6234104225" /><Relationship Type="http://schemas.openxmlformats.org/officeDocument/2006/relationships/slide" Target="/ppt/slides/slide8.xml" Id="Ra1672f4f8b284552" /><Relationship Type="http://schemas.openxmlformats.org/officeDocument/2006/relationships/slide" Target="/ppt/slides/slide9.xml" Id="Ra319ffdce9a44cdd" /><Relationship Type="http://schemas.openxmlformats.org/officeDocument/2006/relationships/slide" Target="/ppt/slides/slide10.xml" Id="Ra0f82fb8721d4133" /><Relationship Type="http://schemas.openxmlformats.org/officeDocument/2006/relationships/slide" Target="/ppt/slides/slide11.xml" Id="R39626e1cd24843b9" /><Relationship Type="http://schemas.openxmlformats.org/officeDocument/2006/relationships/slide" Target="/ppt/slides/slide12.xml" Id="Ra49a1211a8514254" /><Relationship Type="http://schemas.openxmlformats.org/officeDocument/2006/relationships/slide" Target="/ppt/slides/slide13.xml" Id="Rfcec660c24b74e8a" /><Relationship Type="http://schemas.openxmlformats.org/officeDocument/2006/relationships/slide" Target="/ppt/slides/slide14.xml" Id="R16c1091656aa4496" /><Relationship Type="http://schemas.openxmlformats.org/officeDocument/2006/relationships/slide" Target="/ppt/slides/slide15.xml" Id="Rc94d8d480e0649f2" /><Relationship Type="http://schemas.openxmlformats.org/officeDocument/2006/relationships/slide" Target="/ppt/slides/slide16.xml" Id="R4f409c59280648c0" /><Relationship Type="http://schemas.openxmlformats.org/officeDocument/2006/relationships/slide" Target="/ppt/slides/slide17.xml" Id="Rf2f0a5ac4584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e4215551264d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59a1e446534ffa" /><Relationship Type="http://schemas.openxmlformats.org/officeDocument/2006/relationships/notesMaster" Target="/ppt/notesMasters/notesMaster1.xml" Id="R25773787df00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b2c90ef3394a3e" /><Relationship Type="http://schemas.openxmlformats.org/officeDocument/2006/relationships/notesMaster" Target="/ppt/notesMasters/notesMaster1.xml" Id="Ra44fffaf983e4b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7f400f5d74271" /><Relationship Type="http://schemas.openxmlformats.org/officeDocument/2006/relationships/notesMaster" Target="/ppt/notesMasters/notesMaster1.xml" Id="R0acab4a25ee345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f709e8eec4de6" /><Relationship Type="http://schemas.openxmlformats.org/officeDocument/2006/relationships/notesMaster" Target="/ppt/notesMasters/notesMaster1.xml" Id="Rcef2e8af354b46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2a1a97d8c44fdd" /><Relationship Type="http://schemas.openxmlformats.org/officeDocument/2006/relationships/notesMaster" Target="/ppt/notesMasters/notesMaster1.xml" Id="R737a0e4f8b8048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feb0f4b6a4ad5" /><Relationship Type="http://schemas.openxmlformats.org/officeDocument/2006/relationships/notesMaster" Target="/ppt/notesMasters/notesMaster1.xml" Id="R8dd62557ad4941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928753b8c24b03" /><Relationship Type="http://schemas.openxmlformats.org/officeDocument/2006/relationships/notesMaster" Target="/ppt/notesMasters/notesMaster1.xml" Id="Rb6d8a2e06b1b41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4a098bf89a4527" /><Relationship Type="http://schemas.openxmlformats.org/officeDocument/2006/relationships/notesMaster" Target="/ppt/notesMasters/notesMaster1.xml" Id="Rd71fc167aa4b4b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d34262331144f3" /><Relationship Type="http://schemas.openxmlformats.org/officeDocument/2006/relationships/notesMaster" Target="/ppt/notesMasters/notesMaster1.xml" Id="R241238f3f47b4c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7f2f03afba4e2c" /><Relationship Type="http://schemas.openxmlformats.org/officeDocument/2006/relationships/notesMaster" Target="/ppt/notesMasters/notesMaster1.xml" Id="R245d49b5425345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9645676e8c4184" /><Relationship Type="http://schemas.openxmlformats.org/officeDocument/2006/relationships/notesMaster" Target="/ppt/notesMasters/notesMaster1.xml" Id="Rd8b123fbdbbb46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e29ec873fd4561" /><Relationship Type="http://schemas.openxmlformats.org/officeDocument/2006/relationships/notesMaster" Target="/ppt/notesMasters/notesMaster1.xml" Id="Ra1f2fbf97d5f41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e7fdf86f344b70" /><Relationship Type="http://schemas.openxmlformats.org/officeDocument/2006/relationships/notesMaster" Target="/ppt/notesMasters/notesMaster1.xml" Id="R6926dbf7e4dc43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bb7c4221d24414" /><Relationship Type="http://schemas.openxmlformats.org/officeDocument/2006/relationships/notesMaster" Target="/ppt/notesMasters/notesMaster1.xml" Id="R35e7a0f8619d46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7d2e306de64ecd" /><Relationship Type="http://schemas.openxmlformats.org/officeDocument/2006/relationships/notesMaster" Target="/ppt/notesMasters/notesMaster1.xml" Id="R8fcca43ddc3c4f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7c9619f97f4a57" /><Relationship Type="http://schemas.openxmlformats.org/officeDocument/2006/relationships/notesMaster" Target="/ppt/notesMasters/notesMaster1.xml" Id="R5bfcb742b5dc46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f774df80a04fb1" /><Relationship Type="http://schemas.openxmlformats.org/officeDocument/2006/relationships/notesMaster" Target="/ppt/notesMasters/notesMaster1.xml" Id="R800c4a8d0bf4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5d4331a1441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46087001842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021a834a340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eb6c5cb3e44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24dbba941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7b7129b1e44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20A9D1-5D96-4EDD-A4E4-936994909B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8A160A-745A-402A-906A-42966426F9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46E13F-1011-4CBC-A179-08BAFBC65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B8CFFC-DA8C-4850-A9D6-08A790206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85C6BE-5A32-40B3-9C5F-202C946D0C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574A2A-41BF-4DCF-B028-B683B2478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5E9204-0F60-45CB-8FBF-043A94F64C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414DD6-FBCE-4484-B493-512E250673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52898B-CB7D-463D-B35E-8861B3A30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2BB03F-34F9-49B5-95DB-A4360A1701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5af465e3c4d45" /><Relationship Type="http://schemas.openxmlformats.org/officeDocument/2006/relationships/slideLayout" Target="/ppt/slideLayouts/slideLayout1.xml" Id="Rac9270e43b9e467f" /><Relationship Type="http://schemas.openxmlformats.org/officeDocument/2006/relationships/slideLayout" Target="/ppt/slideLayouts/slideLayout2.xml" Id="Ra7c1f69620894145" /><Relationship Type="http://schemas.openxmlformats.org/officeDocument/2006/relationships/slideLayout" Target="/ppt/slideLayouts/slideLayout3.xml" Id="Rd6ecae80fa81438a" /><Relationship Type="http://schemas.openxmlformats.org/officeDocument/2006/relationships/slideLayout" Target="/ppt/slideLayouts/slideLayout4.xml" Id="R6b8ed6f3e4c34cc2" /><Relationship Type="http://schemas.openxmlformats.org/officeDocument/2006/relationships/slideLayout" Target="/ppt/slideLayouts/slideLayout5.xml" Id="R9200d057c61d4f3b" /><Relationship Type="http://schemas.openxmlformats.org/officeDocument/2006/relationships/slideLayout" Target="/ppt/slideLayouts/slideLayout6.xml" Id="Rc33ba48dc797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9270e43b9e467f"/>
    <p:sldLayoutId xmlns:r="http://schemas.openxmlformats.org/officeDocument/2006/relationships" id="2147483650" r:id="Ra7c1f69620894145"/>
    <p:sldLayoutId xmlns:r="http://schemas.openxmlformats.org/officeDocument/2006/relationships" id="2147483651" r:id="Rd6ecae80fa81438a"/>
    <p:sldLayoutId xmlns:r="http://schemas.openxmlformats.org/officeDocument/2006/relationships" id="2147483652" r:id="R6b8ed6f3e4c34cc2"/>
    <p:sldLayoutId xmlns:r="http://schemas.openxmlformats.org/officeDocument/2006/relationships" id="2147483653" r:id="R9200d057c61d4f3b"/>
    <p:sldLayoutId xmlns:r="http://schemas.openxmlformats.org/officeDocument/2006/relationships" id="2147483654" r:id="Rc33ba48dc797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7100e33174ea1" /><Relationship Type="http://schemas.openxmlformats.org/officeDocument/2006/relationships/hyperlink" Target="https://tragicoding.github.io/HandsOn/" TargetMode="External" Id="Raf2f70a41e494599" /><Relationship Type="http://schemas.openxmlformats.org/officeDocument/2006/relationships/hyperlink" Target="https://github.com/tragicoding/HandsOn" TargetMode="External" Id="Rf189e0804a8d4865" /><Relationship Type="http://schemas.openxmlformats.org/officeDocument/2006/relationships/image" Target="/ppt/media/image.png" Id="R603e58219aa14f49" /><Relationship Type="http://schemas.openxmlformats.org/officeDocument/2006/relationships/image" Target="/ppt/media/image2.png" Id="Rc19dd1570e3e4123" /><Relationship Type="http://schemas.openxmlformats.org/officeDocument/2006/relationships/notesSlide" Target="/ppt/notesSlides/notesSlide1.xml" Id="R4781688addd845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cebfa98bd4986" /><Relationship Type="http://schemas.openxmlformats.org/officeDocument/2006/relationships/image" Target="/ppt/media/image3.png" Id="Re58ef890656d4ce9" /><Relationship Type="http://schemas.openxmlformats.org/officeDocument/2006/relationships/image" Target="/ppt/media/image4.png" Id="Rdbd754781a43409d" /><Relationship Type="http://schemas.openxmlformats.org/officeDocument/2006/relationships/image" Target="/ppt/media/image5.png" Id="R500cab6446b246b8" /><Relationship Type="http://schemas.openxmlformats.org/officeDocument/2006/relationships/image" Target="/ppt/media/image6.png" Id="R3756defd9fd0472b" /><Relationship Type="http://schemas.openxmlformats.org/officeDocument/2006/relationships/hyperlink" Target="https://drive.google.com/file/d/1iCLVs0ZjSHHdzd6SbosHw4fLXHQbqh8T/view?usp=sharing" TargetMode="External" Id="R3cd7a5e31ce74ec9" /><Relationship Type="http://schemas.openxmlformats.org/officeDocument/2006/relationships/notesSlide" Target="/ppt/notesSlides/notesSlide2.xml" Id="Rf77ddfb0a0454a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5287b55e74c29" /><Relationship Type="http://schemas.openxmlformats.org/officeDocument/2006/relationships/image" Target="/ppt/media/image7.png" Id="R247c152a948d4690" /><Relationship Type="http://schemas.openxmlformats.org/officeDocument/2006/relationships/image" Target="/ppt/media/image8.png" Id="R69fb6c5054e44710" /><Relationship Type="http://schemas.openxmlformats.org/officeDocument/2006/relationships/notesSlide" Target="/ppt/notesSlides/notesSlide3.xml" Id="R3933679d65a94b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e980269504fd8" /><Relationship Type="http://schemas.openxmlformats.org/officeDocument/2006/relationships/image" Target="/ppt/media/image9.png" Id="R1b03c4631af54b22" /><Relationship Type="http://schemas.openxmlformats.org/officeDocument/2006/relationships/image" Target="/ppt/media/image10.png" Id="R4a848b3f3e7746cc" /><Relationship Type="http://schemas.openxmlformats.org/officeDocument/2006/relationships/image" Target="/ppt/media/image11.png" Id="Re9d043f0c37a4c9b" /><Relationship Type="http://schemas.openxmlformats.org/officeDocument/2006/relationships/notesSlide" Target="/ppt/notesSlides/notesSlide4.xml" Id="R640d49e7ca29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d986a7e7a4b5e" /><Relationship Type="http://schemas.openxmlformats.org/officeDocument/2006/relationships/image" Target="/ppt/media/image12.png" Id="Re253c5076cf548ab" /><Relationship Type="http://schemas.openxmlformats.org/officeDocument/2006/relationships/notesSlide" Target="/ppt/notesSlides/notesSlide5.xml" Id="Rc3d3b4fa650e4d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40a2e71174135" /><Relationship Type="http://schemas.openxmlformats.org/officeDocument/2006/relationships/image" Target="/ppt/media/image13.png" Id="Rbaade7b5ef5c4086" /><Relationship Type="http://schemas.openxmlformats.org/officeDocument/2006/relationships/image" Target="/ppt/media/image14.png" Id="R5bd02fc74b11448a" /><Relationship Type="http://schemas.openxmlformats.org/officeDocument/2006/relationships/notesSlide" Target="/ppt/notesSlides/notesSlide6.xml" Id="R11da5507e24e43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c59ddf8174ff7" /><Relationship Type="http://schemas.openxmlformats.org/officeDocument/2006/relationships/image" Target="/ppt/media/image15.png" Id="R48719090a1e74efa" /><Relationship Type="http://schemas.openxmlformats.org/officeDocument/2006/relationships/notesSlide" Target="/ppt/notesSlides/notesSlide7.xml" Id="R37eefbfb30654f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6ee86304d4785" /><Relationship Type="http://schemas.openxmlformats.org/officeDocument/2006/relationships/image" Target="/ppt/media/image16.png" Id="R84fa2498e25a486b" /><Relationship Type="http://schemas.openxmlformats.org/officeDocument/2006/relationships/notesSlide" Target="/ppt/notesSlides/notesSlide8.xml" Id="Rb4f91c844ddb44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217d6a1fa48fb" /><Relationship Type="http://schemas.openxmlformats.org/officeDocument/2006/relationships/image" Target="/ppt/media/image17.png" Id="Re8c2b0e1e9594988" /><Relationship Type="http://schemas.openxmlformats.org/officeDocument/2006/relationships/notesSlide" Target="/ppt/notesSlides/notesSlide9.xml" Id="Re63383af9d9242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57bd0d0f84516" /><Relationship Type="http://schemas.openxmlformats.org/officeDocument/2006/relationships/image" Target="/ppt/media/image18.png" Id="Rafb091392da043dc" /><Relationship Type="http://schemas.openxmlformats.org/officeDocument/2006/relationships/notesSlide" Target="/ppt/notesSlides/notesSlide10.xml" Id="R177b21a05f0248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c2283af3f4239" /><Relationship Type="http://schemas.openxmlformats.org/officeDocument/2006/relationships/image" Target="/ppt/media/image19.png" Id="Rdc89ed62925b4269" /><Relationship Type="http://schemas.openxmlformats.org/officeDocument/2006/relationships/notesSlide" Target="/ppt/notesSlides/notesSlide11.xml" Id="R3fd503caa56b4a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f4452ba0a4e4f" /><Relationship Type="http://schemas.openxmlformats.org/officeDocument/2006/relationships/image" Target="/ppt/media/image20.png" Id="Rbf8713491e64460d" /><Relationship Type="http://schemas.openxmlformats.org/officeDocument/2006/relationships/image" Target="/ppt/media/image21.png" Id="R1c5e3734b911412b" /><Relationship Type="http://schemas.openxmlformats.org/officeDocument/2006/relationships/image" Target="/ppt/media/image22.png" Id="R89a23f1df95c4ed0" /><Relationship Type="http://schemas.openxmlformats.org/officeDocument/2006/relationships/notesSlide" Target="/ppt/notesSlides/notesSlide12.xml" Id="R665f1fc18c0744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0890889344294" /><Relationship Type="http://schemas.openxmlformats.org/officeDocument/2006/relationships/image" Target="/ppt/media/image23.png" Id="Rfcc7961544474181" /><Relationship Type="http://schemas.openxmlformats.org/officeDocument/2006/relationships/hyperlink" Target="https://tragicoding.github.io/HandsOn/" TargetMode="External" Id="Rf0db1cb0c5e2417a" /><Relationship Type="http://schemas.openxmlformats.org/officeDocument/2006/relationships/notesSlide" Target="/ppt/notesSlides/notesSlide13.xml" Id="Ra5448fa6344947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874acb30a4ccc" /><Relationship Type="http://schemas.openxmlformats.org/officeDocument/2006/relationships/notesSlide" Target="/ppt/notesSlides/notesSlide14.xml" Id="R4295ced6a40049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5a21dbfe64576" /><Relationship Type="http://schemas.openxmlformats.org/officeDocument/2006/relationships/notesSlide" Target="/ppt/notesSlides/notesSlide15.xml" Id="R3b247fb536e748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3d25bffe242a6" /><Relationship Type="http://schemas.openxmlformats.org/officeDocument/2006/relationships/notesSlide" Target="/ppt/notesSlides/notesSlide16.xml" Id="R7d86eb9bd7294a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1ce059b64472b" /><Relationship Type="http://schemas.openxmlformats.org/officeDocument/2006/relationships/notesSlide" Target="/ppt/notesSlides/notesSlide17.xml" Id="Rc074c9cd23414d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utch-Pay">
            <a:extLst xmlns:a="http://schemas.openxmlformats.org/drawingml/2006/main">
              <a:ext uri="{FF2B5EF4-FFF2-40B4-BE49-F238E27FC236}">
                <a16:creationId xmlns:a16="http://schemas.microsoft.com/office/drawing/2014/main" id="{B98F7521-0F1B-4CFC-8C3B-97969281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Dutch-Pay</a:t>
            </a:r>
          </a:p>
        </p:txBody>
      </p:sp>
      <p:sp>
        <p:nvSpPr>
          <p:cNvPr id="2" name="더치페이도, AI 판단도&#10;기준이 필요했다">
            <a:extLst xmlns:a="http://schemas.openxmlformats.org/drawingml/2006/main">
              <a:ext uri="{FF2B5EF4-FFF2-40B4-BE49-F238E27FC236}">
                <a16:creationId xmlns:a16="http://schemas.microsoft.com/office/drawing/2014/main" id="{89863050-9508-4C5B-B2CA-DD6FFEE7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7334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2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더치페이도, AI 판단도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42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기준이 필요했다</a:t>
            </a:r>
          </a:p>
        </p:txBody>
      </p:sp>
      <p:sp>
        <p:nvSpPr>
          <p:cNvPr id="3" name="한 줄 요청 · 명세서 · Claude 작업 규칙의 비교">
            <a:extLst xmlns:a="http://schemas.openxmlformats.org/drawingml/2006/main">
              <a:ext uri="{FF2B5EF4-FFF2-40B4-BE49-F238E27FC236}">
                <a16:creationId xmlns:a16="http://schemas.microsoft.com/office/drawing/2014/main" id="{3D8724F3-C40B-4670-B18F-78BD6446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09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한 줄 요청 · 명세서 · Claude 작업 규칙의 비교</a:t>
            </a:r>
          </a:p>
        </p:txBody>
      </p:sp>
      <p:sp>
        <p:nvSpPr>
          <p:cNvPr id="4" name="모임 정산 담당자가 결제자와 참여 조건이 다른 상황에서&#10;감면율을 반영하고, 누가 ">
            <a:extLst xmlns:a="http://schemas.openxmlformats.org/drawingml/2006/main">
              <a:ext uri="{FF2B5EF4-FFF2-40B4-BE49-F238E27FC236}">
                <a16:creationId xmlns:a16="http://schemas.microsoft.com/office/drawing/2014/main" id="{5D5B2049-4BC5-4405-942C-9CA29868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모임 정산 담당자가 결제자와 참여 조건이 다른 상황에서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감면율을 반영하고, 누가 누구에게 얼마를 보낼지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브라우저에서 한 번에 확인하게 한다.</a:t>
            </a:r>
          </a:p>
        </p:txBody>
      </p:sp>
      <p:sp>
        <p:nvSpPr>
          <p:cNvPr id="5" name="phase0">
            <a:extLst xmlns:a="http://schemas.openxmlformats.org/drawingml/2006/main">
              <a:ext uri="{FF2B5EF4-FFF2-40B4-BE49-F238E27FC236}">
                <a16:creationId xmlns:a16="http://schemas.microsoft.com/office/drawing/2014/main" id="{F543F82A-E3AA-4255-A437-5F715919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934D3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93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934D3C"/>
                </a:solidFill>
                <a:latin typeface="Malgun Gothic"/>
                <a:ea typeface="Malgun Gothic"/>
                <a:cs typeface="Malgun Gothic"/>
              </a:rPr>
              <a:t>한 줄 요청</a:t>
            </a:r>
          </a:p>
        </p:txBody>
      </p:sp>
      <p:sp>
        <p:nvSpPr>
          <p:cNvPr id="6" name="phase2/doc">
            <a:extLst xmlns:a="http://schemas.openxmlformats.org/drawingml/2006/main">
              <a:ext uri="{FF2B5EF4-FFF2-40B4-BE49-F238E27FC236}">
                <a16:creationId xmlns:a16="http://schemas.microsoft.com/office/drawing/2014/main" id="{7E084F8C-910E-4CF4-89FF-417CB51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0537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B63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8B63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8B6335"/>
                </a:solidFill>
                <a:latin typeface="Malgun Gothic"/>
                <a:ea typeface="Malgun Gothic"/>
                <a:cs typeface="Malgun Gothic"/>
              </a:rPr>
              <a:t>명세서</a:t>
            </a:r>
          </a:p>
        </p:txBody>
      </p:sp>
      <p:sp>
        <p:nvSpPr>
          <p:cNvPr id="7" name="phase2/claude">
            <a:extLst xmlns:a="http://schemas.openxmlformats.org/drawingml/2006/main">
              <a:ext uri="{FF2B5EF4-FFF2-40B4-BE49-F238E27FC236}">
                <a16:creationId xmlns:a16="http://schemas.microsoft.com/office/drawing/2014/main" id="{4E9C3A3E-7F66-4393-A6DD-B88B7F38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05375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84D9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684D9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84D98"/>
                </a:solidFill>
                <a:latin typeface="Malgun Gothic"/>
                <a:ea typeface="Malgun Gothic"/>
                <a:cs typeface="Malgun Gothic"/>
              </a:rPr>
              <a:t>Claude 작업 규칙</a:t>
            </a:r>
          </a:p>
        </p:txBody>
      </p:sp>
      <p:sp>
        <p:nvSpPr>
          <p:cNvPr id="8" name="김진서">
            <a:extLst xmlns:a="http://schemas.openxmlformats.org/drawingml/2006/main">
              <a:ext uri="{FF2B5EF4-FFF2-40B4-BE49-F238E27FC236}">
                <a16:creationId xmlns:a16="http://schemas.microsoft.com/office/drawing/2014/main" id="{88669CDA-3C14-4547-B9D0-69429166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김진서</a:t>
            </a:r>
          </a:p>
        </p:txBody>
      </p:sp>
      <p:sp>
        <p:nvSpPr>
          <p:cNvPr id="9" name="https://tragicoding.github.io/HandsOn/">
            <a:extLst xmlns:a="http://schemas.openxmlformats.org/drawingml/2006/main">
              <a:ext uri="{FF2B5EF4-FFF2-40B4-BE49-F238E27FC236}">
                <a16:creationId xmlns:a16="http://schemas.microsoft.com/office/drawing/2014/main" id="{E5D2DD6A-2288-4742-AE60-A25D069D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0AD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af2f70a41e494599"/>
              </a:rPr>
              <a:t>https://tragicoding.github.io/HandsOn/</a:t>
            </a:r>
          </a:p>
        </p:txBody>
      </p:sp>
      <p:sp>
        <p:nvSpPr>
          <p:cNvPr id="10" name="https://github.com/tragicoding/HandsOn">
            <a:extLst xmlns:a="http://schemas.openxmlformats.org/drawingml/2006/main">
              <a:ext uri="{FF2B5EF4-FFF2-40B4-BE49-F238E27FC236}">
                <a16:creationId xmlns:a16="http://schemas.microsoft.com/office/drawing/2014/main" id="{DA82229C-CEA7-444D-8813-DCC10EF5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f189e0804a8d4865"/>
              </a:rPr>
              <a:t>https://github.com/tragicoding/HandsOn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7FA6D-F5F7-4933-984E-B3A2149CA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e58219aa14f49"/>
          <a:srcRect xmlns:a="http://schemas.openxmlformats.org/drawingml/2006/main" l="2326" t="3731" r="2326" b="55871"/>
          <a:stretch xmlns:a="http://schemas.openxmlformats.org/drawingml/2006/main"/>
        </p:blipFill>
        <p:spPr>
          <a:xfrm xmlns:a="http://schemas.openxmlformats.org/drawingml/2006/main">
            <a:off x="8593544" y="600075"/>
            <a:ext cx="2520137" cy="4991100"/>
          </a:xfrm>
          <a:prstGeom xmlns:a="http://schemas.openxmlformats.org/drawingml/2006/main" prst="rect">
            <a:avLst/>
          </a:prstGeom>
        </p:spPr>
      </p:pic>
      <p:sp>
        <p:nvSpPr>
          <p:cNvPr id="12" name="50% 감면을 설정하는 실제 화면">
            <a:extLst xmlns:a="http://schemas.openxmlformats.org/drawingml/2006/main">
              <a:ext uri="{FF2B5EF4-FFF2-40B4-BE49-F238E27FC236}">
                <a16:creationId xmlns:a16="http://schemas.microsoft.com/office/drawing/2014/main" id="{BFAB4E5A-F6DF-4A16-A174-746DAFAB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2927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50% 감면을 설정하는 실제 화면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EFE98-96D4-4966-9092-30145FBC0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dd1570e3e4123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9684884" y="5848350"/>
            <a:ext cx="1032782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6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utch-Pay  /  성찰 기록">
            <a:extLst xmlns:a="http://schemas.openxmlformats.org/drawingml/2006/main">
              <a:ext uri="{FF2B5EF4-FFF2-40B4-BE49-F238E27FC236}">
                <a16:creationId xmlns:a16="http://schemas.microsoft.com/office/drawing/2014/main" id="{34586901-B572-4E92-985C-4D5DB55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Dutch-Pay  /  성찰 기록</a:t>
            </a:r>
          </a:p>
        </p:txBody>
      </p:sp>
      <p:sp>
        <p:nvSpPr>
          <p:cNvPr id="2" name="조건이 다른 모임도 한 번에 정산">
            <a:extLst xmlns:a="http://schemas.openxmlformats.org/drawingml/2006/main">
              <a:ext uri="{FF2B5EF4-FFF2-40B4-BE49-F238E27FC236}">
                <a16:creationId xmlns:a16="http://schemas.microsoft.com/office/drawing/2014/main" id="{827B66FA-07E4-47D0-8C35-2C3923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조건이 다른 모임도 한 번에 정산</a:t>
            </a:r>
          </a:p>
        </p:txBody>
      </p:sp>
      <p:sp>
        <p:nvSpPr>
          <p:cNvPr id="3" name="02 / 07">
            <a:extLst xmlns:a="http://schemas.openxmlformats.org/drawingml/2006/main">
              <a:ext uri="{FF2B5EF4-FFF2-40B4-BE49-F238E27FC236}">
                <a16:creationId xmlns:a16="http://schemas.microsoft.com/office/drawing/2014/main" id="{4F1F9D16-8D91-4B6F-A394-F948082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02 / 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EFE0A-EA33-4B6D-82C4-5BD809FEC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ef890656d4ce9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5" name="불편  택시를 따로 타거나 술을 안 마신 친구까지 똑같이 나누기 어려웠다.">
            <a:extLst xmlns:a="http://schemas.openxmlformats.org/drawingml/2006/main">
              <a:ext uri="{FF2B5EF4-FFF2-40B4-BE49-F238E27FC236}">
                <a16:creationId xmlns:a16="http://schemas.microsoft.com/office/drawing/2014/main" id="{3B58F276-2010-4AFF-BE96-A1C405F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택시를 따로 타거나 술을 안 마신 친구까지 똑같이 나누기 어려웠다.</a:t>
            </a:r>
          </a:p>
        </p:txBody>
      </p:sp>
      <p:sp>
        <p:nvSpPr>
          <p:cNvPr id="6" name="기존 방식  카카오 정산만으로는 개인별 감면과 여러 결제자의 상계를 함께 처리하기">
            <a:extLst xmlns:a="http://schemas.openxmlformats.org/drawingml/2006/main">
              <a:ext uri="{FF2B5EF4-FFF2-40B4-BE49-F238E27FC236}">
                <a16:creationId xmlns:a16="http://schemas.microsoft.com/office/drawing/2014/main" id="{6F9D332C-948F-438B-A5E0-48EC5F4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카카오 정산만으로는 개인별 감면과 여러 결제자의 상계를 함께 처리하기 어려웠다.</a:t>
            </a:r>
          </a:p>
        </p:txBody>
      </p:sp>
      <p:sp>
        <p:nvSpPr>
          <p:cNvPr id="7" name="1  참여자 입력">
            <a:extLst xmlns:a="http://schemas.openxmlformats.org/drawingml/2006/main">
              <a:ext uri="{FF2B5EF4-FFF2-40B4-BE49-F238E27FC236}">
                <a16:creationId xmlns:a16="http://schemas.microsoft.com/office/drawing/2014/main" id="{77307997-90B8-4C5E-B89C-B0CCA47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1  참여자 입력</a:t>
            </a:r>
          </a:p>
        </p:txBody>
      </p:sp>
      <p:sp>
        <p:nvSpPr>
          <p:cNvPr id="8" name="2  조건별 지출 조정">
            <a:extLst xmlns:a="http://schemas.openxmlformats.org/drawingml/2006/main">
              <a:ext uri="{FF2B5EF4-FFF2-40B4-BE49-F238E27FC236}">
                <a16:creationId xmlns:a16="http://schemas.microsoft.com/office/drawing/2014/main" id="{88723CAF-7403-47BD-8FED-97D7F01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28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2  지출 조건 반영</a:t>
            </a:r>
          </a:p>
        </p:txBody>
      </p:sp>
      <p:sp>
        <p:nvSpPr>
          <p:cNvPr id="9" name="3  송금 결과 복사">
            <a:extLst xmlns:a="http://schemas.openxmlformats.org/drawingml/2006/main">
              <a:ext uri="{FF2B5EF4-FFF2-40B4-BE49-F238E27FC236}">
                <a16:creationId xmlns:a16="http://schemas.microsoft.com/office/drawing/2014/main" id="{AD5B5A7E-3ACD-4E14-ADED-AEBCB3B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3  송금 결과 복사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BB8C2-4D36-45DC-A90A-BCCCFAE46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754781a43409d"/>
          <a:srcRect xmlns:a="http://schemas.openxmlformats.org/drawingml/2006/main" l="3256" t="5682" r="3256" b="80147"/>
          <a:stretch xmlns:a="http://schemas.openxmlformats.org/drawingml/2006/main"/>
        </p:blipFill>
        <p:spPr>
          <a:xfrm xmlns:a="http://schemas.openxmlformats.org/drawingml/2006/main">
            <a:off x="666750" y="3363912"/>
            <a:ext cx="3190875" cy="16827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51DCC-D170-4A0E-AE7C-2E3D279A5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cab6446b246b8"/>
          <a:srcRect xmlns:a="http://schemas.openxmlformats.org/drawingml/2006/main" l="3256" t="51625" r="3256" b="31644"/>
          <a:stretch xmlns:a="http://schemas.openxmlformats.org/drawingml/2006/main"/>
        </p:blipFill>
        <p:spPr>
          <a:xfrm xmlns:a="http://schemas.openxmlformats.org/drawingml/2006/main">
            <a:off x="4670244" y="2943225"/>
            <a:ext cx="2899138" cy="25241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F444E-4342-469D-BB8E-FF4DD9FEB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6defd9fd0472b"/>
          <a:srcRect xmlns:a="http://schemas.openxmlformats.org/drawingml/2006/main" l="3256" t="84544" r="3256" b="415"/>
          <a:stretch xmlns:a="http://schemas.openxmlformats.org/drawingml/2006/main"/>
        </p:blipFill>
        <p:spPr>
          <a:xfrm xmlns:a="http://schemas.openxmlformats.org/drawingml/2006/main">
            <a:off x="8382000" y="3054350"/>
            <a:ext cx="3190875" cy="2301875"/>
          </a:xfrm>
          <a:prstGeom xmlns:a="http://schemas.openxmlformats.org/drawingml/2006/main" prst="rect">
            <a:avLst/>
          </a:prstGeom>
        </p:spPr>
      </p:pic>
      <p:sp>
        <p:nvSpPr>
          <p:cNvPr id="13" name="이름을 추가하고 함께 쓴 사람 선택">
            <a:extLst xmlns:a="http://schemas.openxmlformats.org/drawingml/2006/main">
              <a:ext uri="{FF2B5EF4-FFF2-40B4-BE49-F238E27FC236}">
                <a16:creationId xmlns:a16="http://schemas.microsoft.com/office/drawing/2014/main" id="{3EA25F6D-3E38-49E8-B8B8-1498106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이름을 추가하고 함께 쓴 사람 선택</a:t>
            </a:r>
          </a:p>
        </p:txBody>
      </p:sp>
      <p:sp>
        <p:nvSpPr>
          <p:cNvPr id="14" name="각 지출의 결제자·감면·잔여액 반영">
            <a:extLst xmlns:a="http://schemas.openxmlformats.org/drawingml/2006/main">
              <a:ext uri="{FF2B5EF4-FFF2-40B4-BE49-F238E27FC236}">
                <a16:creationId xmlns:a16="http://schemas.microsoft.com/office/drawing/2014/main" id="{ABF88E05-429C-4ACC-88B4-6C5B5A4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054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각 지출의 결제자·감면·잔여액 반영</a:t>
            </a:r>
          </a:p>
        </p:txBody>
      </p:sp>
      <p:sp>
        <p:nvSpPr>
          <p:cNvPr id="15" name="서로 갚을 금액을 상계해 공유">
            <a:extLst xmlns:a="http://schemas.openxmlformats.org/drawingml/2006/main">
              <a:ext uri="{FF2B5EF4-FFF2-40B4-BE49-F238E27FC236}">
                <a16:creationId xmlns:a16="http://schemas.microsoft.com/office/drawing/2014/main" id="{9110B334-7FB2-43CE-9F34-669A56E0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서로 갚을 금액을 상계해 공유</a:t>
            </a:r>
          </a:p>
        </p:txBody>
      </p:sp>
      <p:sp>
        <p:nvSpPr>
          <p:cNvPr id="16" name="기능별 실제 캡처(시점별 금액 상이). localStorage에 저장하며 로그인·">
            <a:extLst xmlns:a="http://schemas.openxmlformats.org/drawingml/2006/main">
              <a:ext uri="{FF2B5EF4-FFF2-40B4-BE49-F238E27FC236}">
                <a16:creationId xmlns:a16="http://schemas.microsoft.com/office/drawing/2014/main" id="{F1D20B74-69F4-46B1-A94E-2B82E276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기능별 실제 캡처(시점별 금액 상이). localStorage에 저장하며 로그인·서버·실제 송금 기능은 없다.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152D6-D6CB-4B38-98F3-8D86746A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694E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694E9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94E91"/>
                </a:solidFill>
                <a:latin typeface="Malgun Gothic"/>
                <a:ea typeface="Malgun Gothic"/>
                <a:cs typeface="Malgun Gothic"/>
              </a:rPr>
              <a:t>기존 앱의 불편 사항</a:t>
            </a:r>
          </a:p>
        </p:txBody>
      </p:sp>
      <p:sp>
        <p:nvSpPr>
          <p:cNvPr id="19" name="google-drive-demo-link">
            <a:extLst xmlns:a="http://schemas.openxmlformats.org/drawingml/2006/main">
              <a:ext uri="{FF2B5EF4-FFF2-40B4-BE49-F238E27FC236}">
                <a16:creationId xmlns:a16="http://schemas.microsoft.com/office/drawing/2014/main" id="{641FE106-F169-4DA6-B57C-AA3F42C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 u="sng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 u="sng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u="sng">
                <a:solidFill>
                  <a:srgbClr val="7758AA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3cd7a5e31ce74ec9"/>
              </a:rPr>
              <a:t>▶ 데모 영상 보기 (Google Drive)</a:t>
            </a:r>
          </a:p>
        </p:txBody>
      </p:sp>
    </p:spTree>
    <p:extLst>
      <p:ext uri="{BB962C8B-B14F-4D97-AF65-F5344CB8AC3E}">
        <p14:creationId xmlns:p14="http://schemas.microsoft.com/office/powerpoint/2010/main" val="1930453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utch-Pay  /  성찰 기록">
            <a:extLst xmlns:a="http://schemas.openxmlformats.org/drawingml/2006/main">
              <a:ext uri="{FF2B5EF4-FFF2-40B4-BE49-F238E27FC236}">
                <a16:creationId xmlns:a16="http://schemas.microsoft.com/office/drawing/2014/main" id="{1C2D1E0A-6B9F-4F81-A7A9-7EAD746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Dutch-Pay  /  성찰 기록</a:t>
            </a:r>
          </a:p>
        </p:txBody>
      </p:sp>
      <p:sp>
        <p:nvSpPr>
          <p:cNvPr id="2" name="한 줄 요청이 만든 phase0">
            <a:extLst xmlns:a="http://schemas.openxmlformats.org/drawingml/2006/main">
              <a:ext uri="{FF2B5EF4-FFF2-40B4-BE49-F238E27FC236}">
                <a16:creationId xmlns:a16="http://schemas.microsoft.com/office/drawing/2014/main" id="{AA2B189D-75E6-4A5B-B8EE-794765F9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한 줄 요청이 만든 phase0</a:t>
            </a:r>
          </a:p>
        </p:txBody>
      </p:sp>
      <p:sp>
        <p:nvSpPr>
          <p:cNvPr id="3" name="03 / 07">
            <a:extLst xmlns:a="http://schemas.openxmlformats.org/drawingml/2006/main">
              <a:ext uri="{FF2B5EF4-FFF2-40B4-BE49-F238E27FC236}">
                <a16:creationId xmlns:a16="http://schemas.microsoft.com/office/drawing/2014/main" id="{0C0A0539-8BEB-408E-8CC8-3116E9FA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03 / 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DA412-7AFF-4DDC-910A-A714DD44FF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c152a948d4690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5" name="“모임 더치페이 정산 웹앱 만들어줘”">
            <a:extLst xmlns:a="http://schemas.openxmlformats.org/drawingml/2006/main">
              <a:ext uri="{FF2B5EF4-FFF2-40B4-BE49-F238E27FC236}">
                <a16:creationId xmlns:a16="http://schemas.microsoft.com/office/drawing/2014/main" id="{0089CF62-CEC4-4A41-A883-4614DEF8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“모임 더치페이 정산 웹앱 만들어줘”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6D8E-7BFC-4938-9219-40161E843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b6c5054e44710"/>
          <a:stretch xmlns:a="http://schemas.openxmlformats.org/drawingml/2006/main"/>
        </p:blipFill>
        <p:spPr>
          <a:xfrm xmlns:a="http://schemas.openxmlformats.org/drawingml/2006/main">
            <a:off x="1098582" y="2333625"/>
            <a:ext cx="2041461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AI가 정한 것">
            <a:extLst xmlns:a="http://schemas.openxmlformats.org/drawingml/2006/main">
              <a:ext uri="{FF2B5EF4-FFF2-40B4-BE49-F238E27FC236}">
                <a16:creationId xmlns:a16="http://schemas.microsoft.com/office/drawing/2014/main" id="{AC982D49-953B-4AA1-8643-DBEF32D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526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AI가 정한 것</a:t>
            </a:r>
          </a:p>
        </p:txBody>
      </p:sp>
      <p:sp>
        <p:nvSpPr>
          <p:cNvPr id="8" name="내 의도와의 차이">
            <a:extLst xmlns:a="http://schemas.openxmlformats.org/drawingml/2006/main">
              <a:ext uri="{FF2B5EF4-FFF2-40B4-BE49-F238E27FC236}">
                <a16:creationId xmlns:a16="http://schemas.microsoft.com/office/drawing/2014/main" id="{4F095FE6-0FB6-4F54-ACAB-65F0292A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526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내 의도와의 차이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FF18D-4C49-4542-844E-282DEE0A0122}"/>
              </a:ext>
            </a:extLst>
          </p:cNvPr>
          <p:cNvGraphicFramePr/>
          <p:nvPr/>
        </p:nvGraphicFramePr>
        <p:xfrm>
          <a:off xmlns:a="http://schemas.openxmlformats.org/drawingml/2006/main" x="4114800" y="2867025"/>
          <a:ext xmlns:a="http://schemas.openxmlformats.org/drawingml/2006/main" cx="7400925" cy="2505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4019550"/>
              </a:tblGrid>
              <a:tr h="8350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1/N + 앞사람부터 잔여 배분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8350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UI·UX를 스스로 결정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8350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정산 결과 텍스트 복사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10" name="첫 결과의 기본 흐름은 쓸 수 있었다. 이후 명세를 소급 적용한 test07에서는">
            <a:extLst xmlns:a="http://schemas.openxmlformats.org/drawingml/2006/main">
              <a:ext uri="{FF2B5EF4-FFF2-40B4-BE49-F238E27FC236}">
                <a16:creationId xmlns:a16="http://schemas.microsoft.com/office/drawing/2014/main" id="{3FA94996-CBE0-4C5D-A285-54A98CAD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첫 결과의 기본 흐름은 쓸 수 있었다. 이후 명세를 소급 적용한 test07에서는 84/153 PASS였다.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CB92-917D-4B0E-B2AF-59D6C904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B53B5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B53B5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53B58"/>
                </a:solidFill>
                <a:latin typeface="Malgun Gothic"/>
                <a:ea typeface="Malgun Gothic"/>
                <a:cs typeface="Malgun Gothic"/>
              </a:rPr>
              <a:t>문제 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1D8F9-D65B-4255-A8A6-A2478AF4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480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감면·잔여 처리 선택이 없었다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B0832-B646-433C-AF0B-F7666F7D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3806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38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38060"/>
                </a:solidFill>
                <a:latin typeface="Malgun Gothic"/>
                <a:ea typeface="Malgun Gothic"/>
                <a:cs typeface="Malgun Gothic"/>
              </a:rPr>
              <a:t>문제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99C87-27C8-4202-8AC9-796F268D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862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UI에 대한 구체적 아이디어가 없었다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36645-3DB8-4BB0-B6CC-E6B4C352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644BB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644BB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44BB0"/>
                </a:solidFill>
                <a:latin typeface="Malgun Gothic"/>
                <a:ea typeface="Malgun Gothic"/>
                <a:cs typeface="Malgun Gothic"/>
              </a:rPr>
              <a:t>받아들임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F1185-9EAE-4F69-8AFC-8C466E7B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단톡방에 옮기는 흐름에 맞았다</a:t>
            </a:r>
          </a:p>
        </p:txBody>
      </p:sp>
    </p:spTree>
    <p:extLst>
      <p:ext uri="{BB962C8B-B14F-4D97-AF65-F5344CB8AC3E}">
        <p14:creationId xmlns:p14="http://schemas.microsoft.com/office/powerpoint/2010/main" val="561471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utch-Pay  /  성찰 기록">
            <a:extLst xmlns:a="http://schemas.openxmlformats.org/drawingml/2006/main">
              <a:ext uri="{FF2B5EF4-FFF2-40B4-BE49-F238E27FC236}">
                <a16:creationId xmlns:a16="http://schemas.microsoft.com/office/drawing/2014/main" id="{EF3FC526-35FD-4BA7-BD32-7370AD0A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Dutch-Pay  /  성찰 기록</a:t>
            </a:r>
          </a:p>
        </p:txBody>
      </p:sp>
      <p:sp>
        <p:nvSpPr>
          <p:cNvPr id="2" name="기본 정산과 공유 흐름을 받아들일까?">
            <a:extLst xmlns:a="http://schemas.openxmlformats.org/drawingml/2006/main">
              <a:ext uri="{FF2B5EF4-FFF2-40B4-BE49-F238E27FC236}">
                <a16:creationId xmlns:a16="http://schemas.microsoft.com/office/drawing/2014/main" id="{0BED063E-7771-42DC-B5CA-735645B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AI가 정한 UI·UX를 그대로 유지</a:t>
            </a:r>
          </a:p>
        </p:txBody>
      </p:sp>
      <p:sp>
        <p:nvSpPr>
          <p:cNvPr id="3" name="개입하지 않음">
            <a:extLst xmlns:a="http://schemas.openxmlformats.org/drawingml/2006/main">
              <a:ext uri="{FF2B5EF4-FFF2-40B4-BE49-F238E27FC236}">
                <a16:creationId xmlns:a16="http://schemas.microsoft.com/office/drawing/2014/main" id="{B63859BB-5F91-4854-9611-E47F80D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625"/>
            <a:ext cx="3676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938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3938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pPr>
            <a:r>
              <a:rPr sz="3938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rPr>
              <a:t>개입하지 않음</a:t>
            </a:r>
          </a:p>
        </p:txBody>
      </p:sp>
      <p:sp>
        <p:nvSpPr>
          <p:cNvPr id="4" name="04 / 07">
            <a:extLst xmlns:a="http://schemas.openxmlformats.org/drawingml/2006/main">
              <a:ext uri="{FF2B5EF4-FFF2-40B4-BE49-F238E27FC236}">
                <a16:creationId xmlns:a16="http://schemas.microsoft.com/office/drawing/2014/main" id="{DE346F80-7528-47D0-A282-D77C5547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04 / 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FD283-41AE-417E-9DBB-62F4B56434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3c4631af54b22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6" name="프롬프트  “정산 로직에 대해서 설명해줘”">
            <a:extLst xmlns:a="http://schemas.openxmlformats.org/drawingml/2006/main">
              <a:ext uri="{FF2B5EF4-FFF2-40B4-BE49-F238E27FC236}">
                <a16:creationId xmlns:a16="http://schemas.microsoft.com/office/drawing/2014/main" id="{534AFD5B-FB75-4C72-BC1B-2C5B5A94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Phase 0  “모임 더치페이 정산 웹앱만들어줘”</a:t>
            </a:r>
          </a:p>
        </p:txBody>
      </p:sp>
      <p:sp>
        <p:nvSpPr>
          <p:cNvPr id="7" name="AI 출력">
            <a:extLst xmlns:a="http://schemas.openxmlformats.org/drawingml/2006/main">
              <a:ext uri="{FF2B5EF4-FFF2-40B4-BE49-F238E27FC236}">
                <a16:creationId xmlns:a16="http://schemas.microsoft.com/office/drawing/2014/main" id="{FF859DF4-39FB-421A-96D0-A21BF3DA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 출력과 유지한 화면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7FA01-3784-4D5D-8F8F-4459FBE85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48b3f3e7746cc"/>
          <a:srcRect xmlns:a="http://schemas.openxmlformats.org/drawingml/2006/main" l="0" t="0" r="0" b="58419"/>
          <a:stretch xmlns:a="http://schemas.openxmlformats.org/drawingml/2006/main"/>
        </p:blipFill>
        <p:spPr>
          <a:xfrm xmlns:a="http://schemas.openxmlformats.org/drawingml/2006/main">
            <a:off x="571500" y="2543175"/>
            <a:ext cx="2000250" cy="3762375"/>
          </a:xfrm>
          <a:prstGeom xmlns:a="http://schemas.openxmlformats.org/drawingml/2006/main" prst="rect">
            <a:avLst/>
          </a:prstGeom>
        </p:spPr>
      </p:pic>
      <p:sp>
        <p:nvSpPr>
          <p:cNvPr id="9" name="판단과 근거">
            <a:extLst xmlns:a="http://schemas.openxmlformats.org/drawingml/2006/main">
              <a:ext uri="{FF2B5EF4-FFF2-40B4-BE49-F238E27FC236}">
                <a16:creationId xmlns:a16="http://schemas.microsoft.com/office/drawing/2014/main" id="{D5B8EF14-25D6-45AC-BC40-C820031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145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판단과 근거</a:t>
            </a:r>
          </a:p>
        </p:txBody>
      </p:sp>
      <p:sp>
        <p:nvSpPr>
          <p:cNvPr id="10" name="60,000원을 두 사람이 쓰면 30,000원씩.&#10;차액과 송금 결과를 직접 확인할">
            <a:extLst xmlns:a="http://schemas.openxmlformats.org/drawingml/2006/main">
              <a:ext uri="{FF2B5EF4-FFF2-40B4-BE49-F238E27FC236}">
                <a16:creationId xmlns:a16="http://schemas.microsoft.com/office/drawing/2014/main" id="{7DFE8C89-1A8E-4C3E-9F2F-5CCAF8E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33650"/>
            <a:ext cx="638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직접 앱을 열어 기능을 확인했다.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사용하기 편리했고, 명세서에서 요구한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기능이 사용자 흐름에 맞게 작동했다.</a:t>
            </a:r>
          </a:p>
        </p:txBody>
      </p:sp>
      <p:sp>
        <p:nvSpPr>
          <p:cNvPr id="11" name="후속 검증  test07">
            <a:extLst xmlns:a="http://schemas.openxmlformats.org/drawingml/2006/main">
              <a:ext uri="{FF2B5EF4-FFF2-40B4-BE49-F238E27FC236}">
                <a16:creationId xmlns:a16="http://schemas.microsoft.com/office/drawing/2014/main" id="{F711A9AF-F0C0-460B-98DF-14D2E11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05225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rPr>
              <a:t>유지 방법과 결과</a:t>
            </a:r>
          </a:p>
        </p:txBody>
      </p:sp>
      <p:sp>
        <p:nvSpPr>
          <p:cNvPr id="12" name="불변식 24/24    송금·상계 12/12">
            <a:extLst xmlns:a="http://schemas.openxmlformats.org/drawingml/2006/main">
              <a:ext uri="{FF2B5EF4-FFF2-40B4-BE49-F238E27FC236}">
                <a16:creationId xmlns:a16="http://schemas.microsoft.com/office/drawing/2014/main" id="{ACD65F31-ADF0-49AF-B051-768F1D4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957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 0 UI·UX 결과를 docs에 추가하고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PRD에서 참조하도록 해 phase2/doc을 실행했다.</a:t>
            </a:r>
          </a:p>
        </p:txBody>
      </p:sp>
      <p:sp>
        <p:nvSpPr>
          <p:cNvPr id="13" name="단, 잔여액 규칙의 정답 비교는 4/8만 통과">
            <a:extLst xmlns:a="http://schemas.openxmlformats.org/drawingml/2006/main">
              <a:ext uri="{FF2B5EF4-FFF2-40B4-BE49-F238E27FC236}">
                <a16:creationId xmlns:a16="http://schemas.microsoft.com/office/drawing/2014/main" id="{A50261A7-536E-4104-80E2-F1A1CFA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05375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실행 프롬프트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“phase2-doc을 workflow에 따라 실행.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phase2/doc 브랜치가 없으면 만들어 거기서 시작”</a:t>
            </a:r>
          </a:p>
        </p:txBody>
      </p:sp>
      <p:sp>
        <p:nvSpPr>
          <p:cNvPr id="14" name="수용 범위: 기본 합계·차액·송금 흐름. 나중에 추가한 감면·잔여 선택까지 믿었다">
            <a:extLst xmlns:a="http://schemas.openxmlformats.org/drawingml/2006/main">
              <a:ext uri="{FF2B5EF4-FFF2-40B4-BE49-F238E27FC236}">
                <a16:creationId xmlns:a16="http://schemas.microsoft.com/office/drawing/2014/main" id="{59D53A62-7BC3-4D39-BF79-5DB2D9B6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19725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화이트 모드 실제 웹앱 캡처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phase2/doc에서 UI를 계승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2D510-F8FF-4E75-9462-0EDB1E615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043f0c37a4c9b"/>
          <a:srcRect xmlns:a="http://schemas.openxmlformats.org/drawingml/2006/main" l="0" t="65708" r="0" b="7084"/>
          <a:stretch xmlns:a="http://schemas.openxmlformats.org/drawingml/2006/main"/>
        </p:blipFill>
        <p:spPr>
          <a:xfrm xmlns:a="http://schemas.openxmlformats.org/drawingml/2006/main">
            <a:off x="2809875" y="2543175"/>
            <a:ext cx="1905000" cy="23526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3056-AEBB-4C41-8000-FF1E1197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29325"/>
            <a:ext cx="547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구현 단계는 “오직 명세서만을 읽고” 진행하도록 workflow에 명시했다.</a:t>
            </a:r>
          </a:p>
        </p:txBody>
      </p:sp>
    </p:spTree>
    <p:extLst>
      <p:ext uri="{BB962C8B-B14F-4D97-AF65-F5344CB8AC3E}">
        <p14:creationId xmlns:p14="http://schemas.microsoft.com/office/powerpoint/2010/main" val="1482097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utch-Pay  /  성찰 기록">
            <a:extLst xmlns:a="http://schemas.openxmlformats.org/drawingml/2006/main">
              <a:ext uri="{FF2B5EF4-FFF2-40B4-BE49-F238E27FC236}">
                <a16:creationId xmlns:a16="http://schemas.microsoft.com/office/drawing/2014/main" id="{F1A7772E-A7C8-4E4A-9DC3-E858F34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Dutch-Pay  /  성찰 기록</a:t>
            </a:r>
          </a:p>
        </p:txBody>
      </p:sp>
      <p:sp>
        <p:nvSpPr>
          <p:cNvPr id="2" name="108건 PASS의 기준을 바꿔야 할까?">
            <a:extLst xmlns:a="http://schemas.openxmlformats.org/drawingml/2006/main">
              <a:ext uri="{FF2B5EF4-FFF2-40B4-BE49-F238E27FC236}">
                <a16:creationId xmlns:a16="http://schemas.microsoft.com/office/drawing/2014/main" id="{C86AA5CB-F42B-43BE-A2A7-AB09A17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임의로 가정한 예외까지 PASS로 기록</a:t>
            </a:r>
          </a:p>
        </p:txBody>
      </p:sp>
      <p:sp>
        <p:nvSpPr>
          <p:cNvPr id="3" name="개입함">
            <a:extLst xmlns:a="http://schemas.openxmlformats.org/drawingml/2006/main">
              <a:ext uri="{FF2B5EF4-FFF2-40B4-BE49-F238E27FC236}">
                <a16:creationId xmlns:a16="http://schemas.microsoft.com/office/drawing/2014/main" id="{6407EBC5-C4FC-4E82-9A6C-2C813CE9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625"/>
            <a:ext cx="3676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938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3938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3938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개입함</a:t>
            </a:r>
          </a:p>
        </p:txBody>
      </p:sp>
      <p:sp>
        <p:nvSpPr>
          <p:cNvPr id="4" name="05 / 07">
            <a:extLst xmlns:a="http://schemas.openxmlformats.org/drawingml/2006/main">
              <a:ext uri="{FF2B5EF4-FFF2-40B4-BE49-F238E27FC236}">
                <a16:creationId xmlns:a16="http://schemas.microsoft.com/office/drawing/2014/main" id="{239D1124-7826-4C7F-AB8E-AD66B033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05 / 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3B3A2-8B52-45AB-AD13-5820281E6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3c5076cf548ab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6" name="프롬프트  “가정 처리를 실패로 기록, 스크립트 재작성, 예외처리 수정,&#10;명세서·">
            <a:extLst xmlns:a="http://schemas.openxmlformats.org/drawingml/2006/main">
              <a:ext uri="{FF2B5EF4-FFF2-40B4-BE49-F238E27FC236}">
                <a16:creationId xmlns:a16="http://schemas.microsoft.com/office/drawing/2014/main" id="{A5AA7723-6C06-4622-B640-5277F93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프롬프트  “가정 처리를 실패로 기록, 스크립트 재작성, 예외처리 수정,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명세서·test.md 반영, 작업마다 commit”</a:t>
            </a:r>
          </a:p>
        </p:txBody>
      </p:sp>
      <p:sp>
        <p:nvSpPr>
          <p:cNvPr id="7" name="AI 출력  phase2/doc의 초기 코드">
            <a:extLst xmlns:a="http://schemas.openxmlformats.org/drawingml/2006/main">
              <a:ext uri="{FF2B5EF4-FFF2-40B4-BE49-F238E27FC236}">
                <a16:creationId xmlns:a16="http://schemas.microsoft.com/office/drawing/2014/main" id="{E939E4CB-E375-4AA9-B2BB-F8B8B54B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85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 출력  전원 감면을 임의로 처리</a:t>
            </a:r>
          </a:p>
        </p:txBody>
      </p:sp>
      <p:sp>
        <p:nvSpPr>
          <p:cNvPr id="8" name="if (discCount === 0 || R === 0n) {&#10;  for (con">
            <a:extLst xmlns:a="http://schemas.openxmlformats.org/drawingml/2006/main">
              <a:ext uri="{FF2B5EF4-FFF2-40B4-BE49-F238E27FC236}">
                <a16:creationId xmlns:a16="http://schemas.microsoft.com/office/drawing/2014/main" id="{23B04124-E045-4378-B41A-10529AD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59531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A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133350" rIns="133350" bIns="1333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if (discCount === 0 || R === 0n) {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  for (const id of ids) out[id] = Number(T / N);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  return out;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9" name="전원 감면도 감면을 무시하고 균등 분배.&#10;AI는 이 가정을 “약점”으로 적고 PA">
            <a:extLst xmlns:a="http://schemas.openxmlformats.org/drawingml/2006/main">
              <a:ext uri="{FF2B5EF4-FFF2-40B4-BE49-F238E27FC236}">
                <a16:creationId xmlns:a16="http://schemas.microsoft.com/office/drawing/2014/main" id="{06104339-1C57-4FD1-A4AC-B06D711D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59531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전원 감면을 거부하지 않고 균등 분배했다.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AI는 자기 구현에 맞춰 기대값을 가정해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최초 테스트 108건을 모두 PASS로 기록했다.</a:t>
            </a:r>
          </a:p>
        </p:txBody>
      </p:sp>
      <p:sp>
        <p:nvSpPr>
          <p:cNvPr id="10" name="판단과 근거">
            <a:extLst xmlns:a="http://schemas.openxmlformats.org/drawingml/2006/main">
              <a:ext uri="{FF2B5EF4-FFF2-40B4-BE49-F238E27FC236}">
                <a16:creationId xmlns:a16="http://schemas.microsoft.com/office/drawing/2014/main" id="{95E7AF9B-39C1-4285-B86F-910E78E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판단과 근거</a:t>
            </a:r>
          </a:p>
        </p:txBody>
      </p:sp>
      <p:sp>
        <p:nvSpPr>
          <p:cNvPr id="11" name="명세에 없는 동작을 정답으로 삼으면&#10;구현과 테스트가 함께 틀릴 수 있다.">
            <a:extLst xmlns:a="http://schemas.openxmlformats.org/drawingml/2006/main">
              <a:ext uri="{FF2B5EF4-FFF2-40B4-BE49-F238E27FC236}">
                <a16:creationId xmlns:a16="http://schemas.microsoft.com/office/drawing/2014/main" id="{0EA9DB80-F9EE-483E-873E-5216D341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예외처리를 코드와 사용자 흐름에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구현하고, 그 동작을 검증해야 한다.</a:t>
            </a:r>
          </a:p>
        </p:txBody>
      </p:sp>
      <p:sp>
        <p:nvSpPr>
          <p:cNvPr id="12" name="변경 후">
            <a:extLst xmlns:a="http://schemas.openxmlformats.org/drawingml/2006/main">
              <a:ext uri="{FF2B5EF4-FFF2-40B4-BE49-F238E27FC236}">
                <a16:creationId xmlns:a16="http://schemas.microsoft.com/office/drawing/2014/main" id="{526975DD-4964-4741-B00C-FAD6CA84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test skill·workflow 판정 기준 수정</a:t>
            </a:r>
          </a:p>
        </p:txBody>
      </p:sp>
      <p:sp>
        <p:nvSpPr>
          <p:cNvPr id="13" name="미정의 가정은 FAIL&#10;명세를 확정한 뒤 다시 검증">
            <a:extLst xmlns:a="http://schemas.openxmlformats.org/drawingml/2006/main">
              <a:ext uri="{FF2B5EF4-FFF2-40B4-BE49-F238E27FC236}">
                <a16:creationId xmlns:a16="http://schemas.microsoft.com/office/drawing/2014/main" id="{A30AEAB9-1BA5-40D1-8635-741D7870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81475"/>
            <a:ext cx="4667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PASS  지정한 예외처리가 코드에서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          의도대로 작동한 경우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FAIL   지정·구현하지 않은 예외를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          AI가 임의로 가정한 경우</a:t>
            </a:r>
          </a:p>
        </p:txBody>
      </p:sp>
      <p:sp>
        <p:nvSpPr>
          <p:cNvPr id="14" name="test01  113/130 PASS  ·  test02  126/130 PASS">
            <a:extLst xmlns:a="http://schemas.openxmlformats.org/drawingml/2006/main">
              <a:ext uri="{FF2B5EF4-FFF2-40B4-BE49-F238E27FC236}">
                <a16:creationId xmlns:a16="http://schemas.microsoft.com/office/drawing/2014/main" id="{2845ABFF-0BEB-442C-91F1-6CFEE78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재검증 test01: 17건 FAIL 발견    예외처리 구현·명세 반영 후 test03: 130/130 PASS    근거: 부록 A3·A4</a:t>
            </a:r>
          </a:p>
        </p:txBody>
      </p:sp>
    </p:spTree>
    <p:extLst>
      <p:ext uri="{BB962C8B-B14F-4D97-AF65-F5344CB8AC3E}">
        <p14:creationId xmlns:p14="http://schemas.microsoft.com/office/powerpoint/2010/main" val="1280284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utch-Pay  /  성찰 기록">
            <a:extLst xmlns:a="http://schemas.openxmlformats.org/drawingml/2006/main">
              <a:ext uri="{FF2B5EF4-FFF2-40B4-BE49-F238E27FC236}">
                <a16:creationId xmlns:a16="http://schemas.microsoft.com/office/drawing/2014/main" id="{9A25D1BF-3C00-44AC-BFC1-0EAB9001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Dutch-Pay  /  성찰 기록</a:t>
            </a:r>
          </a:p>
        </p:txBody>
      </p:sp>
      <p:sp>
        <p:nvSpPr>
          <p:cNvPr id="2" name="되물은 네 가지를 기본값에 맡겨도 될까?">
            <a:extLst xmlns:a="http://schemas.openxmlformats.org/drawingml/2006/main">
              <a:ext uri="{FF2B5EF4-FFF2-40B4-BE49-F238E27FC236}">
                <a16:creationId xmlns:a16="http://schemas.microsoft.com/office/drawing/2014/main" id="{C1F5F242-E793-404A-BF44-12FD54AC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되물은 네 가지를 기본값에 맡겨도 될까?</a:t>
            </a:r>
          </a:p>
        </p:txBody>
      </p:sp>
      <p:sp>
        <p:nvSpPr>
          <p:cNvPr id="3" name="개입함">
            <a:extLst xmlns:a="http://schemas.openxmlformats.org/drawingml/2006/main">
              <a:ext uri="{FF2B5EF4-FFF2-40B4-BE49-F238E27FC236}">
                <a16:creationId xmlns:a16="http://schemas.microsoft.com/office/drawing/2014/main" id="{8A232553-EFFB-4B2C-9229-3F785618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625"/>
            <a:ext cx="3676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938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3938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3938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개입함</a:t>
            </a:r>
          </a:p>
        </p:txBody>
      </p:sp>
      <p:sp>
        <p:nvSpPr>
          <p:cNvPr id="4" name="06 / 07">
            <a:extLst xmlns:a="http://schemas.openxmlformats.org/drawingml/2006/main">
              <a:ext uri="{FF2B5EF4-FFF2-40B4-BE49-F238E27FC236}">
                <a16:creationId xmlns:a16="http://schemas.microsoft.com/office/drawing/2014/main" id="{4A298599-6E72-42A8-B86D-D0C2E58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06 / 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88450-BEEE-41DB-9043-D6D669EBD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de7b5ef5c4086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6" name="프롬프트  “workflow phase2-claude_flow 실행”">
            <a:extLst xmlns:a="http://schemas.openxmlformats.org/drawingml/2006/main">
              <a:ext uri="{FF2B5EF4-FFF2-40B4-BE49-F238E27FC236}">
                <a16:creationId xmlns:a16="http://schemas.microsoft.com/office/drawing/2014/main" id="{542D7CE9-43DD-4E9C-A56F-874FBDA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프롬프트  “workflow phase2-claude_flow 실행”</a:t>
            </a:r>
          </a:p>
        </p:txBody>
      </p:sp>
      <p:sp>
        <p:nvSpPr>
          <p:cNvPr id="7" name="AI는 4가지를 물었다. 나는 처음엔 모두 “[No preference]”로 답했">
            <a:extLst xmlns:a="http://schemas.openxmlformats.org/drawingml/2006/main">
              <a:ext uri="{FF2B5EF4-FFF2-40B4-BE49-F238E27FC236}">
                <a16:creationId xmlns:a16="http://schemas.microsoft.com/office/drawing/2014/main" id="{858A34FE-8E6D-4082-8874-F6841463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AI는 4가지를 물었다. 나는 처음엔 모두 “[No preference]”로 답했다.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8949C-9C27-42EF-8C14-7AA047330F55}"/>
              </a:ext>
            </a:extLst>
          </p:cNvPr>
          <p:cNvGraphicFramePr/>
          <p:nvPr/>
        </p:nvGraphicFramePr>
        <p:xfrm>
          <a:off xmlns:a="http://schemas.openxmlformats.org/drawingml/2006/main" x="571500" y="2600325"/>
          <a:ext xmlns:a="http://schemas.openxmlformats.org/drawingml/2006/main" cx="8143875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2952750"/>
                <a:gridCol w="3286125"/>
              </a:tblGrid>
              <a:tr h="5429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판단할 규칙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동작 / 가정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확정한 동작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감면율 소수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12.5가 125로 입력됨¹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정수만 허용 + 안내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동명이인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이름 거부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(1), (2), (3)으로 구분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결제자 포함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함께 쓰지 않아도 허용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함께한 사람에 반드시 포함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시 잔여액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수정할 때마다 다시 질문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방식과 seed 유지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DCD34-0D69-497D-AB9D-A01F5CE76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02fc74b11448a"/>
          <a:srcRect xmlns:a="http://schemas.openxmlformats.org/drawingml/2006/main" l="3023" t="3613" r="3023" b="74924"/>
          <a:stretch xmlns:a="http://schemas.openxmlformats.org/drawingml/2006/main"/>
        </p:blipFill>
        <p:spPr>
          <a:xfrm xmlns:a="http://schemas.openxmlformats.org/drawingml/2006/main">
            <a:off x="8953500" y="2505075"/>
            <a:ext cx="2667000" cy="3257550"/>
          </a:xfrm>
          <a:prstGeom xmlns:a="http://schemas.openxmlformats.org/drawingml/2006/main" prst="rect">
            <a:avLst/>
          </a:prstGeom>
        </p:spPr>
      </p:pic>
      <p:sp>
        <p:nvSpPr>
          <p:cNvPr id="10" name="동명이인 구분&#10;실제 AI 출력">
            <a:extLst xmlns:a="http://schemas.openxmlformats.org/drawingml/2006/main">
              <a:ext uri="{FF2B5EF4-FFF2-40B4-BE49-F238E27FC236}">
                <a16:creationId xmlns:a16="http://schemas.microsoft.com/office/drawing/2014/main" id="{118972B5-C5D8-46A6-A0FA-3D52119E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29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동명이인 구분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실제 AI 출력</a:t>
            </a:r>
          </a:p>
        </p:txBody>
      </p:sp>
      <p:sp>
        <p:nvSpPr>
          <p:cNvPr id="11" name="판단  돈과 사용자 선택에 영향을 주는 규칙은 내가 정한다.">
            <a:extLst xmlns:a="http://schemas.openxmlformats.org/drawingml/2006/main">
              <a:ext uri="{FF2B5EF4-FFF2-40B4-BE49-F238E27FC236}">
                <a16:creationId xmlns:a16="http://schemas.microsoft.com/office/drawing/2014/main" id="{BD319EAC-1FEF-4116-846E-15E51F2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814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판단  돈과 사용자 선택에 영향을 주는 규칙은 내가 정한다.</a:t>
            </a:r>
          </a:p>
        </p:txBody>
      </p:sp>
      <p:sp>
        <p:nvSpPr>
          <p:cNvPr id="12" name="결과: 명세를 먼저 바꾸고 소스 4파일·테스트를 맞춰 test06 153/153 ">
            <a:extLst xmlns:a="http://schemas.openxmlformats.org/drawingml/2006/main">
              <a:ext uri="{FF2B5EF4-FFF2-40B4-BE49-F238E27FC236}">
                <a16:creationId xmlns:a16="http://schemas.microsoft.com/office/drawing/2014/main" id="{6260DEBC-394F-42AE-83BA-A635723E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결과: 명세를 먼저 바꾸고 소스 4파일·테스트를 맞춰 test06 153/153 PASS.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¹ phase2/doc test05 관찰값</a:t>
            </a:r>
          </a:p>
        </p:txBody>
      </p:sp>
    </p:spTree>
    <p:extLst>
      <p:ext uri="{BB962C8B-B14F-4D97-AF65-F5344CB8AC3E}">
        <p14:creationId xmlns:p14="http://schemas.microsoft.com/office/powerpoint/2010/main" val="621565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utch-Pay  /  성찰 기록">
            <a:extLst xmlns:a="http://schemas.openxmlformats.org/drawingml/2006/main">
              <a:ext uri="{FF2B5EF4-FFF2-40B4-BE49-F238E27FC236}">
                <a16:creationId xmlns:a16="http://schemas.microsoft.com/office/drawing/2014/main" id="{6581DA05-609B-4D68-BB1C-24090F0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Dutch-Pay  /  성찰 기록</a:t>
            </a:r>
          </a:p>
        </p:txBody>
      </p:sp>
      <p:sp>
        <p:nvSpPr>
          <p:cNvPr id="2" name="AI에게 맡길 범위는 검증 기준으로 정한다">
            <a:extLst xmlns:a="http://schemas.openxmlformats.org/drawingml/2006/main">
              <a:ext uri="{FF2B5EF4-FFF2-40B4-BE49-F238E27FC236}">
                <a16:creationId xmlns:a16="http://schemas.microsoft.com/office/drawing/2014/main" id="{2E2E9A46-F2F7-4597-802C-89DF3D82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AI에게 맡길 범위는 검증 기준으로 정한다</a:t>
            </a:r>
          </a:p>
        </p:txBody>
      </p:sp>
      <p:sp>
        <p:nvSpPr>
          <p:cNvPr id="3" name="07 / 07">
            <a:extLst xmlns:a="http://schemas.openxmlformats.org/drawingml/2006/main">
              <a:ext uri="{FF2B5EF4-FFF2-40B4-BE49-F238E27FC236}">
                <a16:creationId xmlns:a16="http://schemas.microsoft.com/office/drawing/2014/main" id="{C11E6373-C859-46D8-9D95-32D3D97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07 / 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CD84D-1BDF-4F19-9AF7-E5C4E6B80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19090a1e74efa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C8491-E80C-43C4-9A1A-5667FA67E1BF}"/>
              </a:ext>
            </a:extLst>
          </p:cNvPr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11049000" cy="2171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76650"/>
                <a:gridCol w="3676650"/>
                <a:gridCol w="3695700"/>
              </a:tblGrid>
              <a:tr h="542925"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phase0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E2D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phase2/doc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EDC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phase2/claude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줄 요청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PRD + 요구사항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 + 작업 규칙 + 후속 결정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test07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test05  (doc 브랜치)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test06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7860A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 / 153 PASS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7860A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137 / 147 PASS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7860A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153 / 153 PASS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</a:tbl>
          </a:graphicData>
        </a:graphic>
      </p:graphicFrame>
      <p:sp>
        <p:nvSpPr>
          <p:cNvPr id="6" name="맡길 수 있었던 것">
            <a:extLst xmlns:a="http://schemas.openxmlformats.org/drawingml/2006/main">
              <a:ext uri="{FF2B5EF4-FFF2-40B4-BE49-F238E27FC236}">
                <a16:creationId xmlns:a16="http://schemas.microsoft.com/office/drawing/2014/main" id="{059BFACB-2A39-42AC-8A78-10CAE5E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rPr>
              <a:t>맡길 수 있었던 것</a:t>
            </a:r>
          </a:p>
        </p:txBody>
      </p:sp>
      <p:sp>
        <p:nvSpPr>
          <p:cNvPr id="7" name="기본 화면·복사 흐름&#10;직접 대조 가능한 정산 계산">
            <a:extLst xmlns:a="http://schemas.openxmlformats.org/drawingml/2006/main">
              <a:ext uri="{FF2B5EF4-FFF2-40B4-BE49-F238E27FC236}">
                <a16:creationId xmlns:a16="http://schemas.microsoft.com/office/drawing/2014/main" id="{80E1BA3D-3A74-4CFC-B9CC-F4E9DBE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UI·UX적 요소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화면 구성과 기본 사용 흐름</a:t>
            </a:r>
          </a:p>
        </p:txBody>
      </p:sp>
      <p:sp>
        <p:nvSpPr>
          <p:cNvPr id="8" name="사람이 정할 것">
            <a:extLst xmlns:a="http://schemas.openxmlformats.org/drawingml/2006/main">
              <a:ext uri="{FF2B5EF4-FFF2-40B4-BE49-F238E27FC236}">
                <a16:creationId xmlns:a16="http://schemas.microsoft.com/office/drawing/2014/main" id="{D5EA4E0E-2CE7-47CF-8FEB-82A0630E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사람이 정할 것</a:t>
            </a:r>
          </a:p>
        </p:txBody>
      </p:sp>
      <p:sp>
        <p:nvSpPr>
          <p:cNvPr id="9" name="예외 입력의 의미&#10;업무 규칙과 테스트의 정답">
            <a:extLst xmlns:a="http://schemas.openxmlformats.org/drawingml/2006/main">
              <a:ext uri="{FF2B5EF4-FFF2-40B4-BE49-F238E27FC236}">
                <a16:creationId xmlns:a16="http://schemas.microsoft.com/office/drawing/2014/main" id="{A87AA4CB-CFA4-467A-9123-340DB8A9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48200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예외 입력의 의미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업무 규칙과 테스트의 정답</a:t>
            </a:r>
          </a:p>
        </p:txBody>
      </p:sp>
      <p:sp>
        <p:nvSpPr>
          <p:cNvPr id="10" name="다음에는">
            <a:extLst xmlns:a="http://schemas.openxmlformats.org/drawingml/2006/main">
              <a:ext uri="{FF2B5EF4-FFF2-40B4-BE49-F238E27FC236}">
                <a16:creationId xmlns:a16="http://schemas.microsoft.com/office/drawing/2014/main" id="{DD02D64A-D7E8-4685-8D78-EE2C919D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다음에는</a:t>
            </a:r>
          </a:p>
        </p:txBody>
      </p:sp>
      <p:sp>
        <p:nvSpPr>
          <p:cNvPr id="11" name="경계 사례 4개를 먼저 확정&#10;명세·코드·테스트를 함께 갱신">
            <a:extLst xmlns:a="http://schemas.openxmlformats.org/drawingml/2006/main">
              <a:ext uri="{FF2B5EF4-FFF2-40B4-BE49-F238E27FC236}">
                <a16:creationId xmlns:a16="http://schemas.microsoft.com/office/drawing/2014/main" id="{74128DEF-E556-4CDA-B56B-0895C11A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482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경계 사례 4개를 먼저 확정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명세·코드·테스트를 함께 갱신</a:t>
            </a:r>
          </a:p>
        </p:txBody>
      </p:sp>
      <p:sp>
        <p:nvSpPr>
          <p:cNvPr id="12" name="총수·구성이 달라 단순 성능 순위로 해석할 수 없다. doc은 변경 전 소스이며,">
            <a:extLst xmlns:a="http://schemas.openxmlformats.org/drawingml/2006/main">
              <a:ext uri="{FF2B5EF4-FFF2-40B4-BE49-F238E27FC236}">
                <a16:creationId xmlns:a16="http://schemas.microsoft.com/office/drawing/2014/main" id="{63652516-3533-47B1-9465-916EA942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총수·구성이 달라 단순 성능 순위로 해석할 수 없다. doc은 변경 전 소스이며, 작업 규칙만의 효과를 분리한 실험도 아니다.</a:t>
            </a:r>
          </a:p>
        </p:txBody>
      </p:sp>
    </p:spTree>
    <p:extLst>
      <p:ext uri="{BB962C8B-B14F-4D97-AF65-F5344CB8AC3E}">
        <p14:creationId xmlns:p14="http://schemas.microsoft.com/office/powerpoint/2010/main" val="1814865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증거 부록  /  열람용">
            <a:extLst xmlns:a="http://schemas.openxmlformats.org/drawingml/2006/main">
              <a:ext uri="{FF2B5EF4-FFF2-40B4-BE49-F238E27FC236}">
                <a16:creationId xmlns:a16="http://schemas.microsoft.com/office/drawing/2014/main" id="{096393E9-7FB6-45F8-B13D-DFA1AE4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증거 부록  /  열람용</a:t>
            </a:r>
          </a:p>
        </p:txBody>
      </p:sp>
      <p:sp>
        <p:nvSpPr>
          <p:cNvPr id="2" name="A1  비교 결과와 집계 범위">
            <a:extLst xmlns:a="http://schemas.openxmlformats.org/drawingml/2006/main">
              <a:ext uri="{FF2B5EF4-FFF2-40B4-BE49-F238E27FC236}">
                <a16:creationId xmlns:a16="http://schemas.microsoft.com/office/drawing/2014/main" id="{CF5E2BAE-8A34-43C6-8AD3-B54EDE11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A1  비교 결과와 집계 범위</a:t>
            </a:r>
          </a:p>
        </p:txBody>
      </p:sp>
      <p:sp>
        <p:nvSpPr>
          <p:cNvPr id="3" name="A01">
            <a:extLst xmlns:a="http://schemas.openxmlformats.org/drawingml/2006/main">
              <a:ext uri="{FF2B5EF4-FFF2-40B4-BE49-F238E27FC236}">
                <a16:creationId xmlns:a16="http://schemas.microsoft.com/office/drawing/2014/main" id="{D34BA25B-6680-47FA-854D-959A3D97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758B9-5F26-4496-BBC6-2E831303A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a2498e25a486b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CBC49-0C09-4489-B8B2-2AA2898FD90D}"/>
              </a:ext>
            </a:extLst>
          </p:cNvPr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110490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2762250"/>
                <a:gridCol w="2762250"/>
                <a:gridCol w="2762250"/>
              </a:tblGrid>
              <a:tr h="51435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phase0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phase2/doc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phase2/claude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</a:tr>
              <a:tr h="51435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 로그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test07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test05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test06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1435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로직 PASS / 전체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 / 124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112 / 118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 / 124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1435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 PASS / 전체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 / 29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 / 29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 / 29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1435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PASS / FAIL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 / 69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137 / 10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153 / 0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1435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테스트 수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153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147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153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</a:tbl>
          </a:graphicData>
        </a:graphic>
      </p:graphicFrame>
      <p:sp>
        <p:nvSpPr>
          <p:cNvPr id="6" name="읽는 기준">
            <a:extLst xmlns:a="http://schemas.openxmlformats.org/drawingml/2006/main">
              <a:ext uri="{FF2B5EF4-FFF2-40B4-BE49-F238E27FC236}">
                <a16:creationId xmlns:a16="http://schemas.microsoft.com/office/drawing/2014/main" id="{BC833F1A-E3B8-4FB0-AA0A-7E166837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읽는 기준</a:t>
            </a:r>
          </a:p>
        </p:txBody>
      </p:sp>
      <p:sp>
        <p:nvSpPr>
          <p:cNvPr id="7" name="doc은 동명이인 로직을 UI에서만 검사해 총수가 다르다.&#10;phase0의 UI F">
            <a:extLst xmlns:a="http://schemas.openxmlformats.org/drawingml/2006/main">
              <a:ext uri="{FF2B5EF4-FFF2-40B4-BE49-F238E27FC236}">
                <a16:creationId xmlns:a16="http://schemas.microsoft.com/office/drawing/2014/main" id="{D3BC4A6D-3146-4567-BDCE-CD21F9C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19675"/>
            <a:ext cx="881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doc은 동명이인 로직을 UI에서만 검사해 총수가 다르다.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phase0의 UI FAIL 17건 중 5건은 앞선 실패의 영향이다.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phase0 PASS에는 phase2/claude 문서를 검사한 6건도 포함된다.</a:t>
            </a:r>
          </a:p>
        </p:txBody>
      </p:sp>
    </p:spTree>
    <p:extLst>
      <p:ext uri="{BB962C8B-B14F-4D97-AF65-F5344CB8AC3E}">
        <p14:creationId xmlns:p14="http://schemas.microsoft.com/office/powerpoint/2010/main" val="516309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증거 부록  /  열람용">
            <a:extLst xmlns:a="http://schemas.openxmlformats.org/drawingml/2006/main">
              <a:ext uri="{FF2B5EF4-FFF2-40B4-BE49-F238E27FC236}">
                <a16:creationId xmlns:a16="http://schemas.microsoft.com/office/drawing/2014/main" id="{1888982C-263B-4542-93A8-735B96E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증거 부록  /  열람용</a:t>
            </a:r>
          </a:p>
        </p:txBody>
      </p:sp>
      <p:sp>
        <p:nvSpPr>
          <p:cNvPr id="2" name="A2  무엇을 다르게 주었나">
            <a:extLst xmlns:a="http://schemas.openxmlformats.org/drawingml/2006/main">
              <a:ext uri="{FF2B5EF4-FFF2-40B4-BE49-F238E27FC236}">
                <a16:creationId xmlns:a16="http://schemas.microsoft.com/office/drawing/2014/main" id="{3E4F348B-F57D-48C5-B510-BFDB50E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A2  무엇을 다르게 주었나</a:t>
            </a:r>
          </a:p>
        </p:txBody>
      </p:sp>
      <p:sp>
        <p:nvSpPr>
          <p:cNvPr id="3" name="A02">
            <a:extLst xmlns:a="http://schemas.openxmlformats.org/drawingml/2006/main">
              <a:ext uri="{FF2B5EF4-FFF2-40B4-BE49-F238E27FC236}">
                <a16:creationId xmlns:a16="http://schemas.microsoft.com/office/drawing/2014/main" id="{0A9FD353-8B20-4DF4-946A-44BE683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24F1E-1FC2-4737-8193-73D216FF9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2b0e1e9594988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039F2-B3C1-447B-BDA8-232FD71391A6}"/>
              </a:ext>
            </a:extLst>
          </p:cNvPr>
          <p:cNvGraphicFramePr/>
          <p:nvPr/>
        </p:nvGraphicFramePr>
        <p:xfrm>
          <a:off xmlns:a="http://schemas.openxmlformats.org/drawingml/2006/main" x="571500" y="1590675"/>
          <a:ext xmlns:a="http://schemas.openxmlformats.org/drawingml/2006/main" cx="110490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2667000"/>
                <a:gridCol w="3095625"/>
                <a:gridCol w="3381375"/>
              </a:tblGrid>
              <a:tr h="72009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조건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phase0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phase2/doc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phase2/claude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</a:tr>
              <a:tr h="72009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만들 때 준 정보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줄 프롬프트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PRD·requirements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레퍼런스 이미지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명세 + CLAUDE.md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agents·skills·workflow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72009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방식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3턴 기록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실행·로직 설명 요청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시 작업 규칙 제외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검증·기록·배포만 허용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구현·검증·기록·memory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릴리즈 순서 명시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72009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app.js / settle.js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index.html / style.css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app.js / settle.js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validate.js 등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core / data / ui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파일당 100줄 이하 규칙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720090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네 규칙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미구현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수정 없이 재검증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명세부터 수정해 구현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6" name="해석의 한계">
            <a:extLst xmlns:a="http://schemas.openxmlformats.org/drawingml/2006/main">
              <a:ext uri="{FF2B5EF4-FFF2-40B4-BE49-F238E27FC236}">
                <a16:creationId xmlns:a16="http://schemas.microsoft.com/office/drawing/2014/main" id="{8A37CA81-3E68-4907-8696-C98B3A4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해석의 한계</a:t>
            </a:r>
          </a:p>
        </p:txBody>
      </p:sp>
      <p:sp>
        <p:nvSpPr>
          <p:cNvPr id="7" name="claude는 doc 단계의 교훈을 이어받았고 추가 수정도 했다.&#10;따라서 에이전트">
            <a:extLst xmlns:a="http://schemas.openxmlformats.org/drawingml/2006/main">
              <a:ext uri="{FF2B5EF4-FFF2-40B4-BE49-F238E27FC236}">
                <a16:creationId xmlns:a16="http://schemas.microsoft.com/office/drawing/2014/main" id="{61F85B90-0F82-475D-8356-ACF6A35C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48300"/>
            <a:ext cx="800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claude는 doc 단계의 교훈을 이어받았고 추가 수정도 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따라서 에이전트 구성 자체의 우월성을 입증한 통제 실험은 아니다.</a:t>
            </a:r>
          </a:p>
        </p:txBody>
      </p:sp>
    </p:spTree>
    <p:extLst>
      <p:ext uri="{BB962C8B-B14F-4D97-AF65-F5344CB8AC3E}">
        <p14:creationId xmlns:p14="http://schemas.microsoft.com/office/powerpoint/2010/main" val="704334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증거 부록  /  열람용">
            <a:extLst xmlns:a="http://schemas.openxmlformats.org/drawingml/2006/main">
              <a:ext uri="{FF2B5EF4-FFF2-40B4-BE49-F238E27FC236}">
                <a16:creationId xmlns:a16="http://schemas.microsoft.com/office/drawing/2014/main" id="{7680B6B0-BFDB-4088-8072-110ACD6C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증거 부록  /  열람용</a:t>
            </a:r>
          </a:p>
        </p:txBody>
      </p:sp>
      <p:sp>
        <p:nvSpPr>
          <p:cNvPr id="2" name="A3  사례별 프롬프트 기록">
            <a:extLst xmlns:a="http://schemas.openxmlformats.org/drawingml/2006/main">
              <a:ext uri="{FF2B5EF4-FFF2-40B4-BE49-F238E27FC236}">
                <a16:creationId xmlns:a16="http://schemas.microsoft.com/office/drawing/2014/main" id="{0E7787A1-680F-42CE-B5C8-28CB5B5E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A3  사례별 프롬프트 기록</a:t>
            </a:r>
          </a:p>
        </p:txBody>
      </p:sp>
      <p:sp>
        <p:nvSpPr>
          <p:cNvPr id="3" name="A03">
            <a:extLst xmlns:a="http://schemas.openxmlformats.org/drawingml/2006/main">
              <a:ext uri="{FF2B5EF4-FFF2-40B4-BE49-F238E27FC236}">
                <a16:creationId xmlns:a16="http://schemas.microsoft.com/office/drawing/2014/main" id="{51217E15-3DF6-44AF-8EF2-99461DF2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F1D5B-08B1-48BF-AFA1-D4E28BB17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091392da043dc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5" name="사례 1  개입하지 않음  /  phase0 3턴">
            <a:extLst xmlns:a="http://schemas.openxmlformats.org/drawingml/2006/main">
              <a:ext uri="{FF2B5EF4-FFF2-40B4-BE49-F238E27FC236}">
                <a16:creationId xmlns:a16="http://schemas.microsoft.com/office/drawing/2014/main" id="{2838905A-56CD-4A09-8E4B-C9064C4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rPr>
              <a:t>사례 1  개입하지 않음 / Phase 0 UI·UX 유지</a:t>
            </a:r>
          </a:p>
        </p:txBody>
      </p:sp>
      <p:sp>
        <p:nvSpPr>
          <p:cNvPr id="6" name="“정산 로직에 대해서 설명해줘”">
            <a:extLst xmlns:a="http://schemas.openxmlformats.org/drawingml/2006/main">
              <a:ext uri="{FF2B5EF4-FFF2-40B4-BE49-F238E27FC236}">
                <a16:creationId xmlns:a16="http://schemas.microsoft.com/office/drawing/2014/main" id="{55942219-9176-4D3D-930F-9441CB9C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 0  “모임 더치페이 정산 웹앱만들어줘”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 2  “phase2-doc을 workflow에 따라 실행. phase2/doc 브랜치가 없으면 만들어 거기서 시작”</a:t>
            </a:r>
          </a:p>
        </p:txBody>
      </p:sp>
      <p:sp>
        <p:nvSpPr>
          <p:cNvPr id="7" name="사례 2  개입함  /  P2D-02">
            <a:extLst xmlns:a="http://schemas.openxmlformats.org/drawingml/2006/main">
              <a:ext uri="{FF2B5EF4-FFF2-40B4-BE49-F238E27FC236}">
                <a16:creationId xmlns:a16="http://schemas.microsoft.com/office/drawing/2014/main" id="{DA9E3B0A-3274-4927-A8BB-1727D15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사례 2  개입함  /  P2D-02</a:t>
            </a:r>
          </a:p>
        </p:txBody>
      </p:sp>
      <p:sp>
        <p:nvSpPr>
          <p:cNvPr id="8" name="“가정 처리를 실패로 기록, 스크립트 재작성, 예외처리 수정,&#10;명세서·test.m">
            <a:extLst xmlns:a="http://schemas.openxmlformats.org/drawingml/2006/main">
              <a:ext uri="{FF2B5EF4-FFF2-40B4-BE49-F238E27FC236}">
                <a16:creationId xmlns:a16="http://schemas.microsoft.com/office/drawing/2014/main" id="{1C919884-6EA7-4071-BB2A-8F6A77B9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“가정 처리를 실패로 기록, 스크립트 재작성, 예외처리 수정,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명세서·test.md 반영, 작업마다 commit”</a:t>
            </a:r>
          </a:p>
        </p:txBody>
      </p:sp>
      <p:sp>
        <p:nvSpPr>
          <p:cNvPr id="9" name="사례 3  개입함  /  P2C-02, P2C-03">
            <a:extLst xmlns:a="http://schemas.openxmlformats.org/drawingml/2006/main">
              <a:ext uri="{FF2B5EF4-FFF2-40B4-BE49-F238E27FC236}">
                <a16:creationId xmlns:a16="http://schemas.microsoft.com/office/drawing/2014/main" id="{F65E0947-8AB9-48A6-B3A4-8640525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사례 3  개입함  /  P2C-02, P2C-03</a:t>
            </a:r>
          </a:p>
        </p:txBody>
      </p:sp>
      <p:sp>
        <p:nvSpPr>
          <p:cNvPr id="10" name="“workflow phase2-claude_flow 실행”">
            <a:extLst xmlns:a="http://schemas.openxmlformats.org/drawingml/2006/main">
              <a:ext uri="{FF2B5EF4-FFF2-40B4-BE49-F238E27FC236}">
                <a16:creationId xmlns:a16="http://schemas.microsoft.com/office/drawing/2014/main" id="{1910E3D9-211F-4D2D-999A-00F78072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“workflow phase2-claude_flow 실행”</a:t>
            </a:r>
          </a:p>
        </p:txBody>
      </p:sp>
      <p:sp>
        <p:nvSpPr>
          <p:cNvPr id="11" name="변경 요청: 감면율 정수만 / 동명이인 (1)(2) / 결제자는 함께한 사람에 포">
            <a:extLst xmlns:a="http://schemas.openxmlformats.org/drawingml/2006/main">
              <a:ext uri="{FF2B5EF4-FFF2-40B4-BE49-F238E27FC236}">
                <a16:creationId xmlns:a16="http://schemas.microsoft.com/office/drawing/2014/main" id="{0C44C6AA-5D2F-4F76-915A-2D9FFD9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변경 요청: 감면율 정수만 / 동명이인 (1)(2) / 결제자는 함께한 사람에 포함(아니면 예외처리) /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수정 저장 시 잔여 선택 유지 / 기능별 스크린샷. change·test_change workflow 실행 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phase2/doc에도 같은 test 적용</a:t>
            </a:r>
          </a:p>
        </p:txBody>
      </p:sp>
      <p:sp>
        <p:nvSpPr>
          <p:cNvPr id="12" name="위 문구는 reflection의 Turn 표 기록을 그대로 옮겼다. 별도 대화 전">
            <a:extLst xmlns:a="http://schemas.openxmlformats.org/drawingml/2006/main">
              <a:ext uri="{FF2B5EF4-FFF2-40B4-BE49-F238E27FC236}">
                <a16:creationId xmlns:a16="http://schemas.microsoft.com/office/drawing/2014/main" id="{C7DE5663-71FA-490B-8174-245D1A59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사례 1은 개발자가 제공한 원문(2026-10-12), 사례 2·3은 reflection의 Turn 기록을 옮겼다.</a:t>
            </a:r>
          </a:p>
        </p:txBody>
      </p:sp>
    </p:spTree>
    <p:extLst>
      <p:ext uri="{BB962C8B-B14F-4D97-AF65-F5344CB8AC3E}">
        <p14:creationId xmlns:p14="http://schemas.microsoft.com/office/powerpoint/2010/main" val="2133539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증거 부록  /  열람용">
            <a:extLst xmlns:a="http://schemas.openxmlformats.org/drawingml/2006/main">
              <a:ext uri="{FF2B5EF4-FFF2-40B4-BE49-F238E27FC236}">
                <a16:creationId xmlns:a16="http://schemas.microsoft.com/office/drawing/2014/main" id="{3D7E2A61-2E41-4FDB-A527-BE52605E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증거 부록  /  열람용</a:t>
            </a:r>
          </a:p>
        </p:txBody>
      </p:sp>
      <p:sp>
        <p:nvSpPr>
          <p:cNvPr id="2" name="A4  판단을 확인할 수 있는 커밋">
            <a:extLst xmlns:a="http://schemas.openxmlformats.org/drawingml/2006/main">
              <a:ext uri="{FF2B5EF4-FFF2-40B4-BE49-F238E27FC236}">
                <a16:creationId xmlns:a16="http://schemas.microsoft.com/office/drawing/2014/main" id="{BD0FECA0-A86A-421F-81AE-6A1E4AAF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A4  판단을 확인할 수 있는 커밋</a:t>
            </a:r>
          </a:p>
        </p:txBody>
      </p:sp>
      <p:sp>
        <p:nvSpPr>
          <p:cNvPr id="3" name="A04">
            <a:extLst xmlns:a="http://schemas.openxmlformats.org/drawingml/2006/main">
              <a:ext uri="{FF2B5EF4-FFF2-40B4-BE49-F238E27FC236}">
                <a16:creationId xmlns:a16="http://schemas.microsoft.com/office/drawing/2014/main" id="{BCC43A46-A8CF-40C3-B60B-C595829B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932DC-9904-42D6-8891-791A1B58D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9ed62925b4269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DF788-8C1C-42C5-AF0B-AA18B325AB40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4057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19400"/>
                <a:gridCol w="2514600"/>
                <a:gridCol w="5715000"/>
              </a:tblGrid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 / 목적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바뀐 내용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T w="4286">
                      <a:solidFill>
                        <a:srgbClr val="DED4E8"/>
                      </a:solidFill>
                      <a:prstDash val="solid"/>
                    </a:lnT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ECE3F6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기준점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5aec953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phase0-baseline 태그의 실제 소스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 기준 개정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d795cb1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 미정의 가정은 FAIL, 로그 판정 일치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규칙을 코드로 반영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0aa2728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감면 대상 검증·비활성 처리, validate.js 추가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명세와 테스트 기준 확정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6edfeba / 96f46ae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감면 대상 0~N-1명·과거 지출 유지 명시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네 규칙을 명세화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d2ad84c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감면·동명이인·결제자·잔여 선택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네 규칙 구현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9e44c3f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4파일 변경, +55 / -11줄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7F3F8"/>
                    </a:solidFill>
                  </a:tcPr>
                </a:tc>
              </a:tr>
              <a:tr h="507206">
                <a:tc>
                  <a:txBody>
                    <a:bodyPr lIns="114300" tIns="114300" rIns="114300" bIns="114300"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규칙 테스트</a:t>
                      </a:r>
                    </a:p>
                  </a:txBody>
                  <a:tcPr marL="152400" marR="152400" marT="114300" marB="114300" anchor="ctr">
                    <a:lnL w="4286">
                      <a:solidFill>
                        <a:srgbClr val="DED4E8"/>
                      </a:solidFill>
                      <a:prstDash val="solid"/>
                    </a:lnL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7c37273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4436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로직 124건 + UI 29건으로 확장</a:t>
                      </a:r>
                    </a:p>
                  </a:txBody>
                  <a:tcPr marL="152400" marR="152400" marT="114300" marB="114300" anchor="ctr">
                    <a:lnR w="4286">
                      <a:solidFill>
                        <a:srgbClr val="DED4E8"/>
                      </a:solidFill>
                      <a:prstDash val="solid"/>
                    </a:lnR>
                    <a:lnB w="4286">
                      <a:solidFill>
                        <a:srgbClr val="DED4E8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</a:tbl>
          </a:graphicData>
        </a:graphic>
      </p:graphicFrame>
      <p:sp>
        <p:nvSpPr>
          <p:cNvPr id="6" name="로그 커밋: doc test05 = 60e02d0  /  claude test06">
            <a:extLst xmlns:a="http://schemas.openxmlformats.org/drawingml/2006/main">
              <a:ext uri="{FF2B5EF4-FFF2-40B4-BE49-F238E27FC236}">
                <a16:creationId xmlns:a16="http://schemas.microsoft.com/office/drawing/2014/main" id="{0F5BD130-F8AE-4B32-9698-DB5C937B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로그 커밋: doc test05 = 60e02d0  /  claude test06 = 8df451b  /  phase0 test07 = b125d8d</a:t>
            </a:r>
          </a:p>
        </p:txBody>
      </p:sp>
    </p:spTree>
    <p:extLst>
      <p:ext uri="{BB962C8B-B14F-4D97-AF65-F5344CB8AC3E}">
        <p14:creationId xmlns:p14="http://schemas.microsoft.com/office/powerpoint/2010/main" val="1684576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증거 부록  /  열람용">
            <a:extLst xmlns:a="http://schemas.openxmlformats.org/drawingml/2006/main">
              <a:ext uri="{FF2B5EF4-FFF2-40B4-BE49-F238E27FC236}">
                <a16:creationId xmlns:a16="http://schemas.microsoft.com/office/drawing/2014/main" id="{30DEB2E4-16E5-450F-AB01-4817C892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증거 부록  /  열람용</a:t>
            </a:r>
          </a:p>
        </p:txBody>
      </p:sp>
      <p:sp>
        <p:nvSpPr>
          <p:cNvPr id="2" name="A5  소수 감면율과 결제자 포함의 전후">
            <a:extLst xmlns:a="http://schemas.openxmlformats.org/drawingml/2006/main">
              <a:ext uri="{FF2B5EF4-FFF2-40B4-BE49-F238E27FC236}">
                <a16:creationId xmlns:a16="http://schemas.microsoft.com/office/drawing/2014/main" id="{AD28374B-585B-4B9D-BF1D-1EA35B5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A5  소수 감면율과 결제자 포함의 전후</a:t>
            </a:r>
          </a:p>
        </p:txBody>
      </p:sp>
      <p:sp>
        <p:nvSpPr>
          <p:cNvPr id="3" name="A05">
            <a:extLst xmlns:a="http://schemas.openxmlformats.org/drawingml/2006/main">
              <a:ext uri="{FF2B5EF4-FFF2-40B4-BE49-F238E27FC236}">
                <a16:creationId xmlns:a16="http://schemas.microsoft.com/office/drawing/2014/main" id="{FFFC632E-184D-44EA-A5B3-C41765A8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55FA2-33B0-4CD6-99AB-B2B245D48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713491e64460d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5" name="phase2/doc  test05">
            <a:extLst xmlns:a="http://schemas.openxmlformats.org/drawingml/2006/main">
              <a:ext uri="{FF2B5EF4-FFF2-40B4-BE49-F238E27FC236}">
                <a16:creationId xmlns:a16="http://schemas.microsoft.com/office/drawing/2014/main" id="{BBC7CD1D-0724-458A-B3B9-470AECF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E566D"/>
                </a:solidFill>
                <a:latin typeface="Malgun Gothic"/>
                <a:ea typeface="Malgun Gothic"/>
                <a:cs typeface="Malgun Gothic"/>
              </a:rPr>
              <a:t>phase2/doc  test05</a:t>
            </a:r>
          </a:p>
        </p:txBody>
      </p:sp>
      <p:sp>
        <p:nvSpPr>
          <p:cNvPr id="6" name="12.5가 125로 입력되고 안내가 없었다.&#10;소수 감면율 지출을 계산에서도 제외하">
            <a:extLst xmlns:a="http://schemas.openxmlformats.org/drawingml/2006/main">
              <a:ext uri="{FF2B5EF4-FFF2-40B4-BE49-F238E27FC236}">
                <a16:creationId xmlns:a16="http://schemas.microsoft.com/office/drawing/2014/main" id="{A0365AB6-3950-4098-894A-23A3A26E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5381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12.5가 125로 입력되고 안내가 없었다.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소수 감면율 지출을 계산에서도 제외하지 않았다.</a:t>
            </a:r>
          </a:p>
        </p:txBody>
      </p:sp>
      <p:sp>
        <p:nvSpPr>
          <p:cNvPr id="7" name="정상 지출 50,000원 + 잘못된 지출 50,000원&#10;기대 총액 50,000원 ">
            <a:extLst xmlns:a="http://schemas.openxmlformats.org/drawingml/2006/main">
              <a:ext uri="{FF2B5EF4-FFF2-40B4-BE49-F238E27FC236}">
                <a16:creationId xmlns:a16="http://schemas.microsoft.com/office/drawing/2014/main" id="{12E25BE2-1FAB-46F9-A187-7101E161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5381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2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142875" rIns="142875" bIns="142875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정상 지출 50,000원 + 잘못된 지출 50,000원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기대 총액 50,000원  /  실제 100,000원</a:t>
            </a:r>
          </a:p>
        </p:txBody>
      </p:sp>
      <p:sp>
        <p:nvSpPr>
          <p:cNvPr id="8" name="결제자가 함께한 사람에 없는 지출도 통과.&#10;정상 50,000원 + 잘못된 30,0">
            <a:extLst xmlns:a="http://schemas.openxmlformats.org/drawingml/2006/main">
              <a:ext uri="{FF2B5EF4-FFF2-40B4-BE49-F238E27FC236}">
                <a16:creationId xmlns:a16="http://schemas.microsoft.com/office/drawing/2014/main" id="{48F6429C-4688-4259-939B-3D6E79E6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5381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결제자가 함께한 사람에 없는 지출도 통과.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정상 50,000원 + 잘못된 30,000원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기대 총액 50,000원  /  실제 80,000원</a:t>
            </a:r>
          </a:p>
        </p:txBody>
      </p:sp>
      <p:sp>
        <p:nvSpPr>
          <p:cNvPr id="9" name="phase2/claude  test06">
            <a:extLst xmlns:a="http://schemas.openxmlformats.org/drawingml/2006/main">
              <a:ext uri="{FF2B5EF4-FFF2-40B4-BE49-F238E27FC236}">
                <a16:creationId xmlns:a16="http://schemas.microsoft.com/office/drawing/2014/main" id="{03506327-76FB-4845-912B-55B185B2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525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6745A"/>
                </a:solidFill>
                <a:latin typeface="Malgun Gothic"/>
                <a:ea typeface="Malgun Gothic"/>
                <a:cs typeface="Malgun Gothic"/>
              </a:rPr>
              <a:t>phase2/claude  test06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28373-0B48-4B9E-BB42-12C04E632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e3734b911412b"/>
          <a:srcRect xmlns:a="http://schemas.openxmlformats.org/drawingml/2006/main" l="3256" t="28232" r="3256" b="54260"/>
          <a:stretch xmlns:a="http://schemas.openxmlformats.org/drawingml/2006/main"/>
        </p:blipFill>
        <p:spPr>
          <a:xfrm xmlns:a="http://schemas.openxmlformats.org/drawingml/2006/main">
            <a:off x="6629400" y="2344951"/>
            <a:ext cx="2305050" cy="2368124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64607-188A-47AD-BF27-A2AF3AB5E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23f1df95c4ed0"/>
          <a:srcRect xmlns:a="http://schemas.openxmlformats.org/drawingml/2006/main" l="3256" t="26034" r="3256" b="53853"/>
          <a:stretch xmlns:a="http://schemas.openxmlformats.org/drawingml/2006/main"/>
        </p:blipFill>
        <p:spPr>
          <a:xfrm xmlns:a="http://schemas.openxmlformats.org/drawingml/2006/main">
            <a:off x="9220200" y="2204469"/>
            <a:ext cx="2305050" cy="2649087"/>
          </a:xfrm>
          <a:prstGeom xmlns:a="http://schemas.openxmlformats.org/drawingml/2006/main" prst="rect">
            <a:avLst/>
          </a:prstGeom>
        </p:spPr>
      </p:pic>
      <p:sp>
        <p:nvSpPr>
          <p:cNvPr id="12" name="소수 입력 시 정수 안내&#10;UI는 12만 남김">
            <a:extLst xmlns:a="http://schemas.openxmlformats.org/drawingml/2006/main">
              <a:ext uri="{FF2B5EF4-FFF2-40B4-BE49-F238E27FC236}">
                <a16:creationId xmlns:a16="http://schemas.microsoft.com/office/drawing/2014/main" id="{12580E70-754F-4B2C-9716-8DDD5319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0958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소수 입력 시 정수 안내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UI는 12만 남김</a:t>
            </a:r>
          </a:p>
        </p:txBody>
      </p:sp>
      <p:sp>
        <p:nvSpPr>
          <p:cNvPr id="13" name="결제자 미포함 시&#10;지출 추가 거부">
            <a:extLst xmlns:a="http://schemas.openxmlformats.org/drawingml/2006/main">
              <a:ext uri="{FF2B5EF4-FFF2-40B4-BE49-F238E27FC236}">
                <a16:creationId xmlns:a16="http://schemas.microsoft.com/office/drawing/2014/main" id="{8C814527-B420-4086-BB4A-AF2162B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9587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결제자 미포함 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지출 추가 거부</a:t>
            </a:r>
          </a:p>
        </p:txBody>
      </p:sp>
      <p:sp>
        <p:nvSpPr>
          <p:cNvPr id="14" name="UI 처리와 계산 검증을 구분: UI는 소수 부분을 제거하고 안내한다. core는">
            <a:extLst xmlns:a="http://schemas.openxmlformats.org/drawingml/2006/main">
              <a:ext uri="{FF2B5EF4-FFF2-40B4-BE49-F238E27FC236}">
                <a16:creationId xmlns:a16="http://schemas.microsoft.com/office/drawing/2014/main" id="{9BFE8E43-16A0-46C7-852F-21A2DC1A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UI 처리와 계산 검증을 구분: UI는 소수 부분을 제거하고 안내한다. core는 소수 감면율 지출 자체를 거부한다.</a:t>
            </a:r>
          </a:p>
        </p:txBody>
      </p:sp>
    </p:spTree>
    <p:extLst>
      <p:ext uri="{BB962C8B-B14F-4D97-AF65-F5344CB8AC3E}">
        <p14:creationId xmlns:p14="http://schemas.microsoft.com/office/powerpoint/2010/main" val="2202273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증거 부록  /  열람용">
            <a:extLst xmlns:a="http://schemas.openxmlformats.org/drawingml/2006/main">
              <a:ext uri="{FF2B5EF4-FFF2-40B4-BE49-F238E27FC236}">
                <a16:creationId xmlns:a16="http://schemas.microsoft.com/office/drawing/2014/main" id="{0AA8A83A-5D2B-4597-9F09-C4733FF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증거 부록  /  열람용</a:t>
            </a:r>
          </a:p>
        </p:txBody>
      </p:sp>
      <p:sp>
        <p:nvSpPr>
          <p:cNvPr id="2" name="A6  재현 경로와 남은 확인 범위">
            <a:extLst xmlns:a="http://schemas.openxmlformats.org/drawingml/2006/main">
              <a:ext uri="{FF2B5EF4-FFF2-40B4-BE49-F238E27FC236}">
                <a16:creationId xmlns:a16="http://schemas.microsoft.com/office/drawing/2014/main" id="{0697FFDC-C730-4773-8503-79755DA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A6  재현 경로와 남은 확인 범위</a:t>
            </a:r>
          </a:p>
        </p:txBody>
      </p:sp>
      <p:sp>
        <p:nvSpPr>
          <p:cNvPr id="3" name="A06">
            <a:extLst xmlns:a="http://schemas.openxmlformats.org/drawingml/2006/main">
              <a:ext uri="{FF2B5EF4-FFF2-40B4-BE49-F238E27FC236}">
                <a16:creationId xmlns:a16="http://schemas.microsoft.com/office/drawing/2014/main" id="{78E9DE7E-3145-4BDE-A31C-6E23DEF7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95FD8-0B94-4D4D-AC23-2D43841C3F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7961544474181"/>
          <a:srcRect xmlns:a="http://schemas.openxmlformats.org/drawingml/2006/main" l="80144" t="67588" r="598" b="1169"/>
          <a:stretch xmlns:a="http://schemas.openxmlformats.org/drawingml/2006/main"/>
        </p:blipFill>
        <p:spPr>
          <a:xfrm xmlns:a="http://schemas.openxmlformats.org/drawingml/2006/main">
            <a:off x="10706780" y="5819775"/>
            <a:ext cx="970189" cy="885825"/>
          </a:xfrm>
          <a:prstGeom xmlns:a="http://schemas.openxmlformats.org/drawingml/2006/main" prst="rect">
            <a:avLst/>
          </a:prstGeom>
        </p:spPr>
      </p:pic>
      <p:sp>
        <p:nvSpPr>
          <p:cNvPr id="5" name="로그 찾기">
            <a:extLst xmlns:a="http://schemas.openxmlformats.org/drawingml/2006/main">
              <a:ext uri="{FF2B5EF4-FFF2-40B4-BE49-F238E27FC236}">
                <a16:creationId xmlns:a16="http://schemas.microsoft.com/office/drawing/2014/main" id="{909967A8-CB5F-4C82-9A3B-816E9CE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로그 찾기</a:t>
            </a:r>
          </a:p>
        </p:txBody>
      </p:sp>
      <p:sp>
        <p:nvSpPr>
          <p:cNvPr id="6" name="phase0  :  phase2/claude의 docs/log/testlog/te">
            <a:extLst xmlns:a="http://schemas.openxmlformats.org/drawingml/2006/main">
              <a:ext uri="{FF2B5EF4-FFF2-40B4-BE49-F238E27FC236}">
                <a16:creationId xmlns:a16="http://schemas.microsoft.com/office/drawing/2014/main" id="{69D3CDD5-8132-4190-9601-21B799AC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14475"/>
            <a:ext cx="842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phase0  :  phase2/claude의 docs/log/testlog/test07.md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phase2/doc  :  해당 브랜치의 docs/log/testlog/test05.md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phase2/claude  :  docs/log/testlog/test06.md</a:t>
            </a:r>
          </a:p>
        </p:txBody>
      </p:sp>
      <p:sp>
        <p:nvSpPr>
          <p:cNvPr id="7" name="재실행">
            <a:extLst xmlns:a="http://schemas.openxmlformats.org/drawingml/2006/main">
              <a:ext uri="{FF2B5EF4-FFF2-40B4-BE49-F238E27FC236}">
                <a16:creationId xmlns:a16="http://schemas.microsoft.com/office/drawing/2014/main" id="{8BF67425-E96B-4AA1-AAB5-0AFB3292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재실행</a:t>
            </a:r>
          </a:p>
        </p:txBody>
      </p:sp>
      <p:sp>
        <p:nvSpPr>
          <p:cNvPr id="8" name="phase2/claude   node scripts/test/run_tests.j">
            <a:extLst xmlns:a="http://schemas.openxmlformats.org/drawingml/2006/main">
              <a:ext uri="{FF2B5EF4-FFF2-40B4-BE49-F238E27FC236}">
                <a16:creationId xmlns:a16="http://schemas.microsoft.com/office/drawing/2014/main" id="{CE9BA7BC-92F0-4419-AECB-0A3D29C2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43225"/>
            <a:ext cx="8524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phase2/claude   node scripts/test/run_tests.js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phase0             node scripts/test/run_phase0.js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phase2/doc        해당 브랜치에서 node scripts/test/run_tests.js</a:t>
            </a:r>
          </a:p>
        </p:txBody>
      </p:sp>
      <p:sp>
        <p:nvSpPr>
          <p:cNvPr id="9" name="확인 범위">
            <a:extLst xmlns:a="http://schemas.openxmlformats.org/drawingml/2006/main">
              <a:ext uri="{FF2B5EF4-FFF2-40B4-BE49-F238E27FC236}">
                <a16:creationId xmlns:a16="http://schemas.microsoft.com/office/drawing/2014/main" id="{A2F8461D-63D9-4171-8761-B4BC9CFE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10" name="기존 로그는 Node 로직과 Playwright/Chromium UI를 검사했다.">
            <a:extLst xmlns:a="http://schemas.openxmlformats.org/drawingml/2006/main">
              <a:ext uri="{FF2B5EF4-FFF2-40B4-BE49-F238E27FC236}">
                <a16:creationId xmlns:a16="http://schemas.microsoft.com/office/drawing/2014/main" id="{7D2A7E19-1C13-4578-8225-AD6C278A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8429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기존 로그는 Node 로직과 Playwright/Chromium UI를 검사했다.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Safari·Edge·실제 휴대폰은 미실행이다. 토큰·시간 수치는 근사/미측정이다.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저장소 교환 기록(짝·탐색 시간·막힌 지점)과 전체 대화 로그는 확인되지 않았다.</a:t>
            </a:r>
          </a:p>
        </p:txBody>
      </p:sp>
      <p:sp>
        <p:nvSpPr>
          <p:cNvPr id="11" name="배포">
            <a:extLst xmlns:a="http://schemas.openxmlformats.org/drawingml/2006/main">
              <a:ext uri="{FF2B5EF4-FFF2-40B4-BE49-F238E27FC236}">
                <a16:creationId xmlns:a16="http://schemas.microsoft.com/office/drawing/2014/main" id="{662BC2E8-516B-4D37-8E6F-CA5588B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7860AD"/>
                </a:solidFill>
                <a:latin typeface="Malgun Gothic"/>
                <a:ea typeface="Malgun Gothic"/>
                <a:cs typeface="Malgun Gothic"/>
              </a:rPr>
              <a:t>배포</a:t>
            </a:r>
          </a:p>
        </p:txBody>
      </p:sp>
      <p:sp>
        <p:nvSpPr>
          <p:cNvPr id="12" name="https://tragicoding.github.io/HandsOn/">
            <a:extLst xmlns:a="http://schemas.openxmlformats.org/drawingml/2006/main">
              <a:ext uri="{FF2B5EF4-FFF2-40B4-BE49-F238E27FC236}">
                <a16:creationId xmlns:a16="http://schemas.microsoft.com/office/drawing/2014/main" id="{D8106A32-CF9C-45B4-B3FE-8EA1679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2927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7860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860AD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f0db1cb0c5e2417a"/>
              </a:rPr>
              <a:t>https://tragicoding.github.io/HandsOn/</a:t>
            </a:r>
          </a:p>
        </p:txBody>
      </p:sp>
    </p:spTree>
    <p:extLst>
      <p:ext uri="{BB962C8B-B14F-4D97-AF65-F5344CB8AC3E}">
        <p14:creationId xmlns:p14="http://schemas.microsoft.com/office/powerpoint/2010/main" val="356612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210F1-A1AA-4B50-9429-D8BF3E85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원문 부록  /  프롬프트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4A78-E089-45FE-A784-6369529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A7  phase2/doc: 개입 프롬프트 원문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533A0-CBCB-459B-A55D-0B5A36D6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출처: docs/reflection/phase2-doc.md · Turn P2D-01~03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F8A3A-CCB2-4A1C-B116-0AC69702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99390-D9C0-44F1-9B34-C0E30B68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P2D-01  명세서 기반 구현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4A71A-58E4-4E21-8456-55A5B173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“phase2-doc을 workflow에 따라 실행. phase2/doc 브랜치가 없으면 만들어 거기서 시작”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89785-9937-4777-88E8-E33BACE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P2D-02  테스트 판정과 예외처리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50713-C652-4020-B815-328E340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“가정 처리를 실패로 기록, 스크립트 재작성, 예외처리 수정, 명세서·test.md 반영, 작업마다 commit”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F8E81-CE63-4CC1-B130-1CC02D0E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P2D-03  과거 로그 보존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90330-8017-4076-886F-40282ED1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“로그의 이전 기록을 수정하지 말고 이미 수정했다면 복구. phase2-doc에 error 사항과 테스트 오류 기록 추가”</a:t>
            </a:r>
          </a:p>
        </p:txBody>
      </p:sp>
    </p:spTree>
    <p:extLst>
      <p:ext uri="{BB962C8B-B14F-4D97-AF65-F5344CB8AC3E}">
        <p14:creationId xmlns:p14="http://schemas.microsoft.com/office/powerpoint/2010/main" val="314026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7826A-BB4B-43AC-8232-B51D30A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원문 부록  /  프롬프트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5599C-56C8-4ED3-94FC-82473E64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A8  phase2/claude: AI가 되물은 네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D798C-E909-4D87-A36A-F82EC25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출처: docs/reflection/phase2-claude.md · P2C-02 · 질문과 응답 원문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CBEA8-C6DB-4982-A818-46072EA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4A90D-B50C-4E01-8E87-43965C9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Developer: “workflow phase2-claude_flow 실행.”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249F7-8915-4A14-8A45-842377C6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1.  감면율(%)은 어떤 값을 허용할까요? (명세에는 K%라고만 되어 있음)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78935-88F8-47FA-8D6D-29CBFF0E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→  [No preference]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29E28-933C-49E4-A43A-0BAC2FC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2.  참여자 이름이 같은 사람(동명이인)을 허용할까요?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32621-7E7A-49FC-AA09-0AB458A5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→  [No preference]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2E045-2A34-43FB-B3F4-7EC4C0E9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3.  결제한 사람이 '함께 쓴 사람'에 포함되지 않는 지출(대신 결제만 해준 경우)을 허용할까요?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4FD1B-7357-4391-AA64-3ADEEB7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→  [No preference]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9714B-E1CE-4358-84CC-8723F9B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4.  지출을 '수정'해서 저장할 때 나누어떨어지지 않으면 잔여 처리 팝업을 다시 띄울까요?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45BC6-6C98-4CE5-B639-DAA4F2BF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→  [No preference]</a:t>
            </a:r>
          </a:p>
        </p:txBody>
      </p:sp>
    </p:spTree>
    <p:extLst>
      <p:ext uri="{BB962C8B-B14F-4D97-AF65-F5344CB8AC3E}">
        <p14:creationId xmlns:p14="http://schemas.microsoft.com/office/powerpoint/2010/main" val="10229445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E5352-3ACB-4E42-9347-5888D178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원문 부록  /  프롬프트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2A15C-681E-4DA7-893C-4C6C62A9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A9  phase2/claude: 규칙 변경 요청 원문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AF719-E1F3-4A26-870C-B83BDAFF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출처: docs/reflection/phase2-claude.md · P2C-03 · Developer 1차 요청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0BB31-474B-450F-BCC4-F3A8A747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8929F-CBAD-4149-9AD9-9CE51B1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P2C-03  개발자가 네 가지 결정을 직접 수정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BFF5B-AE04-4504-8AB0-BE13620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“감면율 소수허용/정수 -&gt; 정수만 허용 (소수는 예외처리)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CB0CC-7C08-4BEC-8215-7D25D15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동명이인 -&gt; 동명이인의 경우, (1),(2) 식으로 나눔. 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008C0-A5BD-4C83-A292-54220CCC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결제한 사람이 "함께쓴 사람"에 포함되지 않는 지출 -&gt; (이런 경우는 없다고 가정) -&gt; 예외처리 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5AB6-B6FF-4812-BB2F-85AD977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지출을 수정해서 저장할 때 나누어 떨어지지 않으면 잔여 처리 팝업 -&gt; 기존 선택 유지 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46875-BFDA-4981-A631-618AE263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위 내용들을 반영. 명세서, 소스코드, 수정 및 추가.( change,test_change workflow를 실행.)(test는 case를 추가)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E8922-87FE-4DB9-B6A7-CC0BBC7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이 과정이 끝나고 나면, 다음을 실행한다. 브랜치를 잠시 phase2/doc으로 옮긴다음에 바뀐 test내용을 그대로 적용하여 test를 진행(필요시 test script를 변경)”</a:t>
            </a:r>
          </a:p>
        </p:txBody>
      </p:sp>
    </p:spTree>
    <p:extLst>
      <p:ext uri="{BB962C8B-B14F-4D97-AF65-F5344CB8AC3E}">
        <p14:creationId xmlns:p14="http://schemas.microsoft.com/office/powerpoint/2010/main" val="1670607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7532B-C58A-4EAF-9233-FB6E637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원문 부록  /  프롬프트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1EFE8-5EB2-4192-A989-D8C47C0C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A10  비교 테스트와 원본 보존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3005B-EA96-42FD-B391-242A800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출처: docs/reflection/phase2-claude.md · P2C-04, P2C-07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38D56-1D64-46FC-AD40-2EFF4D20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86D82"/>
                </a:solidFill>
                <a:latin typeface="Malgun Gothic"/>
                <a:ea typeface="Malgun Gothic"/>
                <a:cs typeface="Malgun Gothic"/>
              </a:rPr>
              <a:t>A10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91F79-A923-4677-ADC3-84D7D2B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P2C-04  Phase 0에도 같은 테스트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7DF9C-A6F8-455C-A7C4-90F345E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“이번에는 같은 테스트를 가지고 그대로 phase0 브랜치의 소스코드로 테스트 해봐. (역시 test script 변경해도 좋다.) 테스트 결과는 phase2/claude에 저장”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77CF6-D166-40F5-A5F2-4F25ED2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758AA"/>
                </a:solidFill>
                <a:latin typeface="Malgun Gothic"/>
                <a:ea typeface="Malgun Gothic"/>
                <a:cs typeface="Malgun Gothic"/>
              </a:rPr>
              <a:t>P2C-07  Phase 0 원본과 명세서 보존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3C186-23D1-4CC0-88D2-EAF6581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364F"/>
                </a:solidFill>
                <a:latin typeface="Malgun Gothic"/>
                <a:ea typeface="Malgun Gothic"/>
                <a:cs typeface="Malgun Gothic"/>
              </a:rPr>
              <a:t>“아니야. phase0의 소스코드는 그대로 냅둬야해. 명세서 건들지마. 왜냐하면 phase2와 비교하기 위함이라서”</a:t>
            </a:r>
          </a:p>
        </p:txBody>
      </p:sp>
    </p:spTree>
    <p:extLst>
      <p:ext uri="{BB962C8B-B14F-4D97-AF65-F5344CB8AC3E}">
        <p14:creationId xmlns:p14="http://schemas.microsoft.com/office/powerpoint/2010/main" val="504189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2026-10-12T12:51:22.2600000Z</dcterms:created>
  <dcterms:modified xsi:type="dcterms:W3CDTF">2026-10-12T12:51:22.2600000Z</dcterms:modified>
</coreProperties>
</file>